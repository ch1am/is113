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797675" cy="9926638"/>
  <p:embeddedFontLst>
    <p:embeddedFont>
      <p:font typeface="Roboto Mono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9bAcL2Ka79/kTyQ/QmYmtnt3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9"/>
    <p:restoredTop sz="94737"/>
  </p:normalViewPr>
  <p:slideViewPr>
    <p:cSldViewPr snapToGrid="0">
      <p:cViewPr varScale="1">
        <p:scale>
          <a:sx n="118" d="100"/>
          <a:sy n="118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 Lwin Khin" userId="33cb3c8a-ae33-4f55-be34-306cbe5b6d67" providerId="ADAL" clId="{EC909A2D-78C2-525E-811C-45F995EBE952}"/>
    <pc:docChg chg="modSld">
      <pc:chgData name="SHAR Lwin Khin" userId="33cb3c8a-ae33-4f55-be34-306cbe5b6d67" providerId="ADAL" clId="{EC909A2D-78C2-525E-811C-45F995EBE952}" dt="2026-02-19T03:41:22.522" v="14" actId="20577"/>
      <pc:docMkLst>
        <pc:docMk/>
      </pc:docMkLst>
      <pc:sldChg chg="modSp mod">
        <pc:chgData name="SHAR Lwin Khin" userId="33cb3c8a-ae33-4f55-be34-306cbe5b6d67" providerId="ADAL" clId="{EC909A2D-78C2-525E-811C-45F995EBE952}" dt="2026-02-19T03:41:22.522" v="14" actId="20577"/>
        <pc:sldMkLst>
          <pc:docMk/>
          <pc:sldMk cId="0" sldId="256"/>
        </pc:sldMkLst>
        <pc:spChg chg="mod">
          <ac:chgData name="SHAR Lwin Khin" userId="33cb3c8a-ae33-4f55-be34-306cbe5b6d67" providerId="ADAL" clId="{EC909A2D-78C2-525E-811C-45F995EBE952}" dt="2026-02-19T03:41:22.522" v="14" actId="20577"/>
          <ac:spMkLst>
            <pc:docMk/>
            <pc:sldMk cId="0" sldId="256"/>
            <ac:spMk id="8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7dfda3887_0_1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11" name="Google Shape;211;g3c7dfda388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7dfda3887_0_27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27" name="Google Shape;227;g3c7dfda388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7dfda3887_0_47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42" name="Google Shape;242;g3c7dfda388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75" name="Google Shape;275;p13:notes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5"/>
          <p:cNvPicPr preferRelativeResize="0"/>
          <p:nvPr/>
        </p:nvPicPr>
        <p:blipFill rotWithShape="1">
          <a:blip r:embed="rId2">
            <a:alphaModFix/>
          </a:blip>
          <a:srcRect l="-1" r="49658"/>
          <a:stretch/>
        </p:blipFill>
        <p:spPr>
          <a:xfrm>
            <a:off x="1" y="1"/>
            <a:ext cx="12191999" cy="13622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15"/>
          <p:cNvCxnSpPr/>
          <p:nvPr/>
        </p:nvCxnSpPr>
        <p:spPr>
          <a:xfrm>
            <a:off x="0" y="1362269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D5A10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6"/>
          <p:cNvCxnSpPr/>
          <p:nvPr/>
        </p:nvCxnSpPr>
        <p:spPr>
          <a:xfrm>
            <a:off x="0" y="125029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D5A10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6" name="Google Shape;2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7" descr="1.jpg"/>
          <p:cNvPicPr preferRelativeResize="0"/>
          <p:nvPr/>
        </p:nvPicPr>
        <p:blipFill rotWithShape="1">
          <a:blip r:embed="rId2">
            <a:alphaModFix amt="36000"/>
          </a:blip>
          <a:srcRect/>
          <a:stretch/>
        </p:blipFill>
        <p:spPr>
          <a:xfrm>
            <a:off x="1426724" y="692513"/>
            <a:ext cx="10765276" cy="616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4"/>
          <p:cNvSpPr txBox="1"/>
          <p:nvPr/>
        </p:nvSpPr>
        <p:spPr>
          <a:xfrm>
            <a:off x="5428425" y="63500"/>
            <a:ext cx="1355725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SMU Classification: Restricted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228600" y="2259075"/>
            <a:ext cx="11731800" cy="1253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IS113</a:t>
            </a:r>
            <a:endParaRPr sz="42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Web Application Development I</a:t>
            </a:r>
            <a:endParaRPr sz="42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17800" y="4119775"/>
            <a:ext cx="11731800" cy="17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Trial Lab Test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A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Walk Through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/>
        </p:nvSpPr>
        <p:spPr>
          <a:xfrm>
            <a:off x="7602431" y="1534211"/>
            <a:ext cx="3110144" cy="288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node_modules, package.json, 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package-lock.json, 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are provided.</a:t>
            </a:r>
            <a:endParaRPr/>
          </a:p>
          <a:p>
            <a:pPr marL="127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40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 nodemon server.js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Web browser: localhost:8000/q1.html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7186" y="1547035"/>
            <a:ext cx="4168501" cy="40465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2"/>
          <p:cNvCxnSpPr/>
          <p:nvPr/>
        </p:nvCxnSpPr>
        <p:spPr>
          <a:xfrm rot="10800000" flipH="1">
            <a:off x="2003580" y="3890406"/>
            <a:ext cx="811877" cy="8313"/>
          </a:xfrm>
          <a:prstGeom prst="straightConnector1">
            <a:avLst/>
          </a:prstGeom>
          <a:noFill/>
          <a:ln w="222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2" name="Google Shape;92;p2"/>
          <p:cNvSpPr txBox="1"/>
          <p:nvPr/>
        </p:nvSpPr>
        <p:spPr>
          <a:xfrm>
            <a:off x="914399" y="3729442"/>
            <a:ext cx="11998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rowspan</a:t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6544074" y="4154493"/>
            <a:ext cx="1853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colspan,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&lt;br&gt;&lt;br&gt; </a:t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4" name="Google Shape;94;p2"/>
          <p:cNvCxnSpPr/>
          <p:nvPr/>
        </p:nvCxnSpPr>
        <p:spPr>
          <a:xfrm rot="10800000">
            <a:off x="5441852" y="4446881"/>
            <a:ext cx="953933" cy="0"/>
          </a:xfrm>
          <a:prstGeom prst="straightConnector1">
            <a:avLst/>
          </a:prstGeom>
          <a:noFill/>
          <a:ln w="222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5" name="Google Shape;95;p2"/>
          <p:cNvCxnSpPr/>
          <p:nvPr/>
        </p:nvCxnSpPr>
        <p:spPr>
          <a:xfrm rot="10800000">
            <a:off x="4749869" y="5262282"/>
            <a:ext cx="0" cy="476275"/>
          </a:xfrm>
          <a:prstGeom prst="straightConnector1">
            <a:avLst/>
          </a:prstGeom>
          <a:noFill/>
          <a:ln w="222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6" name="Google Shape;96;p2"/>
          <p:cNvSpPr txBox="1"/>
          <p:nvPr/>
        </p:nvSpPr>
        <p:spPr>
          <a:xfrm>
            <a:off x="3294398" y="5738557"/>
            <a:ext cx="34749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&lt;ul&gt;&lt;/ul&gt;,&lt;li&gt;&lt;/li&gt;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within &lt;td&gt;&lt;/td&gt;</a:t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511693" y="1264394"/>
            <a:ext cx="127309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q1.html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Q2a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0356219" y="7107050"/>
            <a:ext cx="127309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q2a.html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25" y="2201225"/>
            <a:ext cx="23812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890231" y="6377365"/>
            <a:ext cx="1273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q2a.html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3901" y="1869514"/>
            <a:ext cx="4085864" cy="4439850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3"/>
          <p:cNvSpPr/>
          <p:nvPr/>
        </p:nvSpPr>
        <p:spPr>
          <a:xfrm>
            <a:off x="4630907" y="2722670"/>
            <a:ext cx="2292300" cy="211200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30907" y="3403353"/>
            <a:ext cx="2292300" cy="211200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344149" y="1476993"/>
            <a:ext cx="1101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form submits the data via </a:t>
            </a:r>
            <a:r>
              <a:rPr lang="en-US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to the </a:t>
            </a:r>
            <a:r>
              <a:rPr lang="en-US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/q2a-process </a:t>
            </a: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route, which is handled by </a:t>
            </a:r>
            <a:r>
              <a:rPr lang="en-US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q2a-process.js </a:t>
            </a:r>
            <a:endParaRPr sz="14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630907" y="4084035"/>
            <a:ext cx="2292300" cy="193800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698708" y="2729381"/>
            <a:ext cx="407700" cy="29031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304026" y="4984500"/>
            <a:ext cx="2479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-U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hese will be numbers.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type=“number”&gt;</a:t>
            </a:r>
            <a:endParaRPr sz="1200"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7491" y="3166974"/>
            <a:ext cx="2479154" cy="1740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3791194" y="2007421"/>
            <a:ext cx="3132000" cy="1938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615444" y="4790705"/>
            <a:ext cx="2527200" cy="193800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64607" y="5427986"/>
            <a:ext cx="2628900" cy="193800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 rot="10800000" flipH="1">
            <a:off x="2119250" y="3199550"/>
            <a:ext cx="1347000" cy="274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Q2a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86069" y="1497101"/>
            <a:ext cx="110169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form submits the data via </a:t>
            </a:r>
            <a:r>
              <a:rPr lang="en-US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to the </a:t>
            </a:r>
            <a:r>
              <a:rPr lang="en-US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/q2a-process </a:t>
            </a: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endParaRPr sz="14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607" y="2669928"/>
            <a:ext cx="4992189" cy="4668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2603926" y="3223530"/>
            <a:ext cx="127309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q2a.html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7977585" y="4074845"/>
            <a:ext cx="1273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server.js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 rot="-193861" flipH="1">
            <a:off x="3829182" y="2130909"/>
            <a:ext cx="3998474" cy="637005"/>
          </a:xfrm>
          <a:custGeom>
            <a:avLst/>
            <a:gdLst/>
            <a:ahLst/>
            <a:cxnLst/>
            <a:rect l="l" t="t" r="r" b="b"/>
            <a:pathLst>
              <a:path w="2146300" h="419116" extrusionOk="0">
                <a:moveTo>
                  <a:pt x="0" y="406416"/>
                </a:moveTo>
                <a:cubicBezTo>
                  <a:pt x="360891" y="202157"/>
                  <a:pt x="721783" y="-2101"/>
                  <a:pt x="1079500" y="16"/>
                </a:cubicBezTo>
                <a:cubicBezTo>
                  <a:pt x="1437217" y="2133"/>
                  <a:pt x="1791758" y="210624"/>
                  <a:pt x="2146300" y="419116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763" y="2564675"/>
            <a:ext cx="50768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Q2a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40575" y="1568670"/>
            <a:ext cx="1106245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 called isDivisibleBy(num, divisor) returning a value as </a:t>
            </a:r>
            <a:r>
              <a:rPr lang="en-US" sz="16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Printing out as an unordered list using </a:t>
            </a:r>
            <a:r>
              <a:rPr lang="en-US" sz="16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res.send(".....").  </a:t>
            </a:r>
            <a:br>
              <a:rPr lang="en-US" sz="16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Tags </a:t>
            </a:r>
            <a:r>
              <a:rPr lang="en-US" sz="16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&lt;ul&gt;&lt;/ul&gt;, &lt;li&gt;&lt;/li&gt;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Validations:</a:t>
            </a:r>
            <a:endParaRPr sz="16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question did not ask to output error messages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 not need to handle this case.</a:t>
            </a:r>
            <a:endParaRPr/>
          </a:p>
          <a:p>
            <a:pPr marL="742950" marR="0" lvl="1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Possible solutions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Using an array to loop through the 3 numbers. With results in another array.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 { key: &lt;num&gt;, result: &lt;YES/NO&gt; } for each number in an array.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Individually checked (x3).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850" y="2037073"/>
            <a:ext cx="4972761" cy="4042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049" y="3936023"/>
            <a:ext cx="3373926" cy="14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Q2b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481661" y="6271381"/>
            <a:ext cx="843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Reuse the function isDivisibleBy(num, divisor) that returns a Boolean value.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038463" y="4484708"/>
            <a:ext cx="157500" cy="25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-1" y="1535321"/>
            <a:ext cx="10791826" cy="30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Include an HTML form that submits data to the /q2b-process route using the GET method.</a:t>
            </a:r>
            <a:endParaRPr/>
          </a:p>
        </p:txBody>
      </p:sp>
      <p:cxnSp>
        <p:nvCxnSpPr>
          <p:cNvPr id="150" name="Google Shape;150;p6"/>
          <p:cNvCxnSpPr/>
          <p:nvPr/>
        </p:nvCxnSpPr>
        <p:spPr>
          <a:xfrm rot="10800000" flipH="1">
            <a:off x="2394125" y="2092825"/>
            <a:ext cx="3006600" cy="1941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1" name="Google Shape;151;p6"/>
          <p:cNvCxnSpPr>
            <a:stCxn id="148" idx="1"/>
          </p:cNvCxnSpPr>
          <p:nvPr/>
        </p:nvCxnSpPr>
        <p:spPr>
          <a:xfrm rot="10800000" flipH="1">
            <a:off x="4195963" y="2960408"/>
            <a:ext cx="1276800" cy="16509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6"/>
          <p:cNvSpPr txBox="1"/>
          <p:nvPr/>
        </p:nvSpPr>
        <p:spPr>
          <a:xfrm>
            <a:off x="9349125" y="2555147"/>
            <a:ext cx="2524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String.pro</a:t>
            </a: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totype.split()</a:t>
            </a:r>
            <a:endParaRPr/>
          </a:p>
        </p:txBody>
      </p:sp>
      <p:cxnSp>
        <p:nvCxnSpPr>
          <p:cNvPr id="153" name="Google Shape;153;p6"/>
          <p:cNvCxnSpPr>
            <a:stCxn id="152" idx="1"/>
          </p:cNvCxnSpPr>
          <p:nvPr/>
        </p:nvCxnSpPr>
        <p:spPr>
          <a:xfrm flipH="1">
            <a:off x="7768125" y="2693597"/>
            <a:ext cx="1581000" cy="2391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54" name="Google Shape;15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846" y="2268409"/>
            <a:ext cx="4600385" cy="1119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6"/>
          <p:cNvCxnSpPr/>
          <p:nvPr/>
        </p:nvCxnSpPr>
        <p:spPr>
          <a:xfrm>
            <a:off x="2339150" y="3235225"/>
            <a:ext cx="0" cy="7008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6" name="Google Shape;156;p6"/>
          <p:cNvSpPr/>
          <p:nvPr/>
        </p:nvSpPr>
        <p:spPr>
          <a:xfrm>
            <a:off x="5399867" y="3501713"/>
            <a:ext cx="4887900" cy="210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0725" y="4008950"/>
            <a:ext cx="1581000" cy="891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112" y="2455225"/>
            <a:ext cx="6195451" cy="3028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056" y="2406709"/>
            <a:ext cx="3302794" cy="226073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Q3a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450056" y="1544958"/>
            <a:ext cx="1099899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Users select fruits on one page (q3a-form.html), and their selections are displayed with images on a separate results page (q3a-display.ejs).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420140" y="4696230"/>
            <a:ext cx="174955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q3a-form.html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7904937" y="5483975"/>
            <a:ext cx="1045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server.js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346699" y="2477875"/>
            <a:ext cx="3100800" cy="1728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00170" y="2486075"/>
            <a:ext cx="2266200" cy="1728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7"/>
          <p:cNvCxnSpPr>
            <a:stCxn id="170" idx="3"/>
            <a:endCxn id="169" idx="1"/>
          </p:cNvCxnSpPr>
          <p:nvPr/>
        </p:nvCxnSpPr>
        <p:spPr>
          <a:xfrm rot="10800000" flipH="1">
            <a:off x="2866370" y="2564375"/>
            <a:ext cx="2480400" cy="81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7"/>
          <p:cNvSpPr txBox="1"/>
          <p:nvPr/>
        </p:nvSpPr>
        <p:spPr>
          <a:xfrm>
            <a:off x="1603375" y="5100700"/>
            <a:ext cx="3302700" cy="1569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 POST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Checks if the user selects 1, more than 1 or none.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Send the selected fruit array and messages (if any) to q3a-display.ejs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 flipH="1">
            <a:off x="4906075" y="3244375"/>
            <a:ext cx="360300" cy="2260800"/>
          </a:xfrm>
          <a:prstGeom prst="rightBrace">
            <a:avLst>
              <a:gd name="adj1" fmla="val 8333"/>
              <a:gd name="adj2" fmla="val 90464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4543" y="3070901"/>
            <a:ext cx="4488186" cy="30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62" y="1724675"/>
            <a:ext cx="6195451" cy="302875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Q3a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7216525" y="1773038"/>
            <a:ext cx="4488300" cy="1015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 res.render() calls were used to send different data — specifically the fruitsToDisplay and msg properties to the same q3a-display.ejs file, depending on the user’s selection.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2974088" y="4753425"/>
            <a:ext cx="1206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server.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8673843" y="6099615"/>
            <a:ext cx="1749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q3a-display.ejs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7450" y="5049226"/>
            <a:ext cx="1523725" cy="1710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6" name="Google Shape;186;p8"/>
          <p:cNvSpPr/>
          <p:nvPr/>
        </p:nvSpPr>
        <p:spPr>
          <a:xfrm>
            <a:off x="1262060" y="2566925"/>
            <a:ext cx="5413200" cy="26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306002" y="3218202"/>
            <a:ext cx="3201300" cy="607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85125" y="4304772"/>
            <a:ext cx="5359200" cy="19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8"/>
          <p:cNvCxnSpPr>
            <a:stCxn id="188" idx="3"/>
            <a:endCxn id="190" idx="1"/>
          </p:cNvCxnSpPr>
          <p:nvPr/>
        </p:nvCxnSpPr>
        <p:spPr>
          <a:xfrm>
            <a:off x="5944325" y="4401972"/>
            <a:ext cx="1374900" cy="5979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0" name="Google Shape;190;p8"/>
          <p:cNvSpPr/>
          <p:nvPr/>
        </p:nvSpPr>
        <p:spPr>
          <a:xfrm>
            <a:off x="7319205" y="3900325"/>
            <a:ext cx="4434900" cy="2199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8"/>
          <p:cNvCxnSpPr>
            <a:endCxn id="187" idx="1"/>
          </p:cNvCxnSpPr>
          <p:nvPr/>
        </p:nvCxnSpPr>
        <p:spPr>
          <a:xfrm>
            <a:off x="6675102" y="2686002"/>
            <a:ext cx="630900" cy="8361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2" name="Google Shape;192;p8"/>
          <p:cNvCxnSpPr/>
          <p:nvPr/>
        </p:nvCxnSpPr>
        <p:spPr>
          <a:xfrm flipH="1">
            <a:off x="6219625" y="5433300"/>
            <a:ext cx="1748700" cy="4671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9"/>
          <p:cNvPicPr preferRelativeResize="0"/>
          <p:nvPr/>
        </p:nvPicPr>
        <p:blipFill rotWithShape="1">
          <a:blip r:embed="rId3">
            <a:alphaModFix/>
          </a:blip>
          <a:srcRect t="21407" r="13111" b="35459"/>
          <a:stretch/>
        </p:blipFill>
        <p:spPr>
          <a:xfrm>
            <a:off x="7307725" y="2179463"/>
            <a:ext cx="4557600" cy="123807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7724" y="4178325"/>
            <a:ext cx="46525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50" y="1613550"/>
            <a:ext cx="6202299" cy="43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Q3b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9"/>
          <p:cNvCxnSpPr>
            <a:stCxn id="203" idx="3"/>
            <a:endCxn id="197" idx="1"/>
          </p:cNvCxnSpPr>
          <p:nvPr/>
        </p:nvCxnSpPr>
        <p:spPr>
          <a:xfrm>
            <a:off x="5233450" y="2486375"/>
            <a:ext cx="2074200" cy="3120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4" name="Google Shape;204;p9"/>
          <p:cNvSpPr txBox="1"/>
          <p:nvPr/>
        </p:nvSpPr>
        <p:spPr>
          <a:xfrm>
            <a:off x="2912700" y="6006450"/>
            <a:ext cx="1017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8610125" y="6492900"/>
            <a:ext cx="1789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part of 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q3b-one.ejs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307725" y="4320150"/>
            <a:ext cx="4557600" cy="2172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9"/>
          <p:cNvCxnSpPr>
            <a:stCxn id="206" idx="0"/>
            <a:endCxn id="197" idx="2"/>
          </p:cNvCxnSpPr>
          <p:nvPr/>
        </p:nvCxnSpPr>
        <p:spPr>
          <a:xfrm rot="10800000">
            <a:off x="9586525" y="3417450"/>
            <a:ext cx="0" cy="9027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3" name="Google Shape;203;p9"/>
          <p:cNvSpPr/>
          <p:nvPr/>
        </p:nvSpPr>
        <p:spPr>
          <a:xfrm>
            <a:off x="320050" y="2198075"/>
            <a:ext cx="4913400" cy="576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216525" y="1773038"/>
            <a:ext cx="4488300" cy="276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When the form is first load.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c7dfda388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476" y="4851177"/>
            <a:ext cx="4384625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c7dfda3887_0_11"/>
          <p:cNvPicPr preferRelativeResize="0"/>
          <p:nvPr/>
        </p:nvPicPr>
        <p:blipFill rotWithShape="1">
          <a:blip r:embed="rId4">
            <a:alphaModFix/>
          </a:blip>
          <a:srcRect t="21154"/>
          <a:stretch/>
        </p:blipFill>
        <p:spPr>
          <a:xfrm>
            <a:off x="7511425" y="2260277"/>
            <a:ext cx="4245100" cy="18250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5" name="Google Shape;215;g3c7dfda3887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50" y="1613550"/>
            <a:ext cx="6202299" cy="43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c7dfda3887_0_11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Q3b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c7dfda3887_0_11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g3c7dfda3887_0_11"/>
          <p:cNvCxnSpPr>
            <a:stCxn id="219" idx="3"/>
            <a:endCxn id="214" idx="1"/>
          </p:cNvCxnSpPr>
          <p:nvPr/>
        </p:nvCxnSpPr>
        <p:spPr>
          <a:xfrm rot="10800000" flipH="1">
            <a:off x="6522250" y="3172950"/>
            <a:ext cx="989100" cy="5529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0" name="Google Shape;220;g3c7dfda3887_0_11"/>
          <p:cNvSpPr txBox="1"/>
          <p:nvPr/>
        </p:nvSpPr>
        <p:spPr>
          <a:xfrm>
            <a:off x="2912700" y="6006450"/>
            <a:ext cx="1017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c7dfda3887_0_11"/>
          <p:cNvSpPr txBox="1"/>
          <p:nvPr/>
        </p:nvSpPr>
        <p:spPr>
          <a:xfrm>
            <a:off x="8512037" y="5624902"/>
            <a:ext cx="1789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part of 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q3b-one.ejs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c7dfda3887_0_11"/>
          <p:cNvSpPr/>
          <p:nvPr/>
        </p:nvSpPr>
        <p:spPr>
          <a:xfrm>
            <a:off x="7214475" y="4851202"/>
            <a:ext cx="3185100" cy="773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c7dfda3887_0_11"/>
          <p:cNvCxnSpPr/>
          <p:nvPr/>
        </p:nvCxnSpPr>
        <p:spPr>
          <a:xfrm rot="10800000" flipH="1">
            <a:off x="10016275" y="3229777"/>
            <a:ext cx="12000" cy="16047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9" name="Google Shape;219;g3c7dfda3887_0_11"/>
          <p:cNvSpPr/>
          <p:nvPr/>
        </p:nvSpPr>
        <p:spPr>
          <a:xfrm>
            <a:off x="320050" y="3395700"/>
            <a:ext cx="6202200" cy="66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c7dfda3887_0_11"/>
          <p:cNvSpPr txBox="1"/>
          <p:nvPr/>
        </p:nvSpPr>
        <p:spPr>
          <a:xfrm>
            <a:off x="7216525" y="1773050"/>
            <a:ext cx="4692000" cy="276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When the form is submitted without selection.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c7dfda388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150" y="2384263"/>
            <a:ext cx="3589150" cy="3697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g3c7dfda3887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50" y="1613550"/>
            <a:ext cx="6202299" cy="43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c7dfda3887_0_27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Q3b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c7dfda3887_0_27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g3c7dfda3887_0_27"/>
          <p:cNvCxnSpPr>
            <a:stCxn id="234" idx="3"/>
            <a:endCxn id="229" idx="1"/>
          </p:cNvCxnSpPr>
          <p:nvPr/>
        </p:nvCxnSpPr>
        <p:spPr>
          <a:xfrm rot="10800000" flipH="1">
            <a:off x="6522250" y="4232900"/>
            <a:ext cx="547800" cy="769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5" name="Google Shape;235;g3c7dfda3887_0_27"/>
          <p:cNvSpPr txBox="1"/>
          <p:nvPr/>
        </p:nvSpPr>
        <p:spPr>
          <a:xfrm>
            <a:off x="2912700" y="6006450"/>
            <a:ext cx="1017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c7dfda3887_0_27"/>
          <p:cNvSpPr txBox="1"/>
          <p:nvPr/>
        </p:nvSpPr>
        <p:spPr>
          <a:xfrm>
            <a:off x="9467037" y="5552190"/>
            <a:ext cx="1789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part of 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q3b-one.ejs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c7dfda3887_0_27"/>
          <p:cNvSpPr/>
          <p:nvPr/>
        </p:nvSpPr>
        <p:spPr>
          <a:xfrm>
            <a:off x="320050" y="4115900"/>
            <a:ext cx="6202200" cy="1772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c7dfda3887_0_27"/>
          <p:cNvSpPr txBox="1"/>
          <p:nvPr/>
        </p:nvSpPr>
        <p:spPr>
          <a:xfrm>
            <a:off x="7216525" y="1773050"/>
            <a:ext cx="4692000" cy="461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When the form is submitted at least 1 selection.</a:t>
            </a:r>
            <a:endParaRPr/>
          </a:p>
        </p:txBody>
      </p:sp>
      <p:pic>
        <p:nvPicPr>
          <p:cNvPr id="238" name="Google Shape;238;g3c7dfda3887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7200" y="3936075"/>
            <a:ext cx="3341326" cy="161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c7dfda3887_0_27"/>
          <p:cNvSpPr/>
          <p:nvPr/>
        </p:nvSpPr>
        <p:spPr>
          <a:xfrm>
            <a:off x="8288800" y="3779800"/>
            <a:ext cx="278400" cy="1772400"/>
          </a:xfrm>
          <a:prstGeom prst="rightBrace">
            <a:avLst>
              <a:gd name="adj1" fmla="val 8333"/>
              <a:gd name="adj2" fmla="val 53008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c7dfda3887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075" y="1514875"/>
            <a:ext cx="4422250" cy="491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c7dfda3887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675" y="2047318"/>
            <a:ext cx="3589150" cy="3697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6" name="Google Shape;246;g3c7dfda3887_0_47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Q3b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c7dfda3887_0_47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3c7dfda3887_0_47"/>
          <p:cNvCxnSpPr>
            <a:endCxn id="249" idx="3"/>
          </p:cNvCxnSpPr>
          <p:nvPr/>
        </p:nvCxnSpPr>
        <p:spPr>
          <a:xfrm rot="10800000">
            <a:off x="5333375" y="1869325"/>
            <a:ext cx="1653000" cy="11481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0" name="Google Shape;250;g3c7dfda3887_0_47"/>
          <p:cNvSpPr txBox="1"/>
          <p:nvPr/>
        </p:nvSpPr>
        <p:spPr>
          <a:xfrm>
            <a:off x="2272000" y="6425075"/>
            <a:ext cx="1868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 Mono"/>
                <a:ea typeface="Roboto Mono"/>
                <a:cs typeface="Roboto Mono"/>
                <a:sym typeface="Roboto Mono"/>
              </a:rPr>
              <a:t>complete </a:t>
            </a:r>
            <a:r>
              <a:rPr lang="en-US" sz="11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q3b-one.ejs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c7dfda3887_0_47"/>
          <p:cNvSpPr/>
          <p:nvPr/>
        </p:nvSpPr>
        <p:spPr>
          <a:xfrm>
            <a:off x="995075" y="1514875"/>
            <a:ext cx="4338300" cy="70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c7dfda3887_0_47"/>
          <p:cNvSpPr/>
          <p:nvPr/>
        </p:nvSpPr>
        <p:spPr>
          <a:xfrm flipH="1">
            <a:off x="6543050" y="3408531"/>
            <a:ext cx="397800" cy="1772400"/>
          </a:xfrm>
          <a:prstGeom prst="rightBrace">
            <a:avLst>
              <a:gd name="adj1" fmla="val 8333"/>
              <a:gd name="adj2" fmla="val 53008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c7dfda3887_0_47"/>
          <p:cNvSpPr/>
          <p:nvPr/>
        </p:nvSpPr>
        <p:spPr>
          <a:xfrm>
            <a:off x="995075" y="2223750"/>
            <a:ext cx="4338300" cy="1987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3c7dfda3887_0_47"/>
          <p:cNvCxnSpPr>
            <a:stCxn id="251" idx="1"/>
            <a:endCxn id="252" idx="3"/>
          </p:cNvCxnSpPr>
          <p:nvPr/>
        </p:nvCxnSpPr>
        <p:spPr>
          <a:xfrm rot="10800000">
            <a:off x="5333450" y="3217644"/>
            <a:ext cx="1209600" cy="11304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4" name="Google Shape;254;g3c7dfda3887_0_47"/>
          <p:cNvSpPr/>
          <p:nvPr/>
        </p:nvSpPr>
        <p:spPr>
          <a:xfrm>
            <a:off x="995075" y="4268375"/>
            <a:ext cx="4338300" cy="2156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7dfda3887_0_47"/>
          <p:cNvSpPr/>
          <p:nvPr/>
        </p:nvSpPr>
        <p:spPr>
          <a:xfrm flipH="1">
            <a:off x="6568250" y="5297525"/>
            <a:ext cx="347400" cy="447300"/>
          </a:xfrm>
          <a:prstGeom prst="rightBrace">
            <a:avLst>
              <a:gd name="adj1" fmla="val 8333"/>
              <a:gd name="adj2" fmla="val 53008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3c7dfda3887_0_47"/>
          <p:cNvCxnSpPr>
            <a:stCxn id="255" idx="1"/>
            <a:endCxn id="254" idx="3"/>
          </p:cNvCxnSpPr>
          <p:nvPr/>
        </p:nvCxnSpPr>
        <p:spPr>
          <a:xfrm rot="10800000">
            <a:off x="5333450" y="5346829"/>
            <a:ext cx="1234800" cy="1878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228600" y="808175"/>
            <a:ext cx="11731800" cy="350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Q4</a:t>
            </a:r>
            <a:endParaRPr sz="24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447674" y="1542743"/>
            <a:ext cx="929640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Likely to be marked via test cases.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Code has to be within the function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Logic-driven, with or without UI.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447674" y="3318056"/>
            <a:ext cx="929640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Convert all to upper or lower cases.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Check if the number of unique characters for the two strings are the same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Check if the number of occurrences of each unique character in the two strings are similar.</a:t>
            </a:r>
            <a:endParaRPr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228600" y="2259075"/>
            <a:ext cx="11731800" cy="12537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spcFirstLastPara="1" wrap="square" lIns="83850" tIns="0" rIns="83850" bIns="419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IS113</a:t>
            </a:r>
            <a:endParaRPr sz="42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Web Application Development I</a:t>
            </a:r>
            <a:endParaRPr sz="4200" b="1" i="0" u="none" strike="noStrike" cap="non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217800" y="4119775"/>
            <a:ext cx="11731800" cy="17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Trial Lab Test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A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497025"/>
            <a:ext cx="10817225" cy="49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 txBox="1"/>
          <p:nvPr/>
        </p:nvSpPr>
        <p:spPr>
          <a:xfrm>
            <a:off x="11503025" y="649290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520</Words>
  <Application>Microsoft Macintosh PowerPoint</Application>
  <PresentationFormat>Widescreen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Elvin NG Pei Xiong</dc:creator>
  <cp:lastModifiedBy>SHAR Lwin Khin</cp:lastModifiedBy>
  <cp:revision>2</cp:revision>
  <dcterms:created xsi:type="dcterms:W3CDTF">2018-11-21T01:52:47Z</dcterms:created>
  <dcterms:modified xsi:type="dcterms:W3CDTF">2026-02-19T10:29:34Z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0x01010090F32C23BA0D1F46B52AAC7AA48FC3E3</vt:lpwstr>
  </property>
  <property fmtid="{D5CDD505-2E9C-101B-9397-08002B2CF9AE}" pid="3" name="ClassificationContentMarkingHeaderLocations">
    <vt:lpwstr>Office Theme:8</vt:lpwstr>
  </property>
  <property fmtid="{D5CDD505-2E9C-101B-9397-08002B2CF9AE}" pid="4" name="ClassificationContentMarkingHeaderText">
    <vt:lpwstr>SMU Classification: Restricted</vt:lpwstr>
  </property>
</Properties>
</file>