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797675" cy="9926638"/>
  <p:embeddedFontLst>
    <p:embeddedFont>
      <p:font typeface="Roboto Mono" pitchFamily="49"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jffCSzLPGw1OUVXfFjB8ipNpstk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81BE95-2B32-5A41-81F5-246BAC228A4E}" v="1" dt="2026-02-26T10:26:20.7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85"/>
    <p:restoredTop sz="94699"/>
  </p:normalViewPr>
  <p:slideViewPr>
    <p:cSldViewPr snapToGrid="0">
      <p:cViewPr varScale="1">
        <p:scale>
          <a:sx n="192" d="100"/>
          <a:sy n="192" d="100"/>
        </p:scale>
        <p:origin x="752"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oj THULASIDAS" userId="d95e47b6-62ec-43de-81ef-a7c2618fa2c1" providerId="ADAL" clId="{AD284103-20F8-5477-B65E-8E004EFEAAA6}"/>
    <pc:docChg chg="mod modSld modMainMaster">
      <pc:chgData name="Manoj THULASIDAS" userId="d95e47b6-62ec-43de-81ef-a7c2618fa2c1" providerId="ADAL" clId="{AD284103-20F8-5477-B65E-8E004EFEAAA6}" dt="2026-02-27T01:51:18.451" v="77" actId="20577"/>
      <pc:docMkLst>
        <pc:docMk/>
      </pc:docMkLst>
      <pc:sldChg chg="modSp mod">
        <pc:chgData name="Manoj THULASIDAS" userId="d95e47b6-62ec-43de-81ef-a7c2618fa2c1" providerId="ADAL" clId="{AD284103-20F8-5477-B65E-8E004EFEAAA6}" dt="2026-02-26T10:31:07.293" v="75" actId="113"/>
        <pc:sldMkLst>
          <pc:docMk/>
          <pc:sldMk cId="0" sldId="259"/>
        </pc:sldMkLst>
        <pc:spChg chg="mod">
          <ac:chgData name="Manoj THULASIDAS" userId="d95e47b6-62ec-43de-81ef-a7c2618fa2c1" providerId="ADAL" clId="{AD284103-20F8-5477-B65E-8E004EFEAAA6}" dt="2026-02-26T10:31:07.293" v="75" actId="113"/>
          <ac:spMkLst>
            <pc:docMk/>
            <pc:sldMk cId="0" sldId="259"/>
            <ac:spMk id="101" creationId="{00000000-0000-0000-0000-000000000000}"/>
          </ac:spMkLst>
        </pc:spChg>
      </pc:sldChg>
      <pc:sldChg chg="modSp mod">
        <pc:chgData name="Manoj THULASIDAS" userId="d95e47b6-62ec-43de-81ef-a7c2618fa2c1" providerId="ADAL" clId="{AD284103-20F8-5477-B65E-8E004EFEAAA6}" dt="2026-02-26T10:26:53.076" v="52" actId="113"/>
        <pc:sldMkLst>
          <pc:docMk/>
          <pc:sldMk cId="0" sldId="260"/>
        </pc:sldMkLst>
        <pc:spChg chg="mod">
          <ac:chgData name="Manoj THULASIDAS" userId="d95e47b6-62ec-43de-81ef-a7c2618fa2c1" providerId="ADAL" clId="{AD284103-20F8-5477-B65E-8E004EFEAAA6}" dt="2026-02-26T10:26:53.076" v="52" actId="113"/>
          <ac:spMkLst>
            <pc:docMk/>
            <pc:sldMk cId="0" sldId="260"/>
            <ac:spMk id="113" creationId="{00000000-0000-0000-0000-000000000000}"/>
          </ac:spMkLst>
        </pc:spChg>
      </pc:sldChg>
      <pc:sldChg chg="modSp mod">
        <pc:chgData name="Manoj THULASIDAS" userId="d95e47b6-62ec-43de-81ef-a7c2618fa2c1" providerId="ADAL" clId="{AD284103-20F8-5477-B65E-8E004EFEAAA6}" dt="2026-02-27T01:51:18.451" v="77" actId="20577"/>
        <pc:sldMkLst>
          <pc:docMk/>
          <pc:sldMk cId="0" sldId="262"/>
        </pc:sldMkLst>
        <pc:spChg chg="mod">
          <ac:chgData name="Manoj THULASIDAS" userId="d95e47b6-62ec-43de-81ef-a7c2618fa2c1" providerId="ADAL" clId="{AD284103-20F8-5477-B65E-8E004EFEAAA6}" dt="2026-02-27T01:51:18.451" v="77" actId="20577"/>
          <ac:spMkLst>
            <pc:docMk/>
            <pc:sldMk cId="0" sldId="262"/>
            <ac:spMk id="139" creationId="{00000000-0000-0000-0000-000000000000}"/>
          </ac:spMkLst>
        </pc:spChg>
      </pc:sldChg>
      <pc:sldChg chg="modSp mod">
        <pc:chgData name="Manoj THULASIDAS" userId="d95e47b6-62ec-43de-81ef-a7c2618fa2c1" providerId="ADAL" clId="{AD284103-20F8-5477-B65E-8E004EFEAAA6}" dt="2026-02-26T10:29:00.528" v="63" actId="20577"/>
        <pc:sldMkLst>
          <pc:docMk/>
          <pc:sldMk cId="0" sldId="263"/>
        </pc:sldMkLst>
        <pc:spChg chg="mod">
          <ac:chgData name="Manoj THULASIDAS" userId="d95e47b6-62ec-43de-81ef-a7c2618fa2c1" providerId="ADAL" clId="{AD284103-20F8-5477-B65E-8E004EFEAAA6}" dt="2026-02-26T10:29:00.528" v="63" actId="20577"/>
          <ac:spMkLst>
            <pc:docMk/>
            <pc:sldMk cId="0" sldId="263"/>
            <ac:spMk id="153" creationId="{00000000-0000-0000-0000-000000000000}"/>
          </ac:spMkLst>
        </pc:spChg>
      </pc:sldChg>
      <pc:sldChg chg="modSp mod">
        <pc:chgData name="Manoj THULASIDAS" userId="d95e47b6-62ec-43de-81ef-a7c2618fa2c1" providerId="ADAL" clId="{AD284103-20F8-5477-B65E-8E004EFEAAA6}" dt="2026-02-26T10:29:18.159" v="64" actId="113"/>
        <pc:sldMkLst>
          <pc:docMk/>
          <pc:sldMk cId="0" sldId="264"/>
        </pc:sldMkLst>
        <pc:spChg chg="mod">
          <ac:chgData name="Manoj THULASIDAS" userId="d95e47b6-62ec-43de-81ef-a7c2618fa2c1" providerId="ADAL" clId="{AD284103-20F8-5477-B65E-8E004EFEAAA6}" dt="2026-02-26T10:29:18.159" v="64" actId="113"/>
          <ac:spMkLst>
            <pc:docMk/>
            <pc:sldMk cId="0" sldId="264"/>
            <ac:spMk id="166" creationId="{00000000-0000-0000-0000-000000000000}"/>
          </ac:spMkLst>
        </pc:spChg>
      </pc:sldChg>
      <pc:sldChg chg="modSp mod">
        <pc:chgData name="Manoj THULASIDAS" userId="d95e47b6-62ec-43de-81ef-a7c2618fa2c1" providerId="ADAL" clId="{AD284103-20F8-5477-B65E-8E004EFEAAA6}" dt="2026-02-26T10:25:30.345" v="34" actId="113"/>
        <pc:sldMkLst>
          <pc:docMk/>
          <pc:sldMk cId="0" sldId="266"/>
        </pc:sldMkLst>
        <pc:spChg chg="mod">
          <ac:chgData name="Manoj THULASIDAS" userId="d95e47b6-62ec-43de-81ef-a7c2618fa2c1" providerId="ADAL" clId="{AD284103-20F8-5477-B65E-8E004EFEAAA6}" dt="2026-02-26T10:25:30.345" v="34" actId="113"/>
          <ac:spMkLst>
            <pc:docMk/>
            <pc:sldMk cId="0" sldId="266"/>
            <ac:spMk id="192" creationId="{00000000-0000-0000-0000-000000000000}"/>
          </ac:spMkLst>
        </pc:spChg>
      </pc:sldChg>
      <pc:sldChg chg="modSp mod">
        <pc:chgData name="Manoj THULASIDAS" userId="d95e47b6-62ec-43de-81ef-a7c2618fa2c1" providerId="ADAL" clId="{AD284103-20F8-5477-B65E-8E004EFEAAA6}" dt="2026-02-26T10:30:25.445" v="70" actId="113"/>
        <pc:sldMkLst>
          <pc:docMk/>
          <pc:sldMk cId="0" sldId="267"/>
        </pc:sldMkLst>
        <pc:spChg chg="mod">
          <ac:chgData name="Manoj THULASIDAS" userId="d95e47b6-62ec-43de-81ef-a7c2618fa2c1" providerId="ADAL" clId="{AD284103-20F8-5477-B65E-8E004EFEAAA6}" dt="2026-02-26T10:30:25.445" v="70" actId="113"/>
          <ac:spMkLst>
            <pc:docMk/>
            <pc:sldMk cId="0" sldId="267"/>
            <ac:spMk id="206" creationId="{00000000-0000-0000-0000-000000000000}"/>
          </ac:spMkLst>
        </pc:spChg>
      </pc:sldChg>
      <pc:sldChg chg="modSp mod">
        <pc:chgData name="Manoj THULASIDAS" userId="d95e47b6-62ec-43de-81ef-a7c2618fa2c1" providerId="ADAL" clId="{AD284103-20F8-5477-B65E-8E004EFEAAA6}" dt="2026-02-26T10:26:04.777" v="44" actId="20577"/>
        <pc:sldMkLst>
          <pc:docMk/>
          <pc:sldMk cId="0" sldId="268"/>
        </pc:sldMkLst>
        <pc:spChg chg="mod">
          <ac:chgData name="Manoj THULASIDAS" userId="d95e47b6-62ec-43de-81ef-a7c2618fa2c1" providerId="ADAL" clId="{AD284103-20F8-5477-B65E-8E004EFEAAA6}" dt="2026-02-26T10:26:04.777" v="44" actId="20577"/>
          <ac:spMkLst>
            <pc:docMk/>
            <pc:sldMk cId="0" sldId="268"/>
            <ac:spMk id="222" creationId="{00000000-0000-0000-0000-000000000000}"/>
          </ac:spMkLst>
        </pc:spChg>
      </pc:sldChg>
      <pc:sldChg chg="modSp mod">
        <pc:chgData name="Manoj THULASIDAS" userId="d95e47b6-62ec-43de-81ef-a7c2618fa2c1" providerId="ADAL" clId="{AD284103-20F8-5477-B65E-8E004EFEAAA6}" dt="2026-02-26T10:30:39.053" v="71" actId="113"/>
        <pc:sldMkLst>
          <pc:docMk/>
          <pc:sldMk cId="0" sldId="269"/>
        </pc:sldMkLst>
        <pc:spChg chg="mod">
          <ac:chgData name="Manoj THULASIDAS" userId="d95e47b6-62ec-43de-81ef-a7c2618fa2c1" providerId="ADAL" clId="{AD284103-20F8-5477-B65E-8E004EFEAAA6}" dt="2026-02-26T10:30:39.053" v="71" actId="113"/>
          <ac:spMkLst>
            <pc:docMk/>
            <pc:sldMk cId="0" sldId="269"/>
            <ac:spMk id="239" creationId="{00000000-0000-0000-0000-000000000000}"/>
          </ac:spMkLst>
        </pc:spChg>
      </pc:sldChg>
      <pc:sldChg chg="modSp mod">
        <pc:chgData name="Manoj THULASIDAS" userId="d95e47b6-62ec-43de-81ef-a7c2618fa2c1" providerId="ADAL" clId="{AD284103-20F8-5477-B65E-8E004EFEAAA6}" dt="2026-02-26T10:26:20.784" v="46"/>
        <pc:sldMkLst>
          <pc:docMk/>
          <pc:sldMk cId="0" sldId="270"/>
        </pc:sldMkLst>
        <pc:spChg chg="mod">
          <ac:chgData name="Manoj THULASIDAS" userId="d95e47b6-62ec-43de-81ef-a7c2618fa2c1" providerId="ADAL" clId="{AD284103-20F8-5477-B65E-8E004EFEAAA6}" dt="2026-02-26T10:26:20.784" v="46"/>
          <ac:spMkLst>
            <pc:docMk/>
            <pc:sldMk cId="0" sldId="270"/>
            <ac:spMk id="254" creationId="{00000000-0000-0000-0000-000000000000}"/>
          </ac:spMkLst>
        </pc:spChg>
      </pc:sldChg>
      <pc:sldChg chg="modSp mod">
        <pc:chgData name="Manoj THULASIDAS" userId="d95e47b6-62ec-43de-81ef-a7c2618fa2c1" providerId="ADAL" clId="{AD284103-20F8-5477-B65E-8E004EFEAAA6}" dt="2026-02-26T10:30:48.610" v="72" actId="113"/>
        <pc:sldMkLst>
          <pc:docMk/>
          <pc:sldMk cId="0" sldId="271"/>
        </pc:sldMkLst>
        <pc:spChg chg="mod">
          <ac:chgData name="Manoj THULASIDAS" userId="d95e47b6-62ec-43de-81ef-a7c2618fa2c1" providerId="ADAL" clId="{AD284103-20F8-5477-B65E-8E004EFEAAA6}" dt="2026-02-26T10:30:48.610" v="72" actId="113"/>
          <ac:spMkLst>
            <pc:docMk/>
            <pc:sldMk cId="0" sldId="271"/>
            <ac:spMk id="269" creationId="{00000000-0000-0000-0000-000000000000}"/>
          </ac:spMkLst>
        </pc:spChg>
      </pc:sldChg>
      <pc:sldChg chg="modSp mod">
        <pc:chgData name="Manoj THULASIDAS" userId="d95e47b6-62ec-43de-81ef-a7c2618fa2c1" providerId="ADAL" clId="{AD284103-20F8-5477-B65E-8E004EFEAAA6}" dt="2026-02-26T10:26:45.032" v="49" actId="113"/>
        <pc:sldMkLst>
          <pc:docMk/>
          <pc:sldMk cId="0" sldId="272"/>
        </pc:sldMkLst>
        <pc:spChg chg="mod">
          <ac:chgData name="Manoj THULASIDAS" userId="d95e47b6-62ec-43de-81ef-a7c2618fa2c1" providerId="ADAL" clId="{AD284103-20F8-5477-B65E-8E004EFEAAA6}" dt="2026-02-26T10:26:45.032" v="49" actId="113"/>
          <ac:spMkLst>
            <pc:docMk/>
            <pc:sldMk cId="0" sldId="272"/>
            <ac:spMk id="282" creationId="{00000000-0000-0000-0000-000000000000}"/>
          </ac:spMkLst>
        </pc:spChg>
      </pc:sldChg>
      <pc:sldMasterChg chg="addSp mod">
        <pc:chgData name="Manoj THULASIDAS" userId="d95e47b6-62ec-43de-81ef-a7c2618fa2c1" providerId="ADAL" clId="{AD284103-20F8-5477-B65E-8E004EFEAAA6}" dt="2026-02-26T10:20:07.855" v="4" actId="33475"/>
        <pc:sldMasterMkLst>
          <pc:docMk/>
          <pc:sldMasterMk cId="0" sldId="2147483648"/>
        </pc:sldMasterMkLst>
        <pc:spChg chg="add">
          <ac:chgData name="Manoj THULASIDAS" userId="d95e47b6-62ec-43de-81ef-a7c2618fa2c1" providerId="ADAL" clId="{AD284103-20F8-5477-B65E-8E004EFEAAA6}" dt="2026-02-26T10:20:07.855" v="4" actId="33475"/>
          <ac:spMkLst>
            <pc:docMk/>
            <pc:sldMasterMk cId="0" sldId="2147483648"/>
            <ac:spMk id="3" creationId="{1A2D8DFC-92C5-6418-60AD-062D196B8F43}"/>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6400" cy="4968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49688" y="0"/>
            <a:ext cx="2946400" cy="4968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450" y="4776788"/>
            <a:ext cx="5438775" cy="39084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9750"/>
            <a:ext cx="2946400" cy="49688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49688" y="9429750"/>
            <a:ext cx="2946400" cy="496888"/>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1:notes"/>
          <p:cNvSpPr txBox="1">
            <a:spLocks noGrp="1"/>
          </p:cNvSpPr>
          <p:nvPr>
            <p:ph type="body" idx="1"/>
          </p:nvPr>
        </p:nvSpPr>
        <p:spPr>
          <a:xfrm>
            <a:off x="679450" y="4776788"/>
            <a:ext cx="5438775" cy="390842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 name="Google Shape;68;p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6a222053df_0_29: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Ref: Many parts of this slides are taken from MongoDB,  read more about MongoDB in the link below.</a:t>
            </a:r>
            <a:br>
              <a:rPr lang="en-US"/>
            </a:br>
            <a:r>
              <a:rPr lang="en-US" sz="1200" b="0"/>
              <a:t>https://www.mongodb.com/resources/basics/databases/document-databases</a:t>
            </a:r>
            <a:endParaRPr b="0"/>
          </a:p>
        </p:txBody>
      </p:sp>
      <p:sp>
        <p:nvSpPr>
          <p:cNvPr id="74" name="Google Shape;74;g36a222053df_0_29: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Ref: Many parts of this slides are taken from MongoDB,  read more about MongoDB in the link below.</a:t>
            </a:r>
            <a:br>
              <a:rPr lang="en-US"/>
            </a:br>
            <a:r>
              <a:rPr lang="en-US" sz="1200" b="0"/>
              <a:t>https://www.mongodb.com/resources/basics/databases/document-databases</a:t>
            </a:r>
            <a:endParaRPr b="0"/>
          </a:p>
        </p:txBody>
      </p:sp>
      <p:sp>
        <p:nvSpPr>
          <p:cNvPr id="83" name="Google Shape;83;p2: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6a222053df_0_34: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g36a222053df_0_3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6e7437085d_0_10: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g36e7437085d_0_1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6e7437085d_0_18: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 name="Google Shape;123;g36e7437085d_0_18: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3: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Ref : MongoDB Atlas Cluster * -- https://www.mongodb.com/resources/products/fundamentals/clusters</a:t>
            </a:r>
            <a:endParaRPr/>
          </a:p>
        </p:txBody>
      </p:sp>
      <p:sp>
        <p:nvSpPr>
          <p:cNvPr id="136" name="Google Shape;136;p3: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6e7437085d_0_35: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g36e7437085d_0_3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6e7437085d_0_43: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g36e7437085d_0_43: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6e7437085d_0_51: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6" name="Google Shape;176;g36e7437085d_0_5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6e7437085d_0_60: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g36e7437085d_0_6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6e7437085d_0_68: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g36e7437085d_0_68: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6e7437085d_0_76: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9" name="Google Shape;219;g36e7437085d_0_76: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6e7437085d_0_84: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5" name="Google Shape;235;g36e7437085d_0_8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6e7437085d_0_92: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g36e7437085d_0_92: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6e7437085d_0_100: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g36e7437085d_0_100: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6e7437085d_0_108: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9" name="Google Shape;279;g36e7437085d_0_108: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6e7437085d_0_116: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g36e7437085d_0_116: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6e7437085d_0_124: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5" name="Google Shape;305;g36e7437085d_0_12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4:notes"/>
          <p:cNvSpPr txBox="1">
            <a:spLocks noGrp="1"/>
          </p:cNvSpPr>
          <p:nvPr>
            <p:ph type="body" idx="1"/>
          </p:nvPr>
        </p:nvSpPr>
        <p:spPr>
          <a:xfrm>
            <a:off x="679450" y="4776788"/>
            <a:ext cx="5438700" cy="3908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1" name="Google Shape;311;p4: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7"/>
        <p:cNvGrpSpPr/>
        <p:nvPr/>
      </p:nvGrpSpPr>
      <p:grpSpPr>
        <a:xfrm>
          <a:off x="0" y="0"/>
          <a:ext cx="0" cy="0"/>
          <a:chOff x="0" y="0"/>
          <a:chExt cx="0" cy="0"/>
        </a:xfrm>
      </p:grpSpPr>
      <p:pic>
        <p:nvPicPr>
          <p:cNvPr id="18" name="Google Shape;18;p7"/>
          <p:cNvPicPr preferRelativeResize="0"/>
          <p:nvPr/>
        </p:nvPicPr>
        <p:blipFill rotWithShape="1">
          <a:blip r:embed="rId2">
            <a:alphaModFix/>
          </a:blip>
          <a:srcRect l="-1" r="49658"/>
          <a:stretch/>
        </p:blipFill>
        <p:spPr>
          <a:xfrm>
            <a:off x="1" y="1"/>
            <a:ext cx="12191999" cy="1362268"/>
          </a:xfrm>
          <a:prstGeom prst="rect">
            <a:avLst/>
          </a:prstGeom>
          <a:noFill/>
          <a:ln>
            <a:noFill/>
          </a:ln>
        </p:spPr>
      </p:pic>
      <p:cxnSp>
        <p:nvCxnSpPr>
          <p:cNvPr id="19" name="Google Shape;19;p7"/>
          <p:cNvCxnSpPr/>
          <p:nvPr/>
        </p:nvCxnSpPr>
        <p:spPr>
          <a:xfrm>
            <a:off x="0" y="1362269"/>
            <a:ext cx="12192000" cy="0"/>
          </a:xfrm>
          <a:prstGeom prst="straightConnector1">
            <a:avLst/>
          </a:prstGeom>
          <a:noFill/>
          <a:ln w="9525" cap="flat" cmpd="sng">
            <a:solidFill>
              <a:srgbClr val="D5A10F"/>
            </a:solidFill>
            <a:prstDash val="solid"/>
            <a:miter lim="800000"/>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3" name="Google Shape;23;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26" name="Google Shape;26;p9"/>
          <p:cNvCxnSpPr/>
          <p:nvPr/>
        </p:nvCxnSpPr>
        <p:spPr>
          <a:xfrm>
            <a:off x="0" y="1250297"/>
            <a:ext cx="12192000" cy="0"/>
          </a:xfrm>
          <a:prstGeom prst="straightConnector1">
            <a:avLst/>
          </a:prstGeom>
          <a:noFill/>
          <a:ln w="9525" cap="flat" cmpd="sng">
            <a:solidFill>
              <a:srgbClr val="D5A10F"/>
            </a:solidFill>
            <a:prstDash val="solid"/>
            <a:miter lim="800000"/>
            <a:headEnd type="none" w="sm" len="sm"/>
            <a:tailEnd type="none" w="sm" len="sm"/>
          </a:ln>
        </p:spPr>
      </p:cxnSp>
      <p:pic>
        <p:nvPicPr>
          <p:cNvPr id="27" name="Google Shape;27;p9"/>
          <p:cNvPicPr preferRelativeResize="0"/>
          <p:nvPr/>
        </p:nvPicPr>
        <p:blipFill rotWithShape="1">
          <a:blip r:embed="rId2">
            <a:alphaModFix/>
          </a:blip>
          <a:srcRect/>
          <a:stretch/>
        </p:blipFill>
        <p:spPr>
          <a:xfrm>
            <a:off x="0" y="-4761"/>
            <a:ext cx="12192000" cy="685800"/>
          </a:xfrm>
          <a:prstGeom prst="rect">
            <a:avLst/>
          </a:prstGeom>
          <a:noFill/>
          <a:ln>
            <a:noFill/>
          </a:ln>
        </p:spPr>
      </p:pic>
    </p:spTree>
  </p:cSld>
  <p:clrMapOvr>
    <a:masterClrMapping/>
  </p:clrMapOvr>
  <p:extLst>
    <p:ext uri="{DCECCB84-F9BA-43D5-87BE-67443E8EF086}">
      <p15:sldGuideLst xmlns:p15="http://schemas.microsoft.com/office/powerpoint/2012/main">
        <p15:guide id="1" pos="211">
          <p15:clr>
            <a:srgbClr val="5ACBF0"/>
          </p15:clr>
        </p15:guide>
        <p15:guide id="2" orient="horz" pos="686">
          <p15:clr>
            <a:srgbClr val="5ACBF0"/>
          </p15:clr>
        </p15:guide>
        <p15:guide id="3" orient="horz" pos="1049">
          <p15:clr>
            <a:srgbClr val="5ACBF0"/>
          </p15:clr>
        </p15:guide>
        <p15:guide id="4" orient="horz" pos="1321">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8"/>
        <p:cNvGrpSpPr/>
        <p:nvPr/>
      </p:nvGrpSpPr>
      <p:grpSpPr>
        <a:xfrm>
          <a:off x="0" y="0"/>
          <a:ext cx="0" cy="0"/>
          <a:chOff x="0" y="0"/>
          <a:chExt cx="0" cy="0"/>
        </a:xfrm>
      </p:grpSpPr>
      <p:sp>
        <p:nvSpPr>
          <p:cNvPr id="29" name="Google Shape;29;p1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0" name="Google Shape;30;p1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1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2" name="Google Shape;32;p1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36" name="Google Shape;36;p10"/>
          <p:cNvPicPr preferRelativeResize="0"/>
          <p:nvPr/>
        </p:nvPicPr>
        <p:blipFill rotWithShape="1">
          <a:blip r:embed="rId2">
            <a:alphaModFix/>
          </a:blip>
          <a:srcRect/>
          <a:stretch/>
        </p:blipFill>
        <p:spPr>
          <a:xfrm>
            <a:off x="0" y="-4761"/>
            <a:ext cx="12192000" cy="6858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
        <p:cNvGrpSpPr/>
        <p:nvPr/>
      </p:nvGrpSpPr>
      <p:grpSpPr>
        <a:xfrm>
          <a:off x="0" y="0"/>
          <a:ext cx="0" cy="0"/>
          <a:chOff x="0" y="0"/>
          <a:chExt cx="0" cy="0"/>
        </a:xfrm>
      </p:grpSpPr>
      <p:sp>
        <p:nvSpPr>
          <p:cNvPr id="38" name="Google Shape;3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2"/>
        <p:cNvGrpSpPr/>
        <p:nvPr/>
      </p:nvGrpSpPr>
      <p:grpSpPr>
        <a:xfrm>
          <a:off x="0" y="0"/>
          <a:ext cx="0" cy="0"/>
          <a:chOff x="0" y="0"/>
          <a:chExt cx="0" cy="0"/>
        </a:xfrm>
      </p:grpSpPr>
      <p:sp>
        <p:nvSpPr>
          <p:cNvPr id="43" name="Google Shape;43;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6"/>
        <p:cNvGrpSpPr/>
        <p:nvPr/>
      </p:nvGrpSpPr>
      <p:grpSpPr>
        <a:xfrm>
          <a:off x="0" y="0"/>
          <a:ext cx="0" cy="0"/>
          <a:chOff x="0" y="0"/>
          <a:chExt cx="0" cy="0"/>
        </a:xfrm>
      </p:grpSpPr>
      <p:sp>
        <p:nvSpPr>
          <p:cNvPr id="47" name="Google Shape;47;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49" name="Google Shape;49;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0" name="Google Shape;5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3"/>
        <p:cNvGrpSpPr/>
        <p:nvPr/>
      </p:nvGrpSpPr>
      <p:grpSpPr>
        <a:xfrm>
          <a:off x="0" y="0"/>
          <a:ext cx="0" cy="0"/>
          <a:chOff x="0" y="0"/>
          <a:chExt cx="0" cy="0"/>
        </a:xfrm>
      </p:grpSpPr>
      <p:sp>
        <p:nvSpPr>
          <p:cNvPr id="54" name="Google Shape;5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5"/>
          <p:cNvSpPr>
            <a:spLocks noGrp="1"/>
          </p:cNvSpPr>
          <p:nvPr>
            <p:ph type="pic" idx="2"/>
          </p:nvPr>
        </p:nvSpPr>
        <p:spPr>
          <a:xfrm>
            <a:off x="5183188" y="987425"/>
            <a:ext cx="6172200" cy="4873625"/>
          </a:xfrm>
          <a:prstGeom prst="rect">
            <a:avLst/>
          </a:prstGeom>
          <a:noFill/>
          <a:ln>
            <a:noFill/>
          </a:ln>
        </p:spPr>
      </p:sp>
      <p:sp>
        <p:nvSpPr>
          <p:cNvPr id="56" name="Google Shape;5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7" name="Google Shape;5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0"/>
        <p:cNvGrpSpPr/>
        <p:nvPr/>
      </p:nvGrpSpPr>
      <p:grpSpPr>
        <a:xfrm>
          <a:off x="0" y="0"/>
          <a:ext cx="0" cy="0"/>
          <a:chOff x="0" y="0"/>
          <a:chExt cx="0" cy="0"/>
        </a:xfrm>
      </p:grpSpPr>
      <p:sp>
        <p:nvSpPr>
          <p:cNvPr id="61" name="Google Shape;61;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6"/>
          <p:cNvSpPr txBox="1"/>
          <p:nvPr/>
        </p:nvSpPr>
        <p:spPr>
          <a:xfrm>
            <a:off x="5480050" y="63500"/>
            <a:ext cx="1254125" cy="1219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0" u="none" strike="noStrike" cap="none">
                <a:solidFill>
                  <a:srgbClr val="000000"/>
                </a:solidFill>
                <a:latin typeface="Calibri"/>
                <a:ea typeface="Calibri"/>
                <a:cs typeface="Calibri"/>
                <a:sym typeface="Calibri"/>
              </a:rPr>
              <a:t>SMU Classification: Restricted</a:t>
            </a:r>
            <a:endParaRPr sz="1400" b="0" i="0" u="none" strike="noStrike" cap="none">
              <a:solidFill>
                <a:srgbClr val="000000"/>
              </a:solidFill>
              <a:latin typeface="Arial"/>
              <a:ea typeface="Arial"/>
              <a:cs typeface="Arial"/>
              <a:sym typeface="Arial"/>
            </a:endParaRPr>
          </a:p>
        </p:txBody>
      </p:sp>
      <p:sp>
        <p:nvSpPr>
          <p:cNvPr id="16" name="Google Shape;16;p6"/>
          <p:cNvSpPr txBox="1"/>
          <p:nvPr/>
        </p:nvSpPr>
        <p:spPr>
          <a:xfrm>
            <a:off x="5480050" y="63500"/>
            <a:ext cx="1254125" cy="1219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800" b="0" i="0" u="none" strike="noStrike" cap="none">
                <a:solidFill>
                  <a:srgbClr val="000000"/>
                </a:solidFill>
                <a:latin typeface="Calibri"/>
                <a:ea typeface="Calibri"/>
                <a:cs typeface="Calibri"/>
                <a:sym typeface="Calibri"/>
              </a:rPr>
              <a:t>SMU Classification: Restricted</a:t>
            </a:r>
            <a:endParaRPr/>
          </a:p>
        </p:txBody>
      </p:sp>
      <p:sp>
        <p:nvSpPr>
          <p:cNvPr id="3" name="TextBox 2">
            <a:extLst>
              <a:ext uri="{FF2B5EF4-FFF2-40B4-BE49-F238E27FC236}">
                <a16:creationId xmlns:a16="http://schemas.microsoft.com/office/drawing/2014/main" id="{1A2D8DFC-92C5-6418-60AD-062D196B8F43}"/>
              </a:ext>
            </a:extLst>
          </p:cNvPr>
          <p:cNvSpPr txBox="1"/>
          <p:nvPr userDrawn="1">
            <p:extLst>
              <p:ext uri="{1162E1C5-73C7-4A58-AE30-91384D911F3F}">
                <p184:classification xmlns:p184="http://schemas.microsoft.com/office/powerpoint/2018/4/main" val="hdr"/>
              </p:ext>
            </p:extLst>
          </p:nvPr>
        </p:nvSpPr>
        <p:spPr>
          <a:xfrm>
            <a:off x="5428425" y="63500"/>
            <a:ext cx="1355725"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SMU Classification: Restricted</a:t>
            </a: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mongodb.com/json-and-bson"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www.mongodb.com/products/platform/atlas-database" TargetMode="Externa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
          <p:cNvSpPr/>
          <p:nvPr/>
        </p:nvSpPr>
        <p:spPr>
          <a:xfrm>
            <a:off x="319075" y="2259075"/>
            <a:ext cx="11516700" cy="1253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ctr" rtl="0">
              <a:lnSpc>
                <a:spcPct val="90000"/>
              </a:lnSpc>
              <a:spcBef>
                <a:spcPts val="0"/>
              </a:spcBef>
              <a:spcAft>
                <a:spcPts val="0"/>
              </a:spcAft>
              <a:buClr>
                <a:srgbClr val="000000"/>
              </a:buClr>
              <a:buSzPts val="4200"/>
              <a:buFont typeface="Arial"/>
              <a:buNone/>
            </a:pPr>
            <a:r>
              <a:rPr lang="en-US" sz="4200" b="1" i="0" u="none" strike="noStrike" cap="none">
                <a:solidFill>
                  <a:srgbClr val="11175E"/>
                </a:solidFill>
                <a:latin typeface="Arial"/>
                <a:ea typeface="Arial"/>
                <a:cs typeface="Arial"/>
                <a:sym typeface="Arial"/>
              </a:rPr>
              <a:t>IS113</a:t>
            </a:r>
            <a:endParaRPr sz="4200" b="1" i="0" u="none" strike="noStrike" cap="none">
              <a:solidFill>
                <a:srgbClr val="11175E"/>
              </a:solidFill>
              <a:latin typeface="Arial"/>
              <a:ea typeface="Arial"/>
              <a:cs typeface="Arial"/>
              <a:sym typeface="Arial"/>
            </a:endParaRPr>
          </a:p>
          <a:p>
            <a:pPr marL="0" marR="0" lvl="0" indent="0" algn="ctr" rtl="0">
              <a:lnSpc>
                <a:spcPct val="90000"/>
              </a:lnSpc>
              <a:spcBef>
                <a:spcPts val="0"/>
              </a:spcBef>
              <a:spcAft>
                <a:spcPts val="0"/>
              </a:spcAft>
              <a:buClr>
                <a:srgbClr val="000000"/>
              </a:buClr>
              <a:buSzPts val="4200"/>
              <a:buFont typeface="Arial"/>
              <a:buNone/>
            </a:pPr>
            <a:r>
              <a:rPr lang="en-US" sz="4200" b="1" i="0" u="none" strike="noStrike" cap="none">
                <a:solidFill>
                  <a:srgbClr val="11175E"/>
                </a:solidFill>
                <a:latin typeface="Arial"/>
                <a:ea typeface="Arial"/>
                <a:cs typeface="Arial"/>
                <a:sym typeface="Arial"/>
              </a:rPr>
              <a:t>Web Application Development I</a:t>
            </a:r>
            <a:endParaRPr sz="4200" b="1" i="0" u="none" strike="noStrike" cap="none">
              <a:solidFill>
                <a:srgbClr val="11175E"/>
              </a:solidFill>
              <a:latin typeface="Arial"/>
              <a:ea typeface="Arial"/>
              <a:cs typeface="Arial"/>
              <a:sym typeface="Arial"/>
            </a:endParaRPr>
          </a:p>
        </p:txBody>
      </p:sp>
      <p:sp>
        <p:nvSpPr>
          <p:cNvPr id="71" name="Google Shape;71;p1"/>
          <p:cNvSpPr txBox="1"/>
          <p:nvPr/>
        </p:nvSpPr>
        <p:spPr>
          <a:xfrm>
            <a:off x="369450" y="4119775"/>
            <a:ext cx="11453100" cy="1715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Week 10</a:t>
            </a:r>
            <a:endParaRPr sz="28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endParaRPr sz="28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000000"/>
                </a:solidFill>
                <a:latin typeface="Arial"/>
                <a:ea typeface="Arial"/>
                <a:cs typeface="Arial"/>
                <a:sym typeface="Arial"/>
              </a:rPr>
              <a:t>Database Interactions - Mongo DB using Atlas database</a:t>
            </a:r>
            <a:endParaRPr sz="22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g36a222053df_0_29"/>
          <p:cNvSpPr/>
          <p:nvPr/>
        </p:nvSpPr>
        <p:spPr>
          <a:xfrm>
            <a:off x="24188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Introduction to MongoDB</a:t>
            </a:r>
            <a:endParaRPr sz="2400" b="1" i="0" u="none" strike="noStrike" cap="none">
              <a:solidFill>
                <a:srgbClr val="11175E"/>
              </a:solidFill>
              <a:latin typeface="Arial"/>
              <a:ea typeface="Arial"/>
              <a:cs typeface="Arial"/>
              <a:sym typeface="Arial"/>
            </a:endParaRPr>
          </a:p>
        </p:txBody>
      </p:sp>
      <p:pic>
        <p:nvPicPr>
          <p:cNvPr id="77" name="Google Shape;77;g36a222053df_0_29"/>
          <p:cNvPicPr preferRelativeResize="0"/>
          <p:nvPr/>
        </p:nvPicPr>
        <p:blipFill rotWithShape="1">
          <a:blip r:embed="rId3">
            <a:alphaModFix/>
          </a:blip>
          <a:srcRect/>
          <a:stretch/>
        </p:blipFill>
        <p:spPr>
          <a:xfrm>
            <a:off x="342802" y="4948079"/>
            <a:ext cx="4376155" cy="1396074"/>
          </a:xfrm>
          <a:prstGeom prst="rect">
            <a:avLst/>
          </a:prstGeom>
          <a:noFill/>
          <a:ln>
            <a:noFill/>
          </a:ln>
        </p:spPr>
      </p:pic>
      <p:sp>
        <p:nvSpPr>
          <p:cNvPr id="78" name="Google Shape;78;g36a222053df_0_29"/>
          <p:cNvSpPr txBox="1"/>
          <p:nvPr/>
        </p:nvSpPr>
        <p:spPr>
          <a:xfrm>
            <a:off x="5268256" y="5384505"/>
            <a:ext cx="2879151"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E.g. of a JSON document storing the information about a particular book.</a:t>
            </a:r>
            <a:endParaRPr sz="1400" b="0" i="0" u="none" strike="noStrike" cap="none">
              <a:solidFill>
                <a:srgbClr val="000000"/>
              </a:solidFill>
              <a:latin typeface="Arial"/>
              <a:ea typeface="Arial"/>
              <a:cs typeface="Arial"/>
              <a:sym typeface="Arial"/>
            </a:endParaRPr>
          </a:p>
        </p:txBody>
      </p:sp>
      <p:sp>
        <p:nvSpPr>
          <p:cNvPr id="79" name="Google Shape;79;g36a222053df_0_29"/>
          <p:cNvSpPr/>
          <p:nvPr/>
        </p:nvSpPr>
        <p:spPr>
          <a:xfrm rot="10800000">
            <a:off x="4739427" y="5470766"/>
            <a:ext cx="390418" cy="350700"/>
          </a:xfrm>
          <a:prstGeom prst="righ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80" name="Google Shape;80;g36a222053df_0_29"/>
          <p:cNvSpPr txBox="1"/>
          <p:nvPr/>
        </p:nvSpPr>
        <p:spPr>
          <a:xfrm>
            <a:off x="250086" y="1304030"/>
            <a:ext cx="11454234" cy="3492495"/>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300" b="1" i="0" u="none" strike="noStrike" cap="none">
                <a:solidFill>
                  <a:srgbClr val="000000"/>
                </a:solidFill>
                <a:latin typeface="Arial"/>
                <a:ea typeface="Arial"/>
                <a:cs typeface="Arial"/>
                <a:sym typeface="Arial"/>
              </a:rPr>
              <a:t>What is it?</a:t>
            </a:r>
            <a:endParaRPr/>
          </a:p>
          <a:p>
            <a:pPr marL="0" marR="0" lvl="0" indent="0" algn="l" rtl="0">
              <a:lnSpc>
                <a:spcPct val="115000"/>
              </a:lnSpc>
              <a:spcBef>
                <a:spcPts val="1200"/>
              </a:spcBef>
              <a:spcAft>
                <a:spcPts val="0"/>
              </a:spcAft>
              <a:buNone/>
            </a:pPr>
            <a:r>
              <a:rPr lang="en-US" sz="1400" b="0" i="0" u="none" strike="noStrike" cap="none">
                <a:solidFill>
                  <a:srgbClr val="000000"/>
                </a:solidFill>
                <a:latin typeface="Arial"/>
                <a:ea typeface="Arial"/>
                <a:cs typeface="Arial"/>
                <a:sym typeface="Arial"/>
              </a:rPr>
              <a:t>MongoDB is </a:t>
            </a:r>
            <a:r>
              <a:rPr lang="en-US" sz="1400" b="1" i="0" u="none" strike="noStrike" cap="none">
                <a:solidFill>
                  <a:srgbClr val="000000"/>
                </a:solidFill>
                <a:latin typeface="Arial"/>
                <a:ea typeface="Arial"/>
                <a:cs typeface="Arial"/>
                <a:sym typeface="Arial"/>
              </a:rPr>
              <a:t>a document database </a:t>
            </a:r>
            <a:r>
              <a:rPr lang="en-US" sz="1400" b="0" i="0" u="none" strike="noStrike" cap="none">
                <a:solidFill>
                  <a:srgbClr val="000000"/>
                </a:solidFill>
                <a:latin typeface="Arial"/>
                <a:ea typeface="Arial"/>
                <a:cs typeface="Arial"/>
                <a:sym typeface="Arial"/>
              </a:rPr>
              <a:t>(also known as a document-oriented database or a document store) is a database that stores information in documents.</a:t>
            </a:r>
            <a:endParaRPr/>
          </a:p>
          <a:p>
            <a:pPr marL="0" marR="0" lvl="0" indent="0" algn="l" rtl="0">
              <a:lnSpc>
                <a:spcPct val="115000"/>
              </a:lnSpc>
              <a:spcBef>
                <a:spcPts val="1200"/>
              </a:spcBef>
              <a:spcAft>
                <a:spcPts val="0"/>
              </a:spcAft>
              <a:buNone/>
            </a:pPr>
            <a:r>
              <a:rPr lang="en-US" sz="1400" b="0" i="0" u="none" strike="noStrike" cap="none">
                <a:solidFill>
                  <a:srgbClr val="000000"/>
                </a:solidFill>
                <a:latin typeface="Arial"/>
                <a:ea typeface="Arial"/>
                <a:cs typeface="Arial"/>
                <a:sym typeface="Arial"/>
              </a:rPr>
              <a:t>Document databases are considered to be non-relational (or NoSQL) databases. Instead of storing data in fixed rows and columns, document databases use flexible documents. Document databases are the most popular alternative to tabular, relational databases.</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1" u="none" strike="noStrike" cap="none">
                <a:solidFill>
                  <a:srgbClr val="000000"/>
                </a:solidFill>
                <a:latin typeface="Arial"/>
                <a:ea typeface="Arial"/>
                <a:cs typeface="Arial"/>
                <a:sym typeface="Arial"/>
              </a:rPr>
              <a:t>What is a document?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 document is a</a:t>
            </a:r>
            <a:r>
              <a:rPr lang="en-US" sz="1400" b="1" i="0" u="none" strike="noStrike" cap="none">
                <a:solidFill>
                  <a:srgbClr val="000000"/>
                </a:solidFill>
                <a:latin typeface="Arial"/>
                <a:ea typeface="Arial"/>
                <a:cs typeface="Arial"/>
                <a:sym typeface="Arial"/>
              </a:rPr>
              <a:t> record </a:t>
            </a:r>
            <a:r>
              <a:rPr lang="en-US" sz="1400" b="0" i="0" u="none" strike="noStrike" cap="none">
                <a:solidFill>
                  <a:srgbClr val="000000"/>
                </a:solidFill>
                <a:latin typeface="Arial"/>
                <a:ea typeface="Arial"/>
                <a:cs typeface="Arial"/>
                <a:sym typeface="Arial"/>
              </a:rPr>
              <a:t>in a document database. A document typically stores information about one object and any of its related metadata. Documents store data in field-value pairs. The values can be a variety of types and structures, including strings, numbers, dates, arrays, or objects. Documents can be stored in formats like JSON, </a:t>
            </a:r>
            <a:r>
              <a:rPr lang="en-US" sz="1400" b="0" i="0" u="sng" strike="noStrike" cap="none">
                <a:solidFill>
                  <a:srgbClr val="000000"/>
                </a:solidFill>
                <a:latin typeface="Arial"/>
                <a:ea typeface="Arial"/>
                <a:cs typeface="Arial"/>
                <a:sym typeface="Arial"/>
                <a:hlinkClick r:id="rId4">
                  <a:extLst>
                    <a:ext uri="{A12FA001-AC4F-418D-AE19-62706E023703}">
                      <ahyp:hlinkClr xmlns:ahyp="http://schemas.microsoft.com/office/drawing/2018/hyperlinkcolor" val="tx"/>
                    </a:ext>
                  </a:extLst>
                </a:hlinkClick>
              </a:rPr>
              <a:t>BSON</a:t>
            </a:r>
            <a:r>
              <a:rPr lang="en-US" sz="1400" b="0" i="0" u="none" strike="noStrike" cap="none">
                <a:solidFill>
                  <a:srgbClr val="000000"/>
                </a:solidFill>
                <a:latin typeface="Arial"/>
                <a:ea typeface="Arial"/>
                <a:cs typeface="Arial"/>
                <a:sym typeface="Arial"/>
              </a:rPr>
              <a:t>, and XML.</a:t>
            </a:r>
            <a:endParaRPr/>
          </a:p>
          <a:p>
            <a:pPr marL="0" marR="0" lvl="0" indent="0" algn="l" rtl="0">
              <a:lnSpc>
                <a:spcPct val="115000"/>
              </a:lnSpc>
              <a:spcBef>
                <a:spcPts val="120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2"/>
          <p:cNvSpPr/>
          <p:nvPr/>
        </p:nvSpPr>
        <p:spPr>
          <a:xfrm>
            <a:off x="24188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Introduction to MongoDB</a:t>
            </a:r>
            <a:endParaRPr sz="2400" b="1" i="0" u="none" strike="noStrike" cap="none">
              <a:solidFill>
                <a:srgbClr val="11175E"/>
              </a:solidFill>
              <a:latin typeface="Arial"/>
              <a:ea typeface="Arial"/>
              <a:cs typeface="Arial"/>
              <a:sym typeface="Arial"/>
            </a:endParaRPr>
          </a:p>
        </p:txBody>
      </p:sp>
      <p:pic>
        <p:nvPicPr>
          <p:cNvPr id="86" name="Google Shape;86;p2"/>
          <p:cNvPicPr preferRelativeResize="0"/>
          <p:nvPr/>
        </p:nvPicPr>
        <p:blipFill rotWithShape="1">
          <a:blip r:embed="rId3">
            <a:alphaModFix/>
          </a:blip>
          <a:srcRect/>
          <a:stretch/>
        </p:blipFill>
        <p:spPr>
          <a:xfrm>
            <a:off x="400081" y="3429000"/>
            <a:ext cx="4376155" cy="1396074"/>
          </a:xfrm>
          <a:prstGeom prst="rect">
            <a:avLst/>
          </a:prstGeom>
          <a:noFill/>
          <a:ln>
            <a:noFill/>
          </a:ln>
        </p:spPr>
      </p:pic>
      <p:sp>
        <p:nvSpPr>
          <p:cNvPr id="87" name="Google Shape;87;p2"/>
          <p:cNvSpPr txBox="1"/>
          <p:nvPr/>
        </p:nvSpPr>
        <p:spPr>
          <a:xfrm>
            <a:off x="5298267" y="3681912"/>
            <a:ext cx="4068566" cy="7386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This document can be a in a collection call books where it can store many other documents of books.</a:t>
            </a:r>
            <a:endParaRPr sz="1400" b="0" i="0" u="none" strike="noStrike" cap="none">
              <a:solidFill>
                <a:srgbClr val="000000"/>
              </a:solidFill>
              <a:latin typeface="Arial"/>
              <a:ea typeface="Arial"/>
              <a:cs typeface="Arial"/>
              <a:sym typeface="Arial"/>
            </a:endParaRPr>
          </a:p>
        </p:txBody>
      </p:sp>
      <p:pic>
        <p:nvPicPr>
          <p:cNvPr id="88" name="Google Shape;88;p2"/>
          <p:cNvPicPr preferRelativeResize="0"/>
          <p:nvPr/>
        </p:nvPicPr>
        <p:blipFill rotWithShape="1">
          <a:blip r:embed="rId4">
            <a:alphaModFix/>
          </a:blip>
          <a:srcRect/>
          <a:stretch/>
        </p:blipFill>
        <p:spPr>
          <a:xfrm>
            <a:off x="2007256" y="4673488"/>
            <a:ext cx="5578900" cy="1239756"/>
          </a:xfrm>
          <a:prstGeom prst="rect">
            <a:avLst/>
          </a:prstGeom>
          <a:noFill/>
          <a:ln>
            <a:noFill/>
          </a:ln>
        </p:spPr>
      </p:pic>
      <p:sp>
        <p:nvSpPr>
          <p:cNvPr id="89" name="Google Shape;89;p2"/>
          <p:cNvSpPr/>
          <p:nvPr/>
        </p:nvSpPr>
        <p:spPr>
          <a:xfrm>
            <a:off x="728536" y="6161485"/>
            <a:ext cx="1859622" cy="631394"/>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0" i="0" u="none" strike="noStrike" cap="none">
                <a:solidFill>
                  <a:schemeClr val="lt1"/>
                </a:solidFill>
                <a:latin typeface="Arial"/>
                <a:ea typeface="Arial"/>
                <a:cs typeface="Arial"/>
                <a:sym typeface="Arial"/>
              </a:rPr>
              <a:t>A Collection of Books</a:t>
            </a:r>
            <a:endParaRPr sz="1400" b="0" i="0" u="none" strike="noStrike" cap="none">
              <a:solidFill>
                <a:schemeClr val="lt1"/>
              </a:solidFill>
              <a:latin typeface="Arial"/>
              <a:ea typeface="Arial"/>
              <a:cs typeface="Arial"/>
              <a:sym typeface="Arial"/>
            </a:endParaRPr>
          </a:p>
        </p:txBody>
      </p:sp>
      <p:cxnSp>
        <p:nvCxnSpPr>
          <p:cNvPr id="90" name="Google Shape;90;p2"/>
          <p:cNvCxnSpPr>
            <a:stCxn id="89" idx="0"/>
          </p:cNvCxnSpPr>
          <p:nvPr/>
        </p:nvCxnSpPr>
        <p:spPr>
          <a:xfrm rot="10800000">
            <a:off x="1294447" y="4921285"/>
            <a:ext cx="363900" cy="1240200"/>
          </a:xfrm>
          <a:prstGeom prst="straightConnector1">
            <a:avLst/>
          </a:prstGeom>
          <a:noFill/>
          <a:ln w="19050" cap="flat" cmpd="sng">
            <a:solidFill>
              <a:srgbClr val="EB792A"/>
            </a:solidFill>
            <a:prstDash val="solid"/>
            <a:round/>
            <a:headEnd type="none" w="sm" len="sm"/>
            <a:tailEnd type="triangle" w="med" len="med"/>
          </a:ln>
        </p:spPr>
      </p:cxnSp>
      <p:cxnSp>
        <p:nvCxnSpPr>
          <p:cNvPr id="91" name="Google Shape;91;p2"/>
          <p:cNvCxnSpPr>
            <a:stCxn id="89" idx="3"/>
          </p:cNvCxnSpPr>
          <p:nvPr/>
        </p:nvCxnSpPr>
        <p:spPr>
          <a:xfrm rot="10800000" flipH="1">
            <a:off x="2588158" y="5983682"/>
            <a:ext cx="566100" cy="493500"/>
          </a:xfrm>
          <a:prstGeom prst="straightConnector1">
            <a:avLst/>
          </a:prstGeom>
          <a:noFill/>
          <a:ln w="19050" cap="flat" cmpd="sng">
            <a:solidFill>
              <a:srgbClr val="EB792A"/>
            </a:solidFill>
            <a:prstDash val="solid"/>
            <a:round/>
            <a:headEnd type="none" w="sm" len="sm"/>
            <a:tailEnd type="triangle" w="med" len="med"/>
          </a:ln>
        </p:spPr>
      </p:cxnSp>
      <p:sp>
        <p:nvSpPr>
          <p:cNvPr id="92" name="Google Shape;92;p2"/>
          <p:cNvSpPr/>
          <p:nvPr/>
        </p:nvSpPr>
        <p:spPr>
          <a:xfrm rot="10800000">
            <a:off x="4842043" y="3875894"/>
            <a:ext cx="390418" cy="350700"/>
          </a:xfrm>
          <a:prstGeom prst="rightArrow">
            <a:avLst>
              <a:gd name="adj1" fmla="val 50000"/>
              <a:gd name="adj2" fmla="val 50000"/>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93" name="Google Shape;93;p2"/>
          <p:cNvSpPr txBox="1"/>
          <p:nvPr/>
        </p:nvSpPr>
        <p:spPr>
          <a:xfrm>
            <a:off x="8803758" y="2970028"/>
            <a:ext cx="9144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94" name="Google Shape;94;p2"/>
          <p:cNvSpPr txBox="1"/>
          <p:nvPr/>
        </p:nvSpPr>
        <p:spPr>
          <a:xfrm>
            <a:off x="251633" y="1309198"/>
            <a:ext cx="11662351" cy="1798185"/>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2300" b="1" i="0" u="none" strike="noStrike" cap="none">
                <a:solidFill>
                  <a:srgbClr val="000000"/>
                </a:solidFill>
                <a:latin typeface="Arial"/>
                <a:ea typeface="Arial"/>
                <a:cs typeface="Arial"/>
                <a:sym typeface="Arial"/>
              </a:rPr>
              <a:t>What is it?</a:t>
            </a:r>
            <a:endParaRPr/>
          </a:p>
          <a:p>
            <a:pPr marL="0" marR="0" lvl="0" indent="0" algn="l" rtl="0">
              <a:lnSpc>
                <a:spcPct val="115000"/>
              </a:lnSpc>
              <a:spcBef>
                <a:spcPts val="1200"/>
              </a:spcBef>
              <a:spcAft>
                <a:spcPts val="0"/>
              </a:spcAft>
              <a:buNone/>
            </a:pPr>
            <a:r>
              <a:rPr lang="en-US" sz="1600" b="1" i="1" u="none" strike="noStrike" cap="none">
                <a:solidFill>
                  <a:srgbClr val="000000"/>
                </a:solidFill>
                <a:latin typeface="Arial"/>
                <a:ea typeface="Arial"/>
                <a:cs typeface="Arial"/>
                <a:sym typeface="Arial"/>
              </a:rPr>
              <a:t>What is a collection</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 collection is a </a:t>
            </a:r>
            <a:r>
              <a:rPr lang="en-US" sz="1400" b="1" i="0" u="none" strike="noStrike" cap="none">
                <a:solidFill>
                  <a:srgbClr val="000000"/>
                </a:solidFill>
                <a:latin typeface="Arial"/>
                <a:ea typeface="Arial"/>
                <a:cs typeface="Arial"/>
                <a:sym typeface="Arial"/>
              </a:rPr>
              <a:t>group</a:t>
            </a:r>
            <a:r>
              <a:rPr lang="en-US" sz="1400" b="0" i="0" u="none" strike="noStrike" cap="none">
                <a:solidFill>
                  <a:srgbClr val="000000"/>
                </a:solidFill>
                <a:latin typeface="Arial"/>
                <a:ea typeface="Arial"/>
                <a:cs typeface="Arial"/>
                <a:sym typeface="Arial"/>
              </a:rPr>
              <a:t> of documents. Collections typically store documents that have </a:t>
            </a:r>
            <a:r>
              <a:rPr lang="en-US" sz="1400" b="1" i="0" u="none" strike="noStrike" cap="none">
                <a:solidFill>
                  <a:srgbClr val="000000"/>
                </a:solidFill>
                <a:latin typeface="Arial"/>
                <a:ea typeface="Arial"/>
                <a:cs typeface="Arial"/>
                <a:sym typeface="Arial"/>
              </a:rPr>
              <a:t>similar contents</a:t>
            </a:r>
            <a:r>
              <a:rPr lang="en-US" sz="1400" b="0" i="0" u="none" strike="noStrike" cap="none">
                <a:solidFill>
                  <a:srgbClr val="000000"/>
                </a:solidFill>
                <a:latin typeface="Arial"/>
                <a:ea typeface="Arial"/>
                <a:cs typeface="Arial"/>
                <a:sym typeface="Arial"/>
              </a:rPr>
              <a:t>.</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Not all documents in a collection are required to have the same fields, because document databases have flexible schemas. Note that some document databases provide schema validation, so the schema can optionally be locked down when needed.</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g36a222053df_0_34"/>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Cloud MongoDB</a:t>
            </a:r>
            <a:endParaRPr sz="2400" b="1" i="0" u="none" strike="noStrike" cap="none">
              <a:solidFill>
                <a:srgbClr val="11175E"/>
              </a:solidFill>
              <a:latin typeface="Arial"/>
              <a:ea typeface="Arial"/>
              <a:cs typeface="Arial"/>
              <a:sym typeface="Arial"/>
            </a:endParaRPr>
          </a:p>
        </p:txBody>
      </p:sp>
      <p:pic>
        <p:nvPicPr>
          <p:cNvPr id="100" name="Google Shape;100;g36a222053df_0_34"/>
          <p:cNvPicPr preferRelativeResize="0"/>
          <p:nvPr/>
        </p:nvPicPr>
        <p:blipFill rotWithShape="1">
          <a:blip r:embed="rId3">
            <a:alphaModFix/>
          </a:blip>
          <a:srcRect/>
          <a:stretch/>
        </p:blipFill>
        <p:spPr>
          <a:xfrm>
            <a:off x="324601" y="2383667"/>
            <a:ext cx="7317149" cy="3993801"/>
          </a:xfrm>
          <a:prstGeom prst="rect">
            <a:avLst/>
          </a:prstGeom>
          <a:noFill/>
          <a:ln>
            <a:noFill/>
          </a:ln>
        </p:spPr>
      </p:pic>
      <p:sp>
        <p:nvSpPr>
          <p:cNvPr id="101" name="Google Shape;101;g36a222053df_0_34"/>
          <p:cNvSpPr txBox="1"/>
          <p:nvPr/>
        </p:nvSpPr>
        <p:spPr>
          <a:xfrm>
            <a:off x="7891979" y="2219634"/>
            <a:ext cx="3975419" cy="4454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We will be using the cloud version of MongoDB. Go to the link provided. </a:t>
            </a:r>
            <a:endParaRPr dirty="0"/>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Click on </a:t>
            </a:r>
            <a:r>
              <a:rPr lang="en-US" sz="1800" b="1" i="0" u="none" strike="noStrike" cap="none" dirty="0">
                <a:solidFill>
                  <a:schemeClr val="dk1"/>
                </a:solidFill>
                <a:latin typeface="Arial"/>
                <a:ea typeface="Arial"/>
                <a:cs typeface="Arial"/>
                <a:sym typeface="Arial"/>
              </a:rPr>
              <a:t>Get Started</a:t>
            </a:r>
            <a:r>
              <a:rPr lang="en-US" sz="1800" b="0" i="0" u="none" strike="noStrike" cap="none" dirty="0">
                <a:solidFill>
                  <a:schemeClr val="dk1"/>
                </a:solidFill>
                <a:latin typeface="Arial"/>
                <a:ea typeface="Arial"/>
                <a:cs typeface="Arial"/>
                <a:sym typeface="Arial"/>
              </a:rPr>
              <a:t>.</a:t>
            </a:r>
            <a:endParaRPr sz="1800" b="0" i="0" u="none" strike="noStrike" cap="none" dirty="0">
              <a:solidFill>
                <a:schemeClr val="dk1"/>
              </a:solidFill>
              <a:latin typeface="Arial"/>
              <a:ea typeface="Arial"/>
              <a:cs typeface="Arial"/>
              <a:sym typeface="Arial"/>
            </a:endParaRPr>
          </a:p>
        </p:txBody>
      </p:sp>
      <p:grpSp>
        <p:nvGrpSpPr>
          <p:cNvPr id="102" name="Google Shape;102;g36a222053df_0_34"/>
          <p:cNvGrpSpPr/>
          <p:nvPr/>
        </p:nvGrpSpPr>
        <p:grpSpPr>
          <a:xfrm>
            <a:off x="8005875" y="1536192"/>
            <a:ext cx="3897950" cy="5146200"/>
            <a:chOff x="8005875" y="1536192"/>
            <a:chExt cx="3897950" cy="5146200"/>
          </a:xfrm>
        </p:grpSpPr>
        <p:sp>
          <p:nvSpPr>
            <p:cNvPr id="103" name="Google Shape;103;g36a222053df_0_34"/>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04" name="Google Shape;104;g36a222053df_0_34"/>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05" name="Google Shape;105;g36a222053df_0_34"/>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106" name="Google Shape;106;g36a222053df_0_34" descr="Pencil with solid fill"/>
            <p:cNvPicPr preferRelativeResize="0"/>
            <p:nvPr/>
          </p:nvPicPr>
          <p:blipFill rotWithShape="1">
            <a:blip r:embed="rId4">
              <a:alphaModFix/>
            </a:blip>
            <a:srcRect/>
            <a:stretch/>
          </p:blipFill>
          <p:spPr>
            <a:xfrm>
              <a:off x="8089175" y="1625313"/>
              <a:ext cx="432086" cy="432086"/>
            </a:xfrm>
            <a:prstGeom prst="rect">
              <a:avLst/>
            </a:prstGeom>
            <a:noFill/>
            <a:ln>
              <a:noFill/>
            </a:ln>
          </p:spPr>
        </p:pic>
      </p:grpSp>
      <p:sp>
        <p:nvSpPr>
          <p:cNvPr id="107" name="Google Shape;107;g36a222053df_0_34"/>
          <p:cNvSpPr txBox="1"/>
          <p:nvPr/>
        </p:nvSpPr>
        <p:spPr>
          <a:xfrm>
            <a:off x="251633" y="1356904"/>
            <a:ext cx="11662351" cy="9079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Sign UP</a:t>
            </a:r>
            <a:br>
              <a:rPr lang="en-US" sz="2000" b="1" i="0" u="none" strike="noStrike" cap="none">
                <a:solidFill>
                  <a:srgbClr val="000000"/>
                </a:solidFill>
                <a:latin typeface="Arial"/>
                <a:ea typeface="Arial"/>
                <a:cs typeface="Arial"/>
                <a:sym typeface="Arial"/>
              </a:rPr>
            </a:br>
            <a:r>
              <a:rPr lang="en-US" sz="1600" b="0" i="0" u="sng" strike="noStrike" cap="none">
                <a:solidFill>
                  <a:schemeClr val="hlink"/>
                </a:solidFill>
                <a:latin typeface="Arial"/>
                <a:ea typeface="Arial"/>
                <a:cs typeface="Arial"/>
                <a:sym typeface="Arial"/>
                <a:hlinkClick r:id="rId5"/>
              </a:rPr>
              <a:t>https://www.mongodb.com/products/platform/atlas-database</a:t>
            </a:r>
            <a:endParaRPr sz="16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g36e7437085d_0_10"/>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Cloud MongoDB</a:t>
            </a:r>
            <a:endParaRPr sz="2400" b="1" i="0" u="none" strike="noStrike" cap="none">
              <a:solidFill>
                <a:srgbClr val="11175E"/>
              </a:solidFill>
              <a:latin typeface="Arial"/>
              <a:ea typeface="Arial"/>
              <a:cs typeface="Arial"/>
              <a:sym typeface="Arial"/>
            </a:endParaRPr>
          </a:p>
        </p:txBody>
      </p:sp>
      <p:sp>
        <p:nvSpPr>
          <p:cNvPr id="113" name="Google Shape;113;g36e7437085d_0_10"/>
          <p:cNvSpPr txBox="1"/>
          <p:nvPr/>
        </p:nvSpPr>
        <p:spPr>
          <a:xfrm>
            <a:off x="7896147" y="2222926"/>
            <a:ext cx="3943820" cy="4454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Create your own Altas Account or you can use your SMU google account.</a:t>
            </a: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Check accept Privacy Policy and click </a:t>
            </a:r>
            <a:r>
              <a:rPr lang="en-US" sz="1800" b="1" i="0" u="none" strike="noStrike" cap="none" dirty="0">
                <a:solidFill>
                  <a:schemeClr val="dk1"/>
                </a:solidFill>
                <a:latin typeface="Arial"/>
                <a:ea typeface="Arial"/>
                <a:cs typeface="Arial"/>
                <a:sym typeface="Arial"/>
              </a:rPr>
              <a:t>Submit</a:t>
            </a:r>
            <a:endParaRPr sz="1800" b="1" i="0" u="none" strike="noStrike" cap="none" dirty="0">
              <a:solidFill>
                <a:schemeClr val="dk1"/>
              </a:solidFill>
              <a:latin typeface="Arial"/>
              <a:ea typeface="Arial"/>
              <a:cs typeface="Arial"/>
              <a:sym typeface="Arial"/>
            </a:endParaRPr>
          </a:p>
        </p:txBody>
      </p:sp>
      <p:pic>
        <p:nvPicPr>
          <p:cNvPr id="114" name="Google Shape;114;g36e7437085d_0_10"/>
          <p:cNvPicPr preferRelativeResize="0"/>
          <p:nvPr/>
        </p:nvPicPr>
        <p:blipFill rotWithShape="1">
          <a:blip r:embed="rId3">
            <a:alphaModFix/>
          </a:blip>
          <a:srcRect/>
          <a:stretch/>
        </p:blipFill>
        <p:spPr>
          <a:xfrm>
            <a:off x="397125" y="2634283"/>
            <a:ext cx="6703526" cy="2750150"/>
          </a:xfrm>
          <a:prstGeom prst="rect">
            <a:avLst/>
          </a:prstGeom>
          <a:noFill/>
          <a:ln>
            <a:noFill/>
          </a:ln>
        </p:spPr>
      </p:pic>
      <p:grpSp>
        <p:nvGrpSpPr>
          <p:cNvPr id="115" name="Google Shape;115;g36e7437085d_0_10"/>
          <p:cNvGrpSpPr/>
          <p:nvPr/>
        </p:nvGrpSpPr>
        <p:grpSpPr>
          <a:xfrm>
            <a:off x="8005875" y="1536192"/>
            <a:ext cx="3897950" cy="5146200"/>
            <a:chOff x="8005875" y="1536192"/>
            <a:chExt cx="3897950" cy="5146200"/>
          </a:xfrm>
        </p:grpSpPr>
        <p:sp>
          <p:nvSpPr>
            <p:cNvPr id="116" name="Google Shape;116;g36e7437085d_0_10"/>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17" name="Google Shape;117;g36e7437085d_0_10"/>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18" name="Google Shape;118;g36e7437085d_0_10"/>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119" name="Google Shape;119;g36e7437085d_0_10" descr="Pencil with solid fill"/>
            <p:cNvPicPr preferRelativeResize="0"/>
            <p:nvPr/>
          </p:nvPicPr>
          <p:blipFill rotWithShape="1">
            <a:blip r:embed="rId4">
              <a:alphaModFix/>
            </a:blip>
            <a:srcRect/>
            <a:stretch/>
          </p:blipFill>
          <p:spPr>
            <a:xfrm>
              <a:off x="8089175" y="1625313"/>
              <a:ext cx="432086" cy="432086"/>
            </a:xfrm>
            <a:prstGeom prst="rect">
              <a:avLst/>
            </a:prstGeom>
            <a:noFill/>
            <a:ln>
              <a:noFill/>
            </a:ln>
          </p:spPr>
        </p:pic>
      </p:grpSp>
      <p:sp>
        <p:nvSpPr>
          <p:cNvPr id="120" name="Google Shape;120;g36e7437085d_0_10"/>
          <p:cNvSpPr txBox="1"/>
          <p:nvPr/>
        </p:nvSpPr>
        <p:spPr>
          <a:xfrm>
            <a:off x="256371" y="1328956"/>
            <a:ext cx="4152884" cy="44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Accept Privacy Policy</a:t>
            </a:r>
            <a:endParaRPr sz="2300" b="1"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36e7437085d_0_18"/>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Cloud MongoDB</a:t>
            </a:r>
            <a:endParaRPr sz="2400" b="1" i="0" u="none" strike="noStrike" cap="none">
              <a:solidFill>
                <a:srgbClr val="11175E"/>
              </a:solidFill>
              <a:latin typeface="Arial"/>
              <a:ea typeface="Arial"/>
              <a:cs typeface="Arial"/>
              <a:sym typeface="Arial"/>
            </a:endParaRPr>
          </a:p>
        </p:txBody>
      </p:sp>
      <p:sp>
        <p:nvSpPr>
          <p:cNvPr id="126" name="Google Shape;126;g36e7437085d_0_18"/>
          <p:cNvSpPr txBox="1"/>
          <p:nvPr/>
        </p:nvSpPr>
        <p:spPr>
          <a:xfrm>
            <a:off x="7896147" y="2204638"/>
            <a:ext cx="3943115" cy="44547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a:solidFill>
                  <a:schemeClr val="dk1"/>
                </a:solidFill>
                <a:latin typeface="Arial"/>
                <a:ea typeface="Arial"/>
                <a:cs typeface="Arial"/>
                <a:sym typeface="Arial"/>
              </a:rPr>
              <a:t>Fill in your goals and preferences.</a:t>
            </a:r>
            <a:endParaRPr sz="1800" b="0" i="0" u="none" strike="noStrike" cap="none">
              <a:solidFill>
                <a:schemeClr val="dk1"/>
              </a:solidFill>
              <a:latin typeface="Arial"/>
              <a:ea typeface="Arial"/>
              <a:cs typeface="Arial"/>
              <a:sym typeface="Arial"/>
            </a:endParaRPr>
          </a:p>
        </p:txBody>
      </p:sp>
      <p:pic>
        <p:nvPicPr>
          <p:cNvPr id="127" name="Google Shape;127;g36e7437085d_0_18"/>
          <p:cNvPicPr preferRelativeResize="0"/>
          <p:nvPr/>
        </p:nvPicPr>
        <p:blipFill rotWithShape="1">
          <a:blip r:embed="rId3">
            <a:alphaModFix/>
          </a:blip>
          <a:srcRect/>
          <a:stretch/>
        </p:blipFill>
        <p:spPr>
          <a:xfrm>
            <a:off x="361882" y="2054716"/>
            <a:ext cx="5816974" cy="4249601"/>
          </a:xfrm>
          <a:prstGeom prst="rect">
            <a:avLst/>
          </a:prstGeom>
          <a:noFill/>
          <a:ln>
            <a:noFill/>
          </a:ln>
        </p:spPr>
      </p:pic>
      <p:grpSp>
        <p:nvGrpSpPr>
          <p:cNvPr id="128" name="Google Shape;128;g36e7437085d_0_18"/>
          <p:cNvGrpSpPr/>
          <p:nvPr/>
        </p:nvGrpSpPr>
        <p:grpSpPr>
          <a:xfrm>
            <a:off x="8005875" y="1536192"/>
            <a:ext cx="3897950" cy="5146200"/>
            <a:chOff x="8005875" y="1536192"/>
            <a:chExt cx="3897950" cy="5146200"/>
          </a:xfrm>
        </p:grpSpPr>
        <p:sp>
          <p:nvSpPr>
            <p:cNvPr id="129" name="Google Shape;129;g36e7437085d_0_18"/>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30" name="Google Shape;130;g36e7437085d_0_18"/>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31" name="Google Shape;131;g36e7437085d_0_18"/>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132" name="Google Shape;132;g36e7437085d_0_18" descr="Pencil with solid fill"/>
            <p:cNvPicPr preferRelativeResize="0"/>
            <p:nvPr/>
          </p:nvPicPr>
          <p:blipFill rotWithShape="1">
            <a:blip r:embed="rId4">
              <a:alphaModFix/>
            </a:blip>
            <a:srcRect/>
            <a:stretch/>
          </p:blipFill>
          <p:spPr>
            <a:xfrm>
              <a:off x="8089175" y="1625313"/>
              <a:ext cx="432086" cy="432086"/>
            </a:xfrm>
            <a:prstGeom prst="rect">
              <a:avLst/>
            </a:prstGeom>
            <a:noFill/>
            <a:ln>
              <a:noFill/>
            </a:ln>
          </p:spPr>
        </p:pic>
      </p:grpSp>
      <p:sp>
        <p:nvSpPr>
          <p:cNvPr id="133" name="Google Shape;133;g36e7437085d_0_18"/>
          <p:cNvSpPr txBox="1"/>
          <p:nvPr/>
        </p:nvSpPr>
        <p:spPr>
          <a:xfrm>
            <a:off x="256370" y="1328956"/>
            <a:ext cx="5922485" cy="44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Fill in your goals and preferences</a:t>
            </a:r>
            <a:endParaRPr sz="2300" b="1"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3"/>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Cloud MongoDB</a:t>
            </a:r>
            <a:endParaRPr sz="2400" b="1" i="0" u="none" strike="noStrike" cap="none">
              <a:solidFill>
                <a:srgbClr val="11175E"/>
              </a:solidFill>
              <a:latin typeface="Arial"/>
              <a:ea typeface="Arial"/>
              <a:cs typeface="Arial"/>
              <a:sym typeface="Arial"/>
            </a:endParaRPr>
          </a:p>
        </p:txBody>
      </p:sp>
      <p:sp>
        <p:nvSpPr>
          <p:cNvPr id="139" name="Google Shape;139;p3"/>
          <p:cNvSpPr txBox="1"/>
          <p:nvPr/>
        </p:nvSpPr>
        <p:spPr>
          <a:xfrm>
            <a:off x="7894633" y="2223078"/>
            <a:ext cx="3917901" cy="45768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Click on the </a:t>
            </a:r>
            <a:r>
              <a:rPr lang="en-US" sz="1800" b="1" i="0" u="none" strike="noStrike" cap="none" dirty="0">
                <a:solidFill>
                  <a:schemeClr val="dk1"/>
                </a:solidFill>
                <a:latin typeface="Arial"/>
                <a:ea typeface="Arial"/>
                <a:cs typeface="Arial"/>
                <a:sym typeface="Arial"/>
              </a:rPr>
              <a:t>Free</a:t>
            </a:r>
            <a:r>
              <a:rPr lang="en-US" sz="1800" b="0" i="0" u="none" strike="noStrike" cap="none" dirty="0">
                <a:solidFill>
                  <a:schemeClr val="dk1"/>
                </a:solidFill>
                <a:latin typeface="Arial"/>
                <a:ea typeface="Arial"/>
                <a:cs typeface="Arial"/>
                <a:sym typeface="Arial"/>
              </a:rPr>
              <a:t> Box and </a:t>
            </a:r>
            <a:r>
              <a:rPr lang="en-US" sz="1800" b="1" i="0" u="none" strike="noStrike" cap="none" dirty="0">
                <a:solidFill>
                  <a:schemeClr val="dk1"/>
                </a:solidFill>
                <a:latin typeface="Arial"/>
                <a:ea typeface="Arial"/>
                <a:cs typeface="Arial"/>
                <a:sym typeface="Arial"/>
              </a:rPr>
              <a:t>Name</a:t>
            </a:r>
            <a:r>
              <a:rPr lang="en-US" sz="1800" b="0" i="0" u="none" strike="noStrike" cap="none" dirty="0">
                <a:solidFill>
                  <a:schemeClr val="dk1"/>
                </a:solidFill>
                <a:latin typeface="Arial"/>
                <a:ea typeface="Arial"/>
                <a:cs typeface="Arial"/>
                <a:sym typeface="Arial"/>
              </a:rPr>
              <a:t> your cluster. </a:t>
            </a: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You will </a:t>
            </a:r>
            <a:r>
              <a:rPr lang="en-US" sz="1800" b="1" i="0" u="none" strike="noStrike" cap="none" dirty="0">
                <a:solidFill>
                  <a:schemeClr val="dk1"/>
                </a:solidFill>
                <a:latin typeface="Arial"/>
                <a:ea typeface="Arial"/>
                <a:cs typeface="Arial"/>
                <a:sym typeface="Arial"/>
              </a:rPr>
              <a:t>not </a:t>
            </a:r>
            <a:r>
              <a:rPr lang="en-US" sz="1800" b="0" i="0" u="none" strike="noStrike" cap="none" dirty="0">
                <a:solidFill>
                  <a:schemeClr val="dk1"/>
                </a:solidFill>
                <a:latin typeface="Arial"/>
                <a:ea typeface="Arial"/>
                <a:cs typeface="Arial"/>
                <a:sym typeface="Arial"/>
              </a:rPr>
              <a:t>be able to change the name of the cluster later. </a:t>
            </a:r>
            <a:br>
              <a:rPr lang="en-US" sz="1800" b="0" i="0" u="none" strike="noStrike" cap="none" dirty="0">
                <a:solidFill>
                  <a:schemeClr val="dk1"/>
                </a:solidFill>
                <a:latin typeface="Arial"/>
                <a:ea typeface="Arial"/>
                <a:cs typeface="Arial"/>
                <a:sym typeface="Arial"/>
              </a:rPr>
            </a:br>
            <a:r>
              <a:rPr lang="en-US" sz="1800" b="0" i="0" u="none" strike="noStrike" cap="none" dirty="0">
                <a:solidFill>
                  <a:schemeClr val="dk1"/>
                </a:solidFill>
                <a:latin typeface="Arial"/>
                <a:ea typeface="Arial"/>
                <a:cs typeface="Arial"/>
                <a:sym typeface="Arial"/>
              </a:rPr>
              <a:t>Do use a meaningful name.</a:t>
            </a: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Choose </a:t>
            </a:r>
            <a:r>
              <a:rPr lang="en-US" sz="1800" b="1" i="0" u="none" strike="noStrike" cap="none" dirty="0">
                <a:solidFill>
                  <a:schemeClr val="dk1"/>
                </a:solidFill>
                <a:latin typeface="Arial"/>
                <a:ea typeface="Arial"/>
                <a:cs typeface="Arial"/>
                <a:sym typeface="Arial"/>
              </a:rPr>
              <a:t>AWS</a:t>
            </a:r>
            <a:r>
              <a:rPr lang="en-US" sz="1800" b="0" i="0" u="none" strike="noStrike" cap="none" dirty="0">
                <a:solidFill>
                  <a:schemeClr val="dk1"/>
                </a:solidFill>
                <a:latin typeface="Arial"/>
                <a:ea typeface="Arial"/>
                <a:cs typeface="Arial"/>
                <a:sym typeface="Arial"/>
              </a:rPr>
              <a:t> as default</a:t>
            </a: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1" i="0" u="none" strike="noStrike" cap="none" dirty="0">
                <a:solidFill>
                  <a:srgbClr val="FF0000"/>
                </a:solidFill>
                <a:latin typeface="Arial"/>
                <a:ea typeface="Arial"/>
                <a:cs typeface="Arial"/>
                <a:sym typeface="Arial"/>
              </a:rPr>
              <a:t>Uncheck preload sample dataset</a:t>
            </a:r>
            <a:endParaRPr sz="1800" b="1" i="0" u="none" strike="noStrike" cap="none" dirty="0">
              <a:solidFill>
                <a:srgbClr val="FF0000"/>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a:solidFill>
                  <a:schemeClr val="dk1"/>
                </a:solidFill>
                <a:latin typeface="Arial"/>
                <a:ea typeface="Arial"/>
                <a:cs typeface="Arial"/>
                <a:sym typeface="Arial"/>
              </a:rPr>
              <a:t>Click </a:t>
            </a:r>
            <a:r>
              <a:rPr lang="en-US" sz="1800" b="1" dirty="0">
                <a:solidFill>
                  <a:schemeClr val="dk1"/>
                </a:solidFill>
              </a:rPr>
              <a:t>C</a:t>
            </a:r>
            <a:r>
              <a:rPr lang="en-US" sz="1800" b="1" i="0" u="none" strike="noStrike" cap="none">
                <a:solidFill>
                  <a:schemeClr val="dk1"/>
                </a:solidFill>
                <a:latin typeface="Arial"/>
                <a:ea typeface="Arial"/>
                <a:cs typeface="Arial"/>
                <a:sym typeface="Arial"/>
              </a:rPr>
              <a:t>reate </a:t>
            </a:r>
            <a:r>
              <a:rPr lang="en-US" sz="1800" b="1" dirty="0">
                <a:solidFill>
                  <a:schemeClr val="dk1"/>
                </a:solidFill>
              </a:rPr>
              <a:t>D</a:t>
            </a:r>
            <a:r>
              <a:rPr lang="en-US" sz="1800" b="1" i="0" u="none" strike="noStrike" cap="none" dirty="0">
                <a:solidFill>
                  <a:schemeClr val="dk1"/>
                </a:solidFill>
                <a:latin typeface="Arial"/>
                <a:ea typeface="Arial"/>
                <a:cs typeface="Arial"/>
                <a:sym typeface="Arial"/>
              </a:rPr>
              <a:t>eployment</a:t>
            </a:r>
            <a:endParaRPr b="1" dirty="0"/>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It might take some time to create.</a:t>
            </a:r>
            <a:endParaRPr sz="1800" b="0" i="0" u="none" strike="noStrike" cap="none" dirty="0">
              <a:solidFill>
                <a:schemeClr val="dk1"/>
              </a:solidFill>
              <a:latin typeface="Arial"/>
              <a:ea typeface="Arial"/>
              <a:cs typeface="Arial"/>
              <a:sym typeface="Arial"/>
            </a:endParaRPr>
          </a:p>
        </p:txBody>
      </p:sp>
      <p:pic>
        <p:nvPicPr>
          <p:cNvPr id="140" name="Google Shape;140;p3"/>
          <p:cNvPicPr preferRelativeResize="0"/>
          <p:nvPr/>
        </p:nvPicPr>
        <p:blipFill rotWithShape="1">
          <a:blip r:embed="rId3">
            <a:alphaModFix/>
          </a:blip>
          <a:srcRect/>
          <a:stretch/>
        </p:blipFill>
        <p:spPr>
          <a:xfrm>
            <a:off x="376418" y="2907792"/>
            <a:ext cx="6160543" cy="3899332"/>
          </a:xfrm>
          <a:prstGeom prst="rect">
            <a:avLst/>
          </a:prstGeom>
          <a:noFill/>
          <a:ln>
            <a:noFill/>
          </a:ln>
        </p:spPr>
      </p:pic>
      <p:grpSp>
        <p:nvGrpSpPr>
          <p:cNvPr id="141" name="Google Shape;141;p3"/>
          <p:cNvGrpSpPr/>
          <p:nvPr/>
        </p:nvGrpSpPr>
        <p:grpSpPr>
          <a:xfrm>
            <a:off x="8005875" y="1536192"/>
            <a:ext cx="3897950" cy="5146200"/>
            <a:chOff x="8005875" y="1536192"/>
            <a:chExt cx="3897950" cy="5146200"/>
          </a:xfrm>
        </p:grpSpPr>
        <p:sp>
          <p:nvSpPr>
            <p:cNvPr id="142" name="Google Shape;142;p3"/>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43" name="Google Shape;143;p3"/>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44" name="Google Shape;144;p3"/>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145" name="Google Shape;145;p3" descr="Pencil with solid fill"/>
            <p:cNvPicPr preferRelativeResize="0"/>
            <p:nvPr/>
          </p:nvPicPr>
          <p:blipFill rotWithShape="1">
            <a:blip r:embed="rId4">
              <a:alphaModFix/>
            </a:blip>
            <a:srcRect/>
            <a:stretch/>
          </p:blipFill>
          <p:spPr>
            <a:xfrm>
              <a:off x="8089175" y="1625313"/>
              <a:ext cx="432086" cy="432086"/>
            </a:xfrm>
            <a:prstGeom prst="rect">
              <a:avLst/>
            </a:prstGeom>
            <a:noFill/>
            <a:ln>
              <a:noFill/>
            </a:ln>
          </p:spPr>
        </p:pic>
      </p:grpSp>
      <p:sp>
        <p:nvSpPr>
          <p:cNvPr id="146" name="Google Shape;146;p3"/>
          <p:cNvSpPr txBox="1"/>
          <p:nvPr/>
        </p:nvSpPr>
        <p:spPr>
          <a:xfrm>
            <a:off x="246375" y="1850799"/>
            <a:ext cx="7648258" cy="107721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1" i="0" u="none" strike="noStrike" cap="none">
                <a:solidFill>
                  <a:srgbClr val="000000"/>
                </a:solidFill>
                <a:latin typeface="Arial"/>
                <a:ea typeface="Arial"/>
                <a:cs typeface="Arial"/>
                <a:sym typeface="Arial"/>
              </a:rPr>
              <a:t>MongoDB Atlas Cluster* </a:t>
            </a:r>
            <a:r>
              <a:rPr lang="en-US" sz="1600" b="0" i="0" u="none" strike="noStrike" cap="none">
                <a:solidFill>
                  <a:srgbClr val="000000"/>
                </a:solidFill>
                <a:latin typeface="Arial"/>
                <a:ea typeface="Arial"/>
                <a:cs typeface="Arial"/>
                <a:sym typeface="Arial"/>
              </a:rPr>
              <a:t>is a </a:t>
            </a:r>
            <a:r>
              <a:rPr lang="en-US" sz="1600" b="1" i="0" u="none" strike="noStrike" cap="none">
                <a:solidFill>
                  <a:srgbClr val="000000"/>
                </a:solidFill>
                <a:latin typeface="Arial"/>
                <a:ea typeface="Arial"/>
                <a:cs typeface="Arial"/>
                <a:sym typeface="Arial"/>
              </a:rPr>
              <a:t>Document Database-as-a-Service </a:t>
            </a:r>
            <a:r>
              <a:rPr lang="en-US" sz="1600" b="0" i="0" u="none" strike="noStrike" cap="none">
                <a:solidFill>
                  <a:srgbClr val="000000"/>
                </a:solidFill>
                <a:latin typeface="Arial"/>
                <a:ea typeface="Arial"/>
                <a:cs typeface="Arial"/>
                <a:sym typeface="Arial"/>
              </a:rPr>
              <a:t>offering in the public cloud (available in Microsoft Azure, Google Cloud Platform, Amazon Web Services). This is a managed MongoDB service, where with just a few clicks, you can set up a working MongoDB cluster, accessible from your favorite web browser.</a:t>
            </a:r>
            <a:endParaRPr/>
          </a:p>
        </p:txBody>
      </p:sp>
      <p:sp>
        <p:nvSpPr>
          <p:cNvPr id="147" name="Google Shape;147;p3"/>
          <p:cNvSpPr txBox="1"/>
          <p:nvPr/>
        </p:nvSpPr>
        <p:spPr>
          <a:xfrm>
            <a:off x="256370" y="1328956"/>
            <a:ext cx="5922485" cy="44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Create your cluster</a:t>
            </a:r>
            <a:endParaRPr sz="2300" b="1"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g36e7437085d_0_35"/>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Cloud MongoDB</a:t>
            </a:r>
            <a:endParaRPr sz="2400" b="1" i="0" u="none" strike="noStrike" cap="none">
              <a:solidFill>
                <a:srgbClr val="11175E"/>
              </a:solidFill>
              <a:latin typeface="Arial"/>
              <a:ea typeface="Arial"/>
              <a:cs typeface="Arial"/>
              <a:sym typeface="Arial"/>
            </a:endParaRPr>
          </a:p>
        </p:txBody>
      </p:sp>
      <p:sp>
        <p:nvSpPr>
          <p:cNvPr id="153" name="Google Shape;153;g36e7437085d_0_35"/>
          <p:cNvSpPr txBox="1"/>
          <p:nvPr/>
        </p:nvSpPr>
        <p:spPr>
          <a:xfrm>
            <a:off x="7896147" y="2210449"/>
            <a:ext cx="3934676" cy="45768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Create your admin user and create a password. </a:t>
            </a: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Please note down your IP, username and password in a digital text file to prevent issues later.</a:t>
            </a:r>
            <a:endParaRPr dirty="0"/>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Click </a:t>
            </a:r>
            <a:r>
              <a:rPr lang="en-US" sz="1800" b="1" i="0" u="none" strike="noStrike" cap="none" dirty="0">
                <a:solidFill>
                  <a:schemeClr val="dk1"/>
                </a:solidFill>
                <a:latin typeface="Arial"/>
                <a:ea typeface="Arial"/>
                <a:cs typeface="Arial"/>
                <a:sym typeface="Arial"/>
              </a:rPr>
              <a:t>Create Database User</a:t>
            </a:r>
            <a:endParaRPr sz="1800" b="1" i="0" u="none" strike="noStrike" cap="none" dirty="0">
              <a:solidFill>
                <a:schemeClr val="dk1"/>
              </a:solidFill>
              <a:latin typeface="Arial"/>
              <a:ea typeface="Arial"/>
              <a:cs typeface="Arial"/>
              <a:sym typeface="Arial"/>
            </a:endParaRPr>
          </a:p>
        </p:txBody>
      </p:sp>
      <p:pic>
        <p:nvPicPr>
          <p:cNvPr id="154" name="Google Shape;154;g36e7437085d_0_35"/>
          <p:cNvPicPr preferRelativeResize="0"/>
          <p:nvPr/>
        </p:nvPicPr>
        <p:blipFill rotWithShape="1">
          <a:blip r:embed="rId3">
            <a:alphaModFix/>
          </a:blip>
          <a:srcRect/>
          <a:stretch/>
        </p:blipFill>
        <p:spPr>
          <a:xfrm>
            <a:off x="360235" y="1983953"/>
            <a:ext cx="5475229" cy="4696551"/>
          </a:xfrm>
          <a:prstGeom prst="rect">
            <a:avLst/>
          </a:prstGeom>
          <a:noFill/>
          <a:ln>
            <a:noFill/>
          </a:ln>
        </p:spPr>
      </p:pic>
      <p:grpSp>
        <p:nvGrpSpPr>
          <p:cNvPr id="155" name="Google Shape;155;g36e7437085d_0_35"/>
          <p:cNvGrpSpPr/>
          <p:nvPr/>
        </p:nvGrpSpPr>
        <p:grpSpPr>
          <a:xfrm>
            <a:off x="8005875" y="1536192"/>
            <a:ext cx="3897950" cy="5146200"/>
            <a:chOff x="8005875" y="1536192"/>
            <a:chExt cx="3897950" cy="5146200"/>
          </a:xfrm>
        </p:grpSpPr>
        <p:sp>
          <p:nvSpPr>
            <p:cNvPr id="156" name="Google Shape;156;g36e7437085d_0_35"/>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57" name="Google Shape;157;g36e7437085d_0_35"/>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58" name="Google Shape;158;g36e7437085d_0_35"/>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159" name="Google Shape;159;g36e7437085d_0_35" descr="Pencil with solid fill"/>
            <p:cNvPicPr preferRelativeResize="0"/>
            <p:nvPr/>
          </p:nvPicPr>
          <p:blipFill rotWithShape="1">
            <a:blip r:embed="rId4">
              <a:alphaModFix/>
            </a:blip>
            <a:srcRect/>
            <a:stretch/>
          </p:blipFill>
          <p:spPr>
            <a:xfrm>
              <a:off x="8089175" y="1625313"/>
              <a:ext cx="432086" cy="432086"/>
            </a:xfrm>
            <a:prstGeom prst="rect">
              <a:avLst/>
            </a:prstGeom>
            <a:noFill/>
            <a:ln>
              <a:noFill/>
            </a:ln>
          </p:spPr>
        </p:pic>
      </p:grpSp>
      <p:sp>
        <p:nvSpPr>
          <p:cNvPr id="160" name="Google Shape;160;g36e7437085d_0_35"/>
          <p:cNvSpPr txBox="1"/>
          <p:nvPr/>
        </p:nvSpPr>
        <p:spPr>
          <a:xfrm>
            <a:off x="256370" y="1328956"/>
            <a:ext cx="5922485" cy="44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Create user / connection</a:t>
            </a:r>
            <a:endParaRPr sz="2300" b="1"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6e7437085d_0_43"/>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Cloud MongoDB</a:t>
            </a:r>
            <a:endParaRPr sz="2400" b="1" i="0" u="none" strike="noStrike" cap="none">
              <a:solidFill>
                <a:srgbClr val="11175E"/>
              </a:solidFill>
              <a:latin typeface="Arial"/>
              <a:ea typeface="Arial"/>
              <a:cs typeface="Arial"/>
              <a:sym typeface="Arial"/>
            </a:endParaRPr>
          </a:p>
        </p:txBody>
      </p:sp>
      <p:sp>
        <p:nvSpPr>
          <p:cNvPr id="166" name="Google Shape;166;g36e7437085d_0_43"/>
          <p:cNvSpPr txBox="1"/>
          <p:nvPr/>
        </p:nvSpPr>
        <p:spPr>
          <a:xfrm>
            <a:off x="7895089" y="2210554"/>
            <a:ext cx="3954021" cy="45768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Click </a:t>
            </a:r>
            <a:r>
              <a:rPr lang="en-US" sz="1800" b="1" i="0" u="none" strike="noStrike" cap="none" dirty="0">
                <a:solidFill>
                  <a:schemeClr val="dk1"/>
                </a:solidFill>
                <a:latin typeface="Arial"/>
                <a:ea typeface="Arial"/>
                <a:cs typeface="Arial"/>
                <a:sym typeface="Arial"/>
              </a:rPr>
              <a:t>Choose a connection method</a:t>
            </a:r>
            <a:endParaRPr sz="1800" b="1" i="0" u="none" strike="noStrike" cap="none" dirty="0">
              <a:solidFill>
                <a:schemeClr val="dk1"/>
              </a:solidFill>
              <a:latin typeface="Arial"/>
              <a:ea typeface="Arial"/>
              <a:cs typeface="Arial"/>
              <a:sym typeface="Arial"/>
            </a:endParaRPr>
          </a:p>
        </p:txBody>
      </p:sp>
      <p:pic>
        <p:nvPicPr>
          <p:cNvPr id="167" name="Google Shape;167;g36e7437085d_0_43"/>
          <p:cNvPicPr preferRelativeResize="0"/>
          <p:nvPr/>
        </p:nvPicPr>
        <p:blipFill rotWithShape="1">
          <a:blip r:embed="rId3">
            <a:alphaModFix/>
          </a:blip>
          <a:srcRect/>
          <a:stretch/>
        </p:blipFill>
        <p:spPr>
          <a:xfrm>
            <a:off x="359891" y="1913153"/>
            <a:ext cx="7310774" cy="4696325"/>
          </a:xfrm>
          <a:prstGeom prst="rect">
            <a:avLst/>
          </a:prstGeom>
          <a:noFill/>
          <a:ln>
            <a:noFill/>
          </a:ln>
        </p:spPr>
      </p:pic>
      <p:grpSp>
        <p:nvGrpSpPr>
          <p:cNvPr id="168" name="Google Shape;168;g36e7437085d_0_43"/>
          <p:cNvGrpSpPr/>
          <p:nvPr/>
        </p:nvGrpSpPr>
        <p:grpSpPr>
          <a:xfrm>
            <a:off x="8005875" y="1536192"/>
            <a:ext cx="3897950" cy="5146200"/>
            <a:chOff x="8005875" y="1536192"/>
            <a:chExt cx="3897950" cy="5146200"/>
          </a:xfrm>
        </p:grpSpPr>
        <p:sp>
          <p:nvSpPr>
            <p:cNvPr id="169" name="Google Shape;169;g36e7437085d_0_43"/>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70" name="Google Shape;170;g36e7437085d_0_43"/>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71" name="Google Shape;171;g36e7437085d_0_43"/>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172" name="Google Shape;172;g36e7437085d_0_43" descr="Pencil with solid fill"/>
            <p:cNvPicPr preferRelativeResize="0"/>
            <p:nvPr/>
          </p:nvPicPr>
          <p:blipFill rotWithShape="1">
            <a:blip r:embed="rId4">
              <a:alphaModFix/>
            </a:blip>
            <a:srcRect/>
            <a:stretch/>
          </p:blipFill>
          <p:spPr>
            <a:xfrm>
              <a:off x="8089175" y="1625313"/>
              <a:ext cx="432086" cy="432086"/>
            </a:xfrm>
            <a:prstGeom prst="rect">
              <a:avLst/>
            </a:prstGeom>
            <a:noFill/>
            <a:ln>
              <a:noFill/>
            </a:ln>
          </p:spPr>
        </p:pic>
      </p:grpSp>
      <p:sp>
        <p:nvSpPr>
          <p:cNvPr id="173" name="Google Shape;173;g36e7437085d_0_43"/>
          <p:cNvSpPr txBox="1"/>
          <p:nvPr/>
        </p:nvSpPr>
        <p:spPr>
          <a:xfrm>
            <a:off x="256370" y="1328956"/>
            <a:ext cx="5922485" cy="44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Create user / connection</a:t>
            </a:r>
            <a:endParaRPr sz="2300" b="1"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g36e7437085d_0_51"/>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Cloud MongoDB</a:t>
            </a:r>
            <a:endParaRPr sz="2400" b="1" i="0" u="none" strike="noStrike" cap="none">
              <a:solidFill>
                <a:srgbClr val="11175E"/>
              </a:solidFill>
              <a:latin typeface="Arial"/>
              <a:ea typeface="Arial"/>
              <a:cs typeface="Arial"/>
              <a:sym typeface="Arial"/>
            </a:endParaRPr>
          </a:p>
        </p:txBody>
      </p:sp>
      <p:sp>
        <p:nvSpPr>
          <p:cNvPr id="179" name="Google Shape;179;g36e7437085d_0_51"/>
          <p:cNvSpPr txBox="1"/>
          <p:nvPr/>
        </p:nvSpPr>
        <p:spPr>
          <a:xfrm>
            <a:off x="7895090" y="2210554"/>
            <a:ext cx="3958010" cy="45768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a:solidFill>
                  <a:schemeClr val="dk1"/>
                </a:solidFill>
                <a:latin typeface="Arial"/>
                <a:ea typeface="Arial"/>
                <a:cs typeface="Arial"/>
                <a:sym typeface="Arial"/>
              </a:rPr>
              <a:t>Choose Compass ( MongoDB GUI)</a:t>
            </a:r>
            <a:endParaRPr sz="1800" b="0" i="0" u="none" strike="noStrike" cap="none">
              <a:solidFill>
                <a:schemeClr val="dk1"/>
              </a:solidFill>
              <a:latin typeface="Arial"/>
              <a:ea typeface="Arial"/>
              <a:cs typeface="Arial"/>
              <a:sym typeface="Arial"/>
            </a:endParaRPr>
          </a:p>
        </p:txBody>
      </p:sp>
      <p:pic>
        <p:nvPicPr>
          <p:cNvPr id="180" name="Google Shape;180;g36e7437085d_0_51"/>
          <p:cNvPicPr preferRelativeResize="0"/>
          <p:nvPr/>
        </p:nvPicPr>
        <p:blipFill rotWithShape="1">
          <a:blip r:embed="rId3">
            <a:alphaModFix/>
          </a:blip>
          <a:srcRect/>
          <a:stretch/>
        </p:blipFill>
        <p:spPr>
          <a:xfrm>
            <a:off x="338900" y="2089175"/>
            <a:ext cx="4692251" cy="4686775"/>
          </a:xfrm>
          <a:prstGeom prst="rect">
            <a:avLst/>
          </a:prstGeom>
          <a:noFill/>
          <a:ln>
            <a:noFill/>
          </a:ln>
        </p:spPr>
      </p:pic>
      <p:grpSp>
        <p:nvGrpSpPr>
          <p:cNvPr id="181" name="Google Shape;181;g36e7437085d_0_51"/>
          <p:cNvGrpSpPr/>
          <p:nvPr/>
        </p:nvGrpSpPr>
        <p:grpSpPr>
          <a:xfrm>
            <a:off x="8005875" y="1536192"/>
            <a:ext cx="3897950" cy="5146200"/>
            <a:chOff x="8005875" y="1536192"/>
            <a:chExt cx="3897950" cy="5146200"/>
          </a:xfrm>
        </p:grpSpPr>
        <p:sp>
          <p:nvSpPr>
            <p:cNvPr id="182" name="Google Shape;182;g36e7437085d_0_51"/>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83" name="Google Shape;183;g36e7437085d_0_51"/>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84" name="Google Shape;184;g36e7437085d_0_51"/>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185" name="Google Shape;185;g36e7437085d_0_51" descr="Pencil with solid fill"/>
            <p:cNvPicPr preferRelativeResize="0"/>
            <p:nvPr/>
          </p:nvPicPr>
          <p:blipFill rotWithShape="1">
            <a:blip r:embed="rId4">
              <a:alphaModFix/>
            </a:blip>
            <a:srcRect/>
            <a:stretch/>
          </p:blipFill>
          <p:spPr>
            <a:xfrm>
              <a:off x="8089175" y="1625313"/>
              <a:ext cx="432086" cy="432086"/>
            </a:xfrm>
            <a:prstGeom prst="rect">
              <a:avLst/>
            </a:prstGeom>
            <a:noFill/>
            <a:ln>
              <a:noFill/>
            </a:ln>
          </p:spPr>
        </p:pic>
      </p:grpSp>
      <p:sp>
        <p:nvSpPr>
          <p:cNvPr id="186" name="Google Shape;186;g36e7437085d_0_51"/>
          <p:cNvSpPr txBox="1"/>
          <p:nvPr/>
        </p:nvSpPr>
        <p:spPr>
          <a:xfrm>
            <a:off x="256370" y="1328956"/>
            <a:ext cx="5922485" cy="44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Select Compass</a:t>
            </a:r>
            <a:endParaRPr sz="2300" b="1"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36e7437085d_0_60"/>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Cloud MongoDB</a:t>
            </a:r>
            <a:endParaRPr sz="2400" b="1" i="0" u="none" strike="noStrike" cap="none">
              <a:solidFill>
                <a:srgbClr val="11175E"/>
              </a:solidFill>
              <a:latin typeface="Arial"/>
              <a:ea typeface="Arial"/>
              <a:cs typeface="Arial"/>
              <a:sym typeface="Arial"/>
            </a:endParaRPr>
          </a:p>
        </p:txBody>
      </p:sp>
      <p:sp>
        <p:nvSpPr>
          <p:cNvPr id="192" name="Google Shape;192;g36e7437085d_0_60"/>
          <p:cNvSpPr txBox="1"/>
          <p:nvPr/>
        </p:nvSpPr>
        <p:spPr>
          <a:xfrm>
            <a:off x="7894633" y="2223068"/>
            <a:ext cx="3917901" cy="45768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Choose </a:t>
            </a:r>
            <a:r>
              <a:rPr lang="en-US" sz="1800" b="1" i="0" u="none" strike="noStrike" cap="none" dirty="0">
                <a:solidFill>
                  <a:schemeClr val="dk1"/>
                </a:solidFill>
                <a:latin typeface="Arial"/>
                <a:ea typeface="Arial"/>
                <a:cs typeface="Arial"/>
                <a:sym typeface="Arial"/>
              </a:rPr>
              <a:t>I don’t have MongoDB Compass</a:t>
            </a:r>
            <a:r>
              <a:rPr lang="en-US" sz="1800" b="0" i="0" u="none" strike="noStrike" cap="none" dirty="0">
                <a:solidFill>
                  <a:schemeClr val="dk1"/>
                </a:solidFill>
                <a:latin typeface="Arial"/>
                <a:ea typeface="Arial"/>
                <a:cs typeface="Arial"/>
                <a:sym typeface="Arial"/>
              </a:rPr>
              <a:t> installed. </a:t>
            </a: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Select your OS system </a:t>
            </a: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Copy your </a:t>
            </a:r>
            <a:r>
              <a:rPr lang="en-US" sz="1800" b="1" i="0" u="none" strike="noStrike" cap="none" dirty="0">
                <a:solidFill>
                  <a:srgbClr val="FF0000"/>
                </a:solidFill>
                <a:latin typeface="Arial"/>
                <a:ea typeface="Arial"/>
                <a:cs typeface="Arial"/>
                <a:sym typeface="Arial"/>
              </a:rPr>
              <a:t>USERNAME</a:t>
            </a:r>
            <a:r>
              <a:rPr lang="en-US" sz="1800" b="0" i="0" u="none" strike="noStrike" cap="none" dirty="0">
                <a:solidFill>
                  <a:schemeClr val="dk1"/>
                </a:solidFill>
                <a:latin typeface="Arial"/>
                <a:ea typeface="Arial"/>
                <a:cs typeface="Arial"/>
                <a:sym typeface="Arial"/>
              </a:rPr>
              <a:t>, </a:t>
            </a:r>
            <a:r>
              <a:rPr lang="en-US" sz="1800" b="1" i="0" u="none" strike="noStrike" cap="none" dirty="0">
                <a:solidFill>
                  <a:srgbClr val="FF0000"/>
                </a:solidFill>
                <a:latin typeface="Arial"/>
                <a:ea typeface="Arial"/>
                <a:cs typeface="Arial"/>
                <a:sym typeface="Arial"/>
              </a:rPr>
              <a:t>PASSWORD </a:t>
            </a:r>
            <a:r>
              <a:rPr lang="en-US" sz="1800" b="0" i="0" u="none" strike="noStrike" cap="none" dirty="0">
                <a:solidFill>
                  <a:schemeClr val="dk1"/>
                </a:solidFill>
                <a:latin typeface="Arial"/>
                <a:ea typeface="Arial"/>
                <a:cs typeface="Arial"/>
                <a:sym typeface="Arial"/>
              </a:rPr>
              <a:t>and </a:t>
            </a:r>
            <a:r>
              <a:rPr lang="en-US" sz="1800" b="1" i="0" u="none" strike="noStrike" cap="none" dirty="0">
                <a:solidFill>
                  <a:srgbClr val="FF0000"/>
                </a:solidFill>
                <a:latin typeface="Arial"/>
                <a:ea typeface="Arial"/>
                <a:cs typeface="Arial"/>
                <a:sym typeface="Arial"/>
              </a:rPr>
              <a:t>CLUSTERADDRESS </a:t>
            </a:r>
            <a:r>
              <a:rPr lang="en-US" sz="1800" b="0" i="0" u="none" strike="noStrike" cap="none" dirty="0">
                <a:solidFill>
                  <a:schemeClr val="dk1"/>
                </a:solidFill>
                <a:latin typeface="Arial"/>
                <a:ea typeface="Arial"/>
                <a:cs typeface="Arial"/>
                <a:sym typeface="Arial"/>
              </a:rPr>
              <a:t>and paste it in a text file where you are able to retrieve it.</a:t>
            </a:r>
            <a:endParaRPr sz="1800" b="0" i="0" u="none" strike="noStrike" cap="none" dirty="0">
              <a:solidFill>
                <a:schemeClr val="dk1"/>
              </a:solidFill>
              <a:latin typeface="Arial"/>
              <a:ea typeface="Arial"/>
              <a:cs typeface="Arial"/>
              <a:sym typeface="Arial"/>
            </a:endParaRPr>
          </a:p>
          <a:p>
            <a:pPr marL="457200" marR="0" lvl="0" indent="-342900" algn="l" rtl="0">
              <a:lnSpc>
                <a:spcPct val="100000"/>
              </a:lnSpc>
              <a:spcBef>
                <a:spcPts val="0"/>
              </a:spcBef>
              <a:spcAft>
                <a:spcPts val="0"/>
              </a:spcAft>
              <a:buClr>
                <a:schemeClr val="dk1"/>
              </a:buClr>
              <a:buSzPts val="1800"/>
              <a:buChar char="•"/>
            </a:pPr>
            <a:r>
              <a:rPr lang="en-US" sz="1800" dirty="0">
                <a:solidFill>
                  <a:schemeClr val="dk1"/>
                </a:solidFill>
              </a:rPr>
              <a:t>Ensure that username and password does not contain any special characters.</a:t>
            </a:r>
            <a:endParaRPr sz="1800" dirty="0">
              <a:solidFill>
                <a:schemeClr val="dk1"/>
              </a:solidFil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Click </a:t>
            </a:r>
            <a:r>
              <a:rPr lang="en-US" sz="1800" b="1" i="0" u="none" strike="noStrike" cap="none" dirty="0">
                <a:solidFill>
                  <a:schemeClr val="dk1"/>
                </a:solidFill>
                <a:latin typeface="Arial"/>
                <a:ea typeface="Arial"/>
                <a:cs typeface="Arial"/>
                <a:sym typeface="Arial"/>
              </a:rPr>
              <a:t>Download Compass</a:t>
            </a:r>
            <a:r>
              <a:rPr lang="en-US" sz="1800" b="0" i="0" u="none" strike="noStrike" cap="none" dirty="0">
                <a:solidFill>
                  <a:schemeClr val="dk1"/>
                </a:solidFill>
                <a:latin typeface="Arial"/>
                <a:ea typeface="Arial"/>
                <a:cs typeface="Arial"/>
                <a:sym typeface="Arial"/>
              </a:rPr>
              <a:t> and </a:t>
            </a:r>
            <a:r>
              <a:rPr lang="en-US" sz="1800" b="1" i="0" u="none" strike="noStrike" cap="none" dirty="0">
                <a:solidFill>
                  <a:schemeClr val="dk1"/>
                </a:solidFill>
                <a:latin typeface="Arial"/>
                <a:ea typeface="Arial"/>
                <a:cs typeface="Arial"/>
                <a:sym typeface="Arial"/>
              </a:rPr>
              <a:t>Done</a:t>
            </a:r>
            <a:r>
              <a:rPr lang="en-US" sz="1800" b="0" i="0" u="none" strike="noStrike" cap="none" dirty="0">
                <a:solidFill>
                  <a:schemeClr val="dk1"/>
                </a:solidFill>
                <a:latin typeface="Arial"/>
                <a:ea typeface="Arial"/>
                <a:cs typeface="Arial"/>
                <a:sym typeface="Arial"/>
              </a:rPr>
              <a:t>.</a:t>
            </a: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Retrieve and extract the download file. </a:t>
            </a:r>
            <a:endParaRPr sz="1800" b="0" i="0" u="none" strike="noStrike" cap="none" dirty="0">
              <a:solidFill>
                <a:schemeClr val="dk1"/>
              </a:solidFill>
              <a:latin typeface="Arial"/>
              <a:ea typeface="Arial"/>
              <a:cs typeface="Arial"/>
              <a:sym typeface="Arial"/>
            </a:endParaRPr>
          </a:p>
        </p:txBody>
      </p:sp>
      <p:pic>
        <p:nvPicPr>
          <p:cNvPr id="193" name="Google Shape;193;g36e7437085d_0_60"/>
          <p:cNvPicPr preferRelativeResize="0"/>
          <p:nvPr/>
        </p:nvPicPr>
        <p:blipFill rotWithShape="1">
          <a:blip r:embed="rId3">
            <a:alphaModFix/>
          </a:blip>
          <a:srcRect/>
          <a:stretch/>
        </p:blipFill>
        <p:spPr>
          <a:xfrm>
            <a:off x="262414" y="1536192"/>
            <a:ext cx="4787000" cy="4483324"/>
          </a:xfrm>
          <a:prstGeom prst="rect">
            <a:avLst/>
          </a:prstGeom>
          <a:noFill/>
          <a:ln>
            <a:noFill/>
          </a:ln>
        </p:spPr>
      </p:pic>
      <p:grpSp>
        <p:nvGrpSpPr>
          <p:cNvPr id="194" name="Google Shape;194;g36e7437085d_0_60"/>
          <p:cNvGrpSpPr/>
          <p:nvPr/>
        </p:nvGrpSpPr>
        <p:grpSpPr>
          <a:xfrm>
            <a:off x="8005875" y="1536192"/>
            <a:ext cx="3897950" cy="5146200"/>
            <a:chOff x="8005875" y="1536192"/>
            <a:chExt cx="3897950" cy="5146200"/>
          </a:xfrm>
        </p:grpSpPr>
        <p:sp>
          <p:nvSpPr>
            <p:cNvPr id="195" name="Google Shape;195;g36e7437085d_0_60"/>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196" name="Google Shape;196;g36e7437085d_0_60"/>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97" name="Google Shape;197;g36e7437085d_0_60"/>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198" name="Google Shape;198;g36e7437085d_0_60" descr="Pencil with solid fill"/>
            <p:cNvPicPr preferRelativeResize="0"/>
            <p:nvPr/>
          </p:nvPicPr>
          <p:blipFill rotWithShape="1">
            <a:blip r:embed="rId4">
              <a:alphaModFix/>
            </a:blip>
            <a:srcRect/>
            <a:stretch/>
          </p:blipFill>
          <p:spPr>
            <a:xfrm>
              <a:off x="8089175" y="1625313"/>
              <a:ext cx="432086" cy="432086"/>
            </a:xfrm>
            <a:prstGeom prst="rect">
              <a:avLst/>
            </a:prstGeom>
            <a:noFill/>
            <a:ln>
              <a:noFill/>
            </a:ln>
          </p:spPr>
        </p:pic>
      </p:grpSp>
      <p:sp>
        <p:nvSpPr>
          <p:cNvPr id="199" name="Google Shape;199;g36e7437085d_0_60"/>
          <p:cNvSpPr txBox="1"/>
          <p:nvPr/>
        </p:nvSpPr>
        <p:spPr>
          <a:xfrm>
            <a:off x="324601" y="5360458"/>
            <a:ext cx="7474152" cy="1028150"/>
          </a:xfrm>
          <a:prstGeom prst="rect">
            <a:avLst/>
          </a:prstGeom>
          <a:solidFill>
            <a:srgbClr val="D5DBE5"/>
          </a:solidFill>
          <a:ln w="2540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chemeClr val="dk1"/>
                </a:solidFill>
                <a:latin typeface="Arial"/>
                <a:ea typeface="Arial"/>
                <a:cs typeface="Arial"/>
                <a:sym typeface="Arial"/>
              </a:rPr>
              <a:t>Your connection string looks something like this. </a:t>
            </a:r>
            <a:br>
              <a:rPr lang="en-US" sz="1400" b="0" i="0" u="none" strike="noStrike" cap="none">
                <a:solidFill>
                  <a:schemeClr val="dk1"/>
                </a:solidFill>
                <a:latin typeface="Arial"/>
                <a:ea typeface="Arial"/>
                <a:cs typeface="Arial"/>
                <a:sym typeface="Arial"/>
              </a:rPr>
            </a:br>
            <a:r>
              <a:rPr lang="en-US" sz="1400" b="0" i="0" u="none" strike="noStrike" cap="none">
                <a:solidFill>
                  <a:schemeClr val="dk1"/>
                </a:solidFill>
                <a:latin typeface="Roboto Mono"/>
                <a:ea typeface="Roboto Mono"/>
                <a:cs typeface="Roboto Mono"/>
                <a:sym typeface="Roboto Mono"/>
              </a:rPr>
              <a:t>mongodb+srv://</a:t>
            </a:r>
            <a:r>
              <a:rPr lang="en-US" sz="1400" b="0" i="0" u="none" strike="noStrike" cap="none">
                <a:solidFill>
                  <a:srgbClr val="FF0000"/>
                </a:solidFill>
                <a:latin typeface="Roboto Mono"/>
                <a:ea typeface="Roboto Mono"/>
                <a:cs typeface="Roboto Mono"/>
                <a:sym typeface="Roboto Mono"/>
              </a:rPr>
              <a:t>&lt;USERNAME&gt;:&lt;PASSWORD</a:t>
            </a:r>
            <a:r>
              <a:rPr lang="en-US" sz="1400" b="0" i="0" u="none" strike="noStrike" cap="none">
                <a:solidFill>
                  <a:schemeClr val="dk1"/>
                </a:solidFill>
                <a:latin typeface="Roboto Mono"/>
                <a:ea typeface="Roboto Mono"/>
                <a:cs typeface="Roboto Mono"/>
                <a:sym typeface="Roboto Mono"/>
              </a:rPr>
              <a:t>&gt;@</a:t>
            </a:r>
            <a:r>
              <a:rPr lang="en-US" sz="1400" b="0" i="0" u="none" strike="noStrike" cap="none">
                <a:solidFill>
                  <a:srgbClr val="FF0000"/>
                </a:solidFill>
                <a:latin typeface="Roboto Mono"/>
                <a:ea typeface="Roboto Mono"/>
                <a:cs typeface="Roboto Mono"/>
                <a:sym typeface="Roboto Mono"/>
              </a:rPr>
              <a:t>&lt;CLUSTERADDRESS&gt;</a:t>
            </a:r>
            <a:r>
              <a:rPr lang="en-US" sz="1400" b="0" i="0" u="none" strike="noStrike" cap="none">
                <a:solidFill>
                  <a:schemeClr val="dk1"/>
                </a:solidFill>
                <a:latin typeface="Roboto Mono"/>
                <a:ea typeface="Roboto Mono"/>
                <a:cs typeface="Roboto Mono"/>
                <a:sym typeface="Roboto Mono"/>
              </a:rPr>
              <a:t>/</a:t>
            </a:r>
            <a:br>
              <a:rPr lang="en-US" sz="1400" b="0" i="0" u="none" strike="noStrike" cap="none">
                <a:solidFill>
                  <a:schemeClr val="dk1"/>
                </a:solidFill>
                <a:latin typeface="Arial"/>
                <a:ea typeface="Arial"/>
                <a:cs typeface="Arial"/>
                <a:sym typeface="Arial"/>
              </a:rPr>
            </a:br>
            <a:br>
              <a:rPr lang="en-US" sz="1400" b="0" i="0" u="none" strike="noStrike" cap="none">
                <a:solidFill>
                  <a:schemeClr val="dk1"/>
                </a:solidFill>
                <a:latin typeface="Arial"/>
                <a:ea typeface="Arial"/>
                <a:cs typeface="Arial"/>
                <a:sym typeface="Arial"/>
              </a:rPr>
            </a:br>
            <a:r>
              <a:rPr lang="en-US" sz="1400" b="0" i="0" u="none" strike="noStrike" cap="none">
                <a:solidFill>
                  <a:schemeClr val="dk1"/>
                </a:solidFill>
                <a:latin typeface="Arial"/>
                <a:ea typeface="Arial"/>
                <a:cs typeface="Arial"/>
                <a:sym typeface="Arial"/>
              </a:rPr>
              <a:t>Those words highlighted in </a:t>
            </a:r>
            <a:r>
              <a:rPr lang="en-US" sz="1400" b="1" i="0" u="none" strike="noStrike" cap="none">
                <a:solidFill>
                  <a:schemeClr val="dk1"/>
                </a:solidFill>
                <a:latin typeface="Arial"/>
                <a:ea typeface="Arial"/>
                <a:cs typeface="Arial"/>
                <a:sym typeface="Arial"/>
              </a:rPr>
              <a:t>red</a:t>
            </a:r>
            <a:r>
              <a:rPr lang="en-US" sz="1400" b="0" i="0" u="none" strike="noStrike" cap="none">
                <a:solidFill>
                  <a:schemeClr val="dk1"/>
                </a:solidFill>
                <a:latin typeface="Arial"/>
                <a:ea typeface="Arial"/>
                <a:cs typeface="Arial"/>
                <a:sym typeface="Arial"/>
              </a:rPr>
              <a:t> will change according to each user.</a:t>
            </a:r>
            <a:endParaRPr sz="1400" b="0" i="0" u="none" strike="noStrike" cap="none">
              <a:solidFill>
                <a:schemeClr val="dk1"/>
              </a:solidFill>
              <a:latin typeface="Arial"/>
              <a:ea typeface="Arial"/>
              <a:cs typeface="Arial"/>
              <a:sym typeface="Arial"/>
            </a:endParaRPr>
          </a:p>
        </p:txBody>
      </p:sp>
      <p:sp>
        <p:nvSpPr>
          <p:cNvPr id="200" name="Google Shape;200;g36e7437085d_0_60"/>
          <p:cNvSpPr txBox="1"/>
          <p:nvPr/>
        </p:nvSpPr>
        <p:spPr>
          <a:xfrm>
            <a:off x="256370" y="1328956"/>
            <a:ext cx="5922485" cy="44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Connect</a:t>
            </a:r>
            <a:endParaRPr sz="2300" b="1"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36e7437085d_0_68"/>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Create a Database using Altas</a:t>
            </a:r>
            <a:endParaRPr sz="2400" b="1" i="0" u="none" strike="noStrike" cap="none">
              <a:solidFill>
                <a:srgbClr val="11175E"/>
              </a:solidFill>
              <a:latin typeface="Arial"/>
              <a:ea typeface="Arial"/>
              <a:cs typeface="Arial"/>
              <a:sym typeface="Arial"/>
            </a:endParaRPr>
          </a:p>
        </p:txBody>
      </p:sp>
      <p:sp>
        <p:nvSpPr>
          <p:cNvPr id="206" name="Google Shape;206;g36e7437085d_0_68"/>
          <p:cNvSpPr txBox="1"/>
          <p:nvPr/>
        </p:nvSpPr>
        <p:spPr>
          <a:xfrm>
            <a:off x="7900169" y="2217666"/>
            <a:ext cx="3967229" cy="45768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If you are not in </a:t>
            </a:r>
            <a:r>
              <a:rPr lang="en-US" sz="1800" b="1" i="0" u="none" strike="noStrike" cap="none" dirty="0">
                <a:solidFill>
                  <a:schemeClr val="dk1"/>
                </a:solidFill>
                <a:latin typeface="Arial"/>
                <a:ea typeface="Arial"/>
                <a:cs typeface="Arial"/>
                <a:sym typeface="Arial"/>
              </a:rPr>
              <a:t>overview</a:t>
            </a:r>
            <a:r>
              <a:rPr lang="en-US" sz="1800" b="0" i="0" u="none" strike="noStrike" cap="none" dirty="0">
                <a:solidFill>
                  <a:schemeClr val="dk1"/>
                </a:solidFill>
                <a:latin typeface="Arial"/>
                <a:ea typeface="Arial"/>
                <a:cs typeface="Arial"/>
                <a:sym typeface="Arial"/>
              </a:rPr>
              <a:t>, Click on </a:t>
            </a:r>
            <a:r>
              <a:rPr lang="en-US" sz="1800" b="1" i="0" u="none" strike="noStrike" cap="none" dirty="0">
                <a:solidFill>
                  <a:schemeClr val="dk1"/>
                </a:solidFill>
                <a:latin typeface="Arial"/>
                <a:ea typeface="Arial"/>
                <a:cs typeface="Arial"/>
                <a:sym typeface="Arial"/>
              </a:rPr>
              <a:t>Overview</a:t>
            </a:r>
            <a:r>
              <a:rPr lang="en-US" sz="1800" b="0" i="0" u="none" strike="noStrike" cap="none" dirty="0">
                <a:solidFill>
                  <a:schemeClr val="dk1"/>
                </a:solidFill>
                <a:latin typeface="Arial"/>
                <a:ea typeface="Arial"/>
                <a:cs typeface="Arial"/>
                <a:sym typeface="Arial"/>
              </a:rPr>
              <a:t> on the left sidebar</a:t>
            </a: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You will only see </a:t>
            </a:r>
            <a:r>
              <a:rPr lang="en-US" sz="1800" b="1" i="0" u="none" strike="noStrike" cap="none" dirty="0">
                <a:solidFill>
                  <a:schemeClr val="dk1"/>
                </a:solidFill>
                <a:latin typeface="Arial"/>
                <a:ea typeface="Arial"/>
                <a:cs typeface="Arial"/>
                <a:sym typeface="Arial"/>
              </a:rPr>
              <a:t>Figure 1 </a:t>
            </a:r>
            <a:r>
              <a:rPr lang="en-US" sz="1800" b="0" i="0" u="none" strike="noStrike" cap="none" dirty="0">
                <a:solidFill>
                  <a:schemeClr val="dk1"/>
                </a:solidFill>
                <a:latin typeface="Arial"/>
                <a:ea typeface="Arial"/>
                <a:cs typeface="Arial"/>
                <a:sym typeface="Arial"/>
              </a:rPr>
              <a:t>if you uncheck the preload sample data. Click </a:t>
            </a:r>
            <a:r>
              <a:rPr lang="en-US" sz="1800" b="1" i="0" u="none" strike="noStrike" cap="none" dirty="0">
                <a:solidFill>
                  <a:schemeClr val="dk1"/>
                </a:solidFill>
                <a:latin typeface="Arial"/>
                <a:ea typeface="Arial"/>
                <a:cs typeface="Arial"/>
                <a:sym typeface="Arial"/>
              </a:rPr>
              <a:t>Add Data</a:t>
            </a:r>
            <a:r>
              <a:rPr lang="en-US" sz="1800" b="0" i="0" u="none" strike="noStrike" cap="none" dirty="0">
                <a:solidFill>
                  <a:schemeClr val="dk1"/>
                </a:solidFill>
                <a:latin typeface="Arial"/>
                <a:ea typeface="Arial"/>
                <a:cs typeface="Arial"/>
                <a:sym typeface="Arial"/>
              </a:rPr>
              <a:t>. </a:t>
            </a: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If you see </a:t>
            </a:r>
            <a:r>
              <a:rPr lang="en-US" sz="1800" b="1" i="0" u="none" strike="noStrike" cap="none" dirty="0">
                <a:solidFill>
                  <a:schemeClr val="dk1"/>
                </a:solidFill>
                <a:latin typeface="Arial"/>
                <a:ea typeface="Arial"/>
                <a:cs typeface="Arial"/>
                <a:sym typeface="Arial"/>
              </a:rPr>
              <a:t>Figure 2</a:t>
            </a:r>
            <a:r>
              <a:rPr lang="en-US" sz="1800" b="0" i="0" u="none" strike="noStrike" cap="none" dirty="0">
                <a:solidFill>
                  <a:schemeClr val="dk1"/>
                </a:solidFill>
                <a:latin typeface="Arial"/>
                <a:ea typeface="Arial"/>
                <a:cs typeface="Arial"/>
                <a:sym typeface="Arial"/>
              </a:rPr>
              <a:t>, click on  </a:t>
            </a:r>
            <a:r>
              <a:rPr lang="en-US" sz="1800" b="1" i="0" u="none" strike="noStrike" cap="none" dirty="0">
                <a:solidFill>
                  <a:schemeClr val="dk1"/>
                </a:solidFill>
                <a:latin typeface="Arial"/>
                <a:ea typeface="Arial"/>
                <a:cs typeface="Arial"/>
                <a:sym typeface="Arial"/>
              </a:rPr>
              <a:t>Browse collections </a:t>
            </a:r>
            <a:r>
              <a:rPr lang="en-US" sz="1800" b="0" i="0" u="none" strike="noStrike" cap="none" dirty="0">
                <a:solidFill>
                  <a:schemeClr val="dk1"/>
                </a:solidFill>
                <a:latin typeface="Arial"/>
                <a:ea typeface="Arial"/>
                <a:cs typeface="Arial"/>
                <a:sym typeface="Arial"/>
              </a:rPr>
              <a:t>instead.</a:t>
            </a:r>
            <a:endParaRPr sz="1800" b="0" i="0" u="none" strike="noStrike" cap="none" dirty="0">
              <a:solidFill>
                <a:schemeClr val="dk1"/>
              </a:solidFill>
              <a:latin typeface="Arial"/>
              <a:ea typeface="Arial"/>
              <a:cs typeface="Arial"/>
              <a:sym typeface="Arial"/>
            </a:endParaRPr>
          </a:p>
        </p:txBody>
      </p:sp>
      <p:grpSp>
        <p:nvGrpSpPr>
          <p:cNvPr id="207" name="Google Shape;207;g36e7437085d_0_68"/>
          <p:cNvGrpSpPr/>
          <p:nvPr/>
        </p:nvGrpSpPr>
        <p:grpSpPr>
          <a:xfrm>
            <a:off x="8005875" y="1536192"/>
            <a:ext cx="3897950" cy="5146200"/>
            <a:chOff x="8005875" y="1536192"/>
            <a:chExt cx="3897950" cy="5146200"/>
          </a:xfrm>
        </p:grpSpPr>
        <p:sp>
          <p:nvSpPr>
            <p:cNvPr id="208" name="Google Shape;208;g36e7437085d_0_68"/>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209" name="Google Shape;209;g36e7437085d_0_68"/>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10" name="Google Shape;210;g36e7437085d_0_68"/>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211" name="Google Shape;211;g36e7437085d_0_68" descr="Pencil with solid fill"/>
            <p:cNvPicPr preferRelativeResize="0"/>
            <p:nvPr/>
          </p:nvPicPr>
          <p:blipFill rotWithShape="1">
            <a:blip r:embed="rId3">
              <a:alphaModFix/>
            </a:blip>
            <a:srcRect/>
            <a:stretch/>
          </p:blipFill>
          <p:spPr>
            <a:xfrm>
              <a:off x="8089175" y="1625313"/>
              <a:ext cx="432086" cy="432086"/>
            </a:xfrm>
            <a:prstGeom prst="rect">
              <a:avLst/>
            </a:prstGeom>
            <a:noFill/>
            <a:ln>
              <a:noFill/>
            </a:ln>
          </p:spPr>
        </p:pic>
      </p:grpSp>
      <p:pic>
        <p:nvPicPr>
          <p:cNvPr id="212" name="Google Shape;212;g36e7437085d_0_68"/>
          <p:cNvPicPr preferRelativeResize="0"/>
          <p:nvPr/>
        </p:nvPicPr>
        <p:blipFill rotWithShape="1">
          <a:blip r:embed="rId4">
            <a:alphaModFix/>
          </a:blip>
          <a:srcRect/>
          <a:stretch/>
        </p:blipFill>
        <p:spPr>
          <a:xfrm>
            <a:off x="368102" y="1784627"/>
            <a:ext cx="4764540" cy="2518976"/>
          </a:xfrm>
          <a:prstGeom prst="rect">
            <a:avLst/>
          </a:prstGeom>
          <a:noFill/>
          <a:ln w="15875" cap="flat" cmpd="sng">
            <a:solidFill>
              <a:schemeClr val="accent1"/>
            </a:solidFill>
            <a:prstDash val="solid"/>
            <a:round/>
            <a:headEnd type="none" w="sm" len="sm"/>
            <a:tailEnd type="none" w="sm" len="sm"/>
          </a:ln>
        </p:spPr>
      </p:pic>
      <p:pic>
        <p:nvPicPr>
          <p:cNvPr id="213" name="Google Shape;213;g36e7437085d_0_68"/>
          <p:cNvPicPr preferRelativeResize="0"/>
          <p:nvPr/>
        </p:nvPicPr>
        <p:blipFill rotWithShape="1">
          <a:blip r:embed="rId5">
            <a:alphaModFix/>
          </a:blip>
          <a:srcRect/>
          <a:stretch/>
        </p:blipFill>
        <p:spPr>
          <a:xfrm>
            <a:off x="347543" y="4506066"/>
            <a:ext cx="4977469" cy="1896619"/>
          </a:xfrm>
          <a:prstGeom prst="rect">
            <a:avLst/>
          </a:prstGeom>
          <a:noFill/>
          <a:ln w="15875" cap="flat" cmpd="sng">
            <a:solidFill>
              <a:schemeClr val="accent1"/>
            </a:solidFill>
            <a:prstDash val="solid"/>
            <a:round/>
            <a:headEnd type="none" w="sm" len="sm"/>
            <a:tailEnd type="none" w="sm" len="sm"/>
          </a:ln>
        </p:spPr>
      </p:pic>
      <p:sp>
        <p:nvSpPr>
          <p:cNvPr id="214" name="Google Shape;214;g36e7437085d_0_68"/>
          <p:cNvSpPr txBox="1"/>
          <p:nvPr/>
        </p:nvSpPr>
        <p:spPr>
          <a:xfrm>
            <a:off x="5021820" y="2981370"/>
            <a:ext cx="1883664"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Figure 1</a:t>
            </a:r>
            <a:endParaRPr sz="1400" b="0" i="0" u="none" strike="noStrike" cap="none" dirty="0">
              <a:solidFill>
                <a:srgbClr val="000000"/>
              </a:solidFill>
              <a:latin typeface="Arial"/>
              <a:ea typeface="Arial"/>
              <a:cs typeface="Arial"/>
              <a:sym typeface="Arial"/>
            </a:endParaRPr>
          </a:p>
        </p:txBody>
      </p:sp>
      <p:sp>
        <p:nvSpPr>
          <p:cNvPr id="215" name="Google Shape;215;g36e7437085d_0_68"/>
          <p:cNvSpPr txBox="1"/>
          <p:nvPr/>
        </p:nvSpPr>
        <p:spPr>
          <a:xfrm>
            <a:off x="5021820" y="5569095"/>
            <a:ext cx="1883664"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Figure 2</a:t>
            </a:r>
            <a:endParaRPr sz="1400" b="0" i="0" u="none" strike="noStrike" cap="none" dirty="0">
              <a:solidFill>
                <a:srgbClr val="000000"/>
              </a:solidFill>
              <a:latin typeface="Arial"/>
              <a:ea typeface="Arial"/>
              <a:cs typeface="Arial"/>
              <a:sym typeface="Arial"/>
            </a:endParaRPr>
          </a:p>
        </p:txBody>
      </p:sp>
      <p:sp>
        <p:nvSpPr>
          <p:cNvPr id="216" name="Google Shape;216;g36e7437085d_0_68"/>
          <p:cNvSpPr txBox="1"/>
          <p:nvPr/>
        </p:nvSpPr>
        <p:spPr>
          <a:xfrm>
            <a:off x="256370" y="1328956"/>
            <a:ext cx="7248586" cy="44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Let’s try to create a database in our cluster</a:t>
            </a:r>
            <a:endParaRPr sz="2300" b="1"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g36e7437085d_0_76"/>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Create a Database using Altas</a:t>
            </a:r>
            <a:endParaRPr/>
          </a:p>
        </p:txBody>
      </p:sp>
      <p:sp>
        <p:nvSpPr>
          <p:cNvPr id="222" name="Google Shape;222;g36e7437085d_0_76"/>
          <p:cNvSpPr txBox="1"/>
          <p:nvPr/>
        </p:nvSpPr>
        <p:spPr>
          <a:xfrm>
            <a:off x="7893099" y="2222565"/>
            <a:ext cx="3974300" cy="45768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There are several different screens for you to add data. </a:t>
            </a:r>
            <a:endParaRPr dirty="0"/>
          </a:p>
          <a:p>
            <a:pPr marL="457200" marR="0" lvl="0" indent="-355600" algn="l" rtl="0">
              <a:lnSpc>
                <a:spcPct val="100000"/>
              </a:lnSpc>
              <a:spcBef>
                <a:spcPts val="0"/>
              </a:spcBef>
              <a:spcAft>
                <a:spcPts val="0"/>
              </a:spcAft>
              <a:buClr>
                <a:schemeClr val="dk1"/>
              </a:buClr>
              <a:buSzPts val="2000"/>
              <a:buFont typeface="Arial"/>
              <a:buChar char="•"/>
            </a:pPr>
            <a:r>
              <a:rPr lang="en-US" sz="1800" b="1" i="0" u="none" strike="noStrike" cap="none" dirty="0">
                <a:solidFill>
                  <a:schemeClr val="dk1"/>
                </a:solidFill>
                <a:latin typeface="Arial"/>
                <a:ea typeface="Arial"/>
                <a:cs typeface="Arial"/>
                <a:sym typeface="Arial"/>
              </a:rPr>
              <a:t>Figures 1</a:t>
            </a:r>
            <a:r>
              <a:rPr lang="en-US" sz="1800" b="0" i="0" u="none" strike="noStrike" cap="none" dirty="0">
                <a:solidFill>
                  <a:schemeClr val="dk1"/>
                </a:solidFill>
                <a:latin typeface="Arial"/>
                <a:ea typeface="Arial"/>
                <a:cs typeface="Arial"/>
                <a:sym typeface="Arial"/>
              </a:rPr>
              <a:t> and </a:t>
            </a:r>
            <a:r>
              <a:rPr lang="en-US" sz="1800" b="1" i="0" u="none" strike="noStrike" cap="none" dirty="0">
                <a:solidFill>
                  <a:schemeClr val="dk1"/>
                </a:solidFill>
                <a:latin typeface="Arial"/>
                <a:ea typeface="Arial"/>
                <a:cs typeface="Arial"/>
                <a:sym typeface="Arial"/>
              </a:rPr>
              <a:t>2</a:t>
            </a:r>
            <a:r>
              <a:rPr lang="en-US" sz="1800" b="0" i="0" u="none" strike="noStrike" cap="none" dirty="0">
                <a:solidFill>
                  <a:schemeClr val="dk1"/>
                </a:solidFill>
                <a:latin typeface="Arial"/>
                <a:ea typeface="Arial"/>
                <a:cs typeface="Arial"/>
                <a:sym typeface="Arial"/>
              </a:rPr>
              <a:t> are two different screens that you may see, depending on your previous selection and if you choose to check or uncheck the preload sample data option.</a:t>
            </a: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Should you see any sample collection created by MongoDB, you can drop all of them.</a:t>
            </a:r>
            <a:endParaRPr dirty="0"/>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If you see </a:t>
            </a:r>
            <a:r>
              <a:rPr lang="en-US" sz="1800" b="1" i="0" u="none" strike="noStrike" cap="none" dirty="0">
                <a:solidFill>
                  <a:schemeClr val="dk1"/>
                </a:solidFill>
                <a:latin typeface="Arial"/>
                <a:ea typeface="Arial"/>
                <a:cs typeface="Arial"/>
                <a:sym typeface="Arial"/>
              </a:rPr>
              <a:t>Figure 3</a:t>
            </a:r>
            <a:r>
              <a:rPr lang="en-US" sz="1800" b="0" i="0" u="none" strike="noStrike" cap="none" dirty="0">
                <a:solidFill>
                  <a:schemeClr val="dk1"/>
                </a:solidFill>
                <a:latin typeface="Arial"/>
                <a:ea typeface="Arial"/>
                <a:cs typeface="Arial"/>
                <a:sym typeface="Arial"/>
              </a:rPr>
              <a:t>, Click on </a:t>
            </a:r>
            <a:r>
              <a:rPr lang="en-US" sz="1800" b="1" i="0" u="none" strike="noStrike" cap="none" dirty="0">
                <a:solidFill>
                  <a:schemeClr val="dk1"/>
                </a:solidFill>
                <a:latin typeface="Arial"/>
                <a:ea typeface="Arial"/>
                <a:cs typeface="Arial"/>
                <a:sym typeface="Arial"/>
              </a:rPr>
              <a:t>START</a:t>
            </a:r>
            <a:r>
              <a:rPr lang="en-US" sz="1800" b="0" i="0" u="none" strike="noStrike" cap="none" dirty="0">
                <a:solidFill>
                  <a:schemeClr val="dk1"/>
                </a:solidFill>
                <a:latin typeface="Arial"/>
                <a:ea typeface="Arial"/>
                <a:cs typeface="Arial"/>
                <a:sym typeface="Arial"/>
              </a:rPr>
              <a:t> and if you see </a:t>
            </a:r>
            <a:r>
              <a:rPr lang="en-US" sz="1800" b="1" i="0" u="none" strike="noStrike" cap="none" dirty="0">
                <a:solidFill>
                  <a:schemeClr val="dk1"/>
                </a:solidFill>
                <a:latin typeface="Arial"/>
                <a:ea typeface="Arial"/>
                <a:cs typeface="Arial"/>
                <a:sym typeface="Arial"/>
              </a:rPr>
              <a:t>Figure 4</a:t>
            </a:r>
            <a:r>
              <a:rPr lang="en-US" sz="1800" b="0" i="0" u="none" strike="noStrike" cap="none" dirty="0">
                <a:solidFill>
                  <a:schemeClr val="dk1"/>
                </a:solidFill>
                <a:latin typeface="Arial"/>
                <a:ea typeface="Arial"/>
                <a:cs typeface="Arial"/>
                <a:sym typeface="Arial"/>
              </a:rPr>
              <a:t>, click </a:t>
            </a:r>
            <a:r>
              <a:rPr lang="en-US" sz="1800" b="1" i="0" u="none" strike="noStrike" cap="none" dirty="0">
                <a:solidFill>
                  <a:schemeClr val="dk1"/>
                </a:solidFill>
                <a:latin typeface="Arial"/>
                <a:ea typeface="Arial"/>
                <a:cs typeface="Arial"/>
                <a:sym typeface="Arial"/>
              </a:rPr>
              <a:t>Add My Own Data</a:t>
            </a:r>
            <a:r>
              <a:rPr lang="en-US" sz="1800" dirty="0">
                <a:solidFill>
                  <a:schemeClr val="dk1"/>
                </a:solidFill>
              </a:rPr>
              <a:t>.</a:t>
            </a:r>
            <a:endParaRPr sz="1800" b="0" i="0" u="none" strike="noStrike" cap="none" dirty="0">
              <a:solidFill>
                <a:schemeClr val="dk1"/>
              </a:solidFill>
              <a:latin typeface="Arial"/>
              <a:ea typeface="Arial"/>
              <a:cs typeface="Arial"/>
              <a:sym typeface="Arial"/>
            </a:endParaRPr>
          </a:p>
        </p:txBody>
      </p:sp>
      <p:grpSp>
        <p:nvGrpSpPr>
          <p:cNvPr id="223" name="Google Shape;223;g36e7437085d_0_76"/>
          <p:cNvGrpSpPr/>
          <p:nvPr/>
        </p:nvGrpSpPr>
        <p:grpSpPr>
          <a:xfrm>
            <a:off x="8005875" y="1536192"/>
            <a:ext cx="3897950" cy="5146200"/>
            <a:chOff x="8005875" y="1536192"/>
            <a:chExt cx="3897950" cy="5146200"/>
          </a:xfrm>
        </p:grpSpPr>
        <p:sp>
          <p:nvSpPr>
            <p:cNvPr id="224" name="Google Shape;224;g36e7437085d_0_76"/>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225" name="Google Shape;225;g36e7437085d_0_76"/>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26" name="Google Shape;226;g36e7437085d_0_76"/>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227" name="Google Shape;227;g36e7437085d_0_76" descr="Pencil with solid fill"/>
            <p:cNvPicPr preferRelativeResize="0"/>
            <p:nvPr/>
          </p:nvPicPr>
          <p:blipFill rotWithShape="1">
            <a:blip r:embed="rId3">
              <a:alphaModFix/>
            </a:blip>
            <a:srcRect/>
            <a:stretch/>
          </p:blipFill>
          <p:spPr>
            <a:xfrm>
              <a:off x="8089175" y="1625313"/>
              <a:ext cx="432086" cy="432086"/>
            </a:xfrm>
            <a:prstGeom prst="rect">
              <a:avLst/>
            </a:prstGeom>
            <a:noFill/>
            <a:ln>
              <a:noFill/>
            </a:ln>
          </p:spPr>
        </p:pic>
      </p:grpSp>
      <p:pic>
        <p:nvPicPr>
          <p:cNvPr id="228" name="Google Shape;228;g36e7437085d_0_76"/>
          <p:cNvPicPr preferRelativeResize="0"/>
          <p:nvPr/>
        </p:nvPicPr>
        <p:blipFill rotWithShape="1">
          <a:blip r:embed="rId4">
            <a:alphaModFix/>
          </a:blip>
          <a:srcRect/>
          <a:stretch/>
        </p:blipFill>
        <p:spPr>
          <a:xfrm>
            <a:off x="3977990" y="2611906"/>
            <a:ext cx="3915109" cy="3289146"/>
          </a:xfrm>
          <a:prstGeom prst="rect">
            <a:avLst/>
          </a:prstGeom>
          <a:noFill/>
          <a:ln w="15875" cap="flat" cmpd="sng">
            <a:solidFill>
              <a:schemeClr val="accent1"/>
            </a:solidFill>
            <a:prstDash val="solid"/>
            <a:round/>
            <a:headEnd type="none" w="sm" len="sm"/>
            <a:tailEnd type="none" w="sm" len="sm"/>
          </a:ln>
        </p:spPr>
      </p:pic>
      <p:pic>
        <p:nvPicPr>
          <p:cNvPr id="229" name="Google Shape;229;g36e7437085d_0_76"/>
          <p:cNvPicPr preferRelativeResize="0"/>
          <p:nvPr/>
        </p:nvPicPr>
        <p:blipFill rotWithShape="1">
          <a:blip r:embed="rId5">
            <a:alphaModFix/>
          </a:blip>
          <a:srcRect/>
          <a:stretch/>
        </p:blipFill>
        <p:spPr>
          <a:xfrm>
            <a:off x="336720" y="1952244"/>
            <a:ext cx="3630903" cy="4314096"/>
          </a:xfrm>
          <a:prstGeom prst="rect">
            <a:avLst/>
          </a:prstGeom>
          <a:noFill/>
          <a:ln w="15875" cap="flat" cmpd="sng">
            <a:solidFill>
              <a:schemeClr val="accent1"/>
            </a:solidFill>
            <a:prstDash val="solid"/>
            <a:round/>
            <a:headEnd type="none" w="sm" len="sm"/>
            <a:tailEnd type="none" w="sm" len="sm"/>
          </a:ln>
        </p:spPr>
      </p:pic>
      <p:sp>
        <p:nvSpPr>
          <p:cNvPr id="230" name="Google Shape;230;g36e7437085d_0_76"/>
          <p:cNvSpPr txBox="1"/>
          <p:nvPr/>
        </p:nvSpPr>
        <p:spPr>
          <a:xfrm>
            <a:off x="1060704" y="6266340"/>
            <a:ext cx="1883664"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Figure 3</a:t>
            </a:r>
            <a:endParaRPr sz="1400" b="0" i="0" u="none" strike="noStrike" cap="none" dirty="0">
              <a:solidFill>
                <a:srgbClr val="000000"/>
              </a:solidFill>
              <a:latin typeface="Arial"/>
              <a:ea typeface="Arial"/>
              <a:cs typeface="Arial"/>
              <a:sym typeface="Arial"/>
            </a:endParaRPr>
          </a:p>
        </p:txBody>
      </p:sp>
      <p:sp>
        <p:nvSpPr>
          <p:cNvPr id="231" name="Google Shape;231;g36e7437085d_0_76"/>
          <p:cNvSpPr txBox="1"/>
          <p:nvPr/>
        </p:nvSpPr>
        <p:spPr>
          <a:xfrm>
            <a:off x="5154168" y="6290393"/>
            <a:ext cx="1883664"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Figure 4</a:t>
            </a:r>
            <a:endParaRPr sz="1400" b="0" i="0" u="none" strike="noStrike" cap="none" dirty="0">
              <a:solidFill>
                <a:srgbClr val="000000"/>
              </a:solidFill>
              <a:latin typeface="Arial"/>
              <a:ea typeface="Arial"/>
              <a:cs typeface="Arial"/>
              <a:sym typeface="Arial"/>
            </a:endParaRPr>
          </a:p>
        </p:txBody>
      </p:sp>
      <p:sp>
        <p:nvSpPr>
          <p:cNvPr id="232" name="Google Shape;232;g36e7437085d_0_76"/>
          <p:cNvSpPr txBox="1"/>
          <p:nvPr/>
        </p:nvSpPr>
        <p:spPr>
          <a:xfrm>
            <a:off x="256370" y="1328956"/>
            <a:ext cx="5922485" cy="44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Add Data</a:t>
            </a:r>
            <a:endParaRPr sz="2300" b="1"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g36e7437085d_0_84"/>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Create a Database using Altas</a:t>
            </a:r>
            <a:endParaRPr/>
          </a:p>
        </p:txBody>
      </p:sp>
      <p:sp>
        <p:nvSpPr>
          <p:cNvPr id="238" name="Google Shape;238;g36e7437085d_0_84"/>
          <p:cNvSpPr txBox="1"/>
          <p:nvPr/>
        </p:nvSpPr>
        <p:spPr>
          <a:xfrm>
            <a:off x="250163" y="956948"/>
            <a:ext cx="11672100" cy="1329052"/>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2400"/>
              </a:spcBef>
              <a:spcAft>
                <a:spcPts val="0"/>
              </a:spcAft>
              <a:buClr>
                <a:srgbClr val="000000"/>
              </a:buClr>
              <a:buSzPts val="2300"/>
              <a:buFont typeface="Arial"/>
              <a:buNone/>
            </a:pPr>
            <a:r>
              <a:rPr lang="en-US" sz="2300" b="1" i="0" u="none" strike="noStrike" cap="none">
                <a:solidFill>
                  <a:srgbClr val="000000"/>
                </a:solidFill>
                <a:latin typeface="Arial"/>
                <a:ea typeface="Arial"/>
                <a:cs typeface="Arial"/>
                <a:sym typeface="Arial"/>
              </a:rPr>
              <a:t>Add Data </a:t>
            </a:r>
            <a:endParaRPr sz="2800" b="1" i="0" u="none" strike="noStrike" cap="none">
              <a:solidFill>
                <a:srgbClr val="000000"/>
              </a:solidFill>
              <a:latin typeface="Arial"/>
              <a:ea typeface="Arial"/>
              <a:cs typeface="Arial"/>
              <a:sym typeface="Arial"/>
            </a:endParaRPr>
          </a:p>
          <a:p>
            <a:pPr marL="0" marR="0" lvl="0" indent="0" algn="just" rtl="0">
              <a:lnSpc>
                <a:spcPct val="100000"/>
              </a:lnSpc>
              <a:spcBef>
                <a:spcPts val="60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239" name="Google Shape;239;g36e7437085d_0_84"/>
          <p:cNvSpPr txBox="1"/>
          <p:nvPr/>
        </p:nvSpPr>
        <p:spPr>
          <a:xfrm>
            <a:off x="7914435" y="2226568"/>
            <a:ext cx="3861524" cy="4576800"/>
          </a:xfrm>
          <a:prstGeom prst="rect">
            <a:avLst/>
          </a:prstGeom>
          <a:noFill/>
          <a:ln>
            <a:noFill/>
          </a:ln>
        </p:spPr>
        <p:txBody>
          <a:bodyPr spcFirstLastPara="1" wrap="square" lIns="91425" tIns="91425" rIns="91425" bIns="91425" anchor="t" anchorCtr="0">
            <a:noAutofit/>
          </a:bodyPr>
          <a:lstStyle/>
          <a:p>
            <a:pPr marL="558800" marR="0" lvl="0" indent="-4572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Either screen, </a:t>
            </a:r>
            <a:r>
              <a:rPr lang="en-US" sz="1800" b="1" i="0" u="none" strike="noStrike" cap="none" dirty="0">
                <a:solidFill>
                  <a:schemeClr val="dk1"/>
                </a:solidFill>
                <a:latin typeface="Arial"/>
                <a:ea typeface="Arial"/>
                <a:cs typeface="Arial"/>
                <a:sym typeface="Arial"/>
              </a:rPr>
              <a:t>Figures 5</a:t>
            </a:r>
            <a:r>
              <a:rPr lang="en-US" sz="1800" b="0" i="0" u="none" strike="noStrike" cap="none" dirty="0">
                <a:solidFill>
                  <a:schemeClr val="dk1"/>
                </a:solidFill>
                <a:latin typeface="Arial"/>
                <a:ea typeface="Arial"/>
                <a:cs typeface="Arial"/>
                <a:sym typeface="Arial"/>
              </a:rPr>
              <a:t> or </a:t>
            </a:r>
            <a:r>
              <a:rPr lang="en-US" sz="1800" b="1" i="0" u="none" strike="noStrike" cap="none" dirty="0">
                <a:solidFill>
                  <a:schemeClr val="dk1"/>
                </a:solidFill>
                <a:latin typeface="Arial"/>
                <a:ea typeface="Arial"/>
                <a:cs typeface="Arial"/>
                <a:sym typeface="Arial"/>
              </a:rPr>
              <a:t>6</a:t>
            </a:r>
            <a:r>
              <a:rPr lang="en-US" sz="1800" b="0" i="0" u="none" strike="noStrike" cap="none" dirty="0">
                <a:solidFill>
                  <a:schemeClr val="dk1"/>
                </a:solidFill>
                <a:latin typeface="Arial"/>
                <a:ea typeface="Arial"/>
                <a:cs typeface="Arial"/>
                <a:sym typeface="Arial"/>
              </a:rPr>
              <a:t> will show up depending on the choices you made before.</a:t>
            </a:r>
            <a:endParaRPr dirty="0"/>
          </a:p>
          <a:p>
            <a:pPr marL="558800" marR="0" lvl="0" indent="-4572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Enter Database name: </a:t>
            </a:r>
            <a:br>
              <a:rPr lang="en-US" sz="1800" b="0" i="0" u="none" strike="noStrike" cap="none" dirty="0">
                <a:solidFill>
                  <a:schemeClr val="dk1"/>
                </a:solidFill>
                <a:latin typeface="Arial"/>
                <a:ea typeface="Arial"/>
                <a:cs typeface="Arial"/>
                <a:sym typeface="Arial"/>
              </a:rPr>
            </a:br>
            <a:r>
              <a:rPr lang="en-US" sz="1800" b="1" i="0" u="none" strike="noStrike" cap="none" dirty="0" err="1">
                <a:solidFill>
                  <a:schemeClr val="dk1"/>
                </a:solidFill>
                <a:latin typeface="Arial"/>
                <a:ea typeface="Arial"/>
                <a:cs typeface="Arial"/>
                <a:sym typeface="Arial"/>
              </a:rPr>
              <a:t>pawpal</a:t>
            </a:r>
            <a:r>
              <a:rPr lang="en-US" sz="1800" b="1" i="0" u="none" strike="noStrike" cap="none" dirty="0">
                <a:solidFill>
                  <a:schemeClr val="dk1"/>
                </a:solidFill>
                <a:latin typeface="Arial"/>
                <a:ea typeface="Arial"/>
                <a:cs typeface="Arial"/>
                <a:sym typeface="Arial"/>
              </a:rPr>
              <a:t>-test</a:t>
            </a:r>
            <a:endParaRPr sz="1800" b="1" i="0" u="none" strike="noStrike" cap="none" dirty="0">
              <a:solidFill>
                <a:schemeClr val="dk1"/>
              </a:solidFill>
              <a:latin typeface="Arial"/>
              <a:ea typeface="Arial"/>
              <a:cs typeface="Arial"/>
              <a:sym typeface="Arial"/>
            </a:endParaRPr>
          </a:p>
          <a:p>
            <a:pPr marL="0" marR="0" lvl="2" indent="0" algn="l" rtl="0">
              <a:lnSpc>
                <a:spcPct val="100000"/>
              </a:lnSpc>
              <a:spcBef>
                <a:spcPts val="0"/>
              </a:spcBef>
              <a:spcAft>
                <a:spcPts val="0"/>
              </a:spcAft>
              <a:buNone/>
            </a:pPr>
            <a:r>
              <a:rPr lang="en-US" sz="1800" b="0" i="0" u="none" strike="noStrike" cap="none" dirty="0">
                <a:solidFill>
                  <a:schemeClr val="dk1"/>
                </a:solidFill>
                <a:latin typeface="Arial"/>
                <a:ea typeface="Arial"/>
                <a:cs typeface="Arial"/>
                <a:sym typeface="Arial"/>
              </a:rPr>
              <a:t>         Collection name : </a:t>
            </a:r>
            <a:r>
              <a:rPr lang="en-US" sz="1800" b="1" i="0" u="none" strike="noStrike" cap="none" dirty="0">
                <a:solidFill>
                  <a:schemeClr val="dk1"/>
                </a:solidFill>
                <a:latin typeface="Arial"/>
                <a:ea typeface="Arial"/>
                <a:cs typeface="Arial"/>
                <a:sym typeface="Arial"/>
              </a:rPr>
              <a:t>services</a:t>
            </a:r>
            <a:endParaRPr sz="1800" b="1" i="0" u="none" strike="noStrike" cap="none" dirty="0">
              <a:solidFill>
                <a:schemeClr val="dk1"/>
              </a:solidFill>
              <a:latin typeface="Arial"/>
              <a:ea typeface="Arial"/>
              <a:cs typeface="Arial"/>
              <a:sym typeface="Arial"/>
            </a:endParaRPr>
          </a:p>
          <a:p>
            <a:pPr marL="558800" marR="0" lvl="0" indent="-4572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Click </a:t>
            </a:r>
            <a:r>
              <a:rPr lang="en-US" sz="1800" b="1" i="0" u="none" strike="noStrike" cap="none" dirty="0">
                <a:solidFill>
                  <a:schemeClr val="dk1"/>
                </a:solidFill>
                <a:latin typeface="Arial"/>
                <a:ea typeface="Arial"/>
                <a:cs typeface="Arial"/>
                <a:sym typeface="Arial"/>
              </a:rPr>
              <a:t>Create</a:t>
            </a:r>
            <a:r>
              <a:rPr lang="en-US" sz="1800" b="0" i="0" u="none" strike="noStrike" cap="none" dirty="0">
                <a:solidFill>
                  <a:schemeClr val="dk1"/>
                </a:solidFill>
                <a:latin typeface="Arial"/>
                <a:ea typeface="Arial"/>
                <a:cs typeface="Arial"/>
                <a:sym typeface="Arial"/>
              </a:rPr>
              <a:t>. You might have to scroll down in </a:t>
            </a:r>
            <a:r>
              <a:rPr lang="en-US" sz="1800" b="1" i="0" u="none" strike="noStrike" cap="none" dirty="0">
                <a:solidFill>
                  <a:schemeClr val="dk1"/>
                </a:solidFill>
                <a:latin typeface="Arial"/>
                <a:ea typeface="Arial"/>
                <a:cs typeface="Arial"/>
                <a:sym typeface="Arial"/>
              </a:rPr>
              <a:t>Figure 5</a:t>
            </a:r>
            <a:r>
              <a:rPr lang="en-US" sz="1800" b="0" i="0" u="none" strike="noStrike" cap="none" dirty="0">
                <a:solidFill>
                  <a:schemeClr val="dk1"/>
                </a:solidFill>
                <a:latin typeface="Arial"/>
                <a:ea typeface="Arial"/>
                <a:cs typeface="Arial"/>
                <a:sym typeface="Arial"/>
              </a:rPr>
              <a:t> to see the create button.</a:t>
            </a:r>
            <a:endParaRPr sz="1800" b="0" i="0" u="none" strike="noStrike" cap="none" dirty="0">
              <a:solidFill>
                <a:schemeClr val="dk1"/>
              </a:solidFill>
              <a:latin typeface="Arial"/>
              <a:ea typeface="Arial"/>
              <a:cs typeface="Arial"/>
              <a:sym typeface="Arial"/>
            </a:endParaRPr>
          </a:p>
        </p:txBody>
      </p:sp>
      <p:grpSp>
        <p:nvGrpSpPr>
          <p:cNvPr id="240" name="Google Shape;240;g36e7437085d_0_84"/>
          <p:cNvGrpSpPr/>
          <p:nvPr/>
        </p:nvGrpSpPr>
        <p:grpSpPr>
          <a:xfrm>
            <a:off x="8005875" y="1536192"/>
            <a:ext cx="3897950" cy="5146200"/>
            <a:chOff x="8005875" y="1536192"/>
            <a:chExt cx="3897950" cy="5146200"/>
          </a:xfrm>
        </p:grpSpPr>
        <p:sp>
          <p:nvSpPr>
            <p:cNvPr id="241" name="Google Shape;241;g36e7437085d_0_84"/>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242" name="Google Shape;242;g36e7437085d_0_84"/>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43" name="Google Shape;243;g36e7437085d_0_84"/>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244" name="Google Shape;244;g36e7437085d_0_84" descr="Pencil with solid fill"/>
            <p:cNvPicPr preferRelativeResize="0"/>
            <p:nvPr/>
          </p:nvPicPr>
          <p:blipFill rotWithShape="1">
            <a:blip r:embed="rId3">
              <a:alphaModFix/>
            </a:blip>
            <a:srcRect/>
            <a:stretch/>
          </p:blipFill>
          <p:spPr>
            <a:xfrm>
              <a:off x="8089175" y="1625313"/>
              <a:ext cx="432086" cy="432086"/>
            </a:xfrm>
            <a:prstGeom prst="rect">
              <a:avLst/>
            </a:prstGeom>
            <a:noFill/>
            <a:ln>
              <a:noFill/>
            </a:ln>
          </p:spPr>
        </p:pic>
      </p:grpSp>
      <p:pic>
        <p:nvPicPr>
          <p:cNvPr id="245" name="Google Shape;245;g36e7437085d_0_84"/>
          <p:cNvPicPr preferRelativeResize="0"/>
          <p:nvPr/>
        </p:nvPicPr>
        <p:blipFill rotWithShape="1">
          <a:blip r:embed="rId4">
            <a:alphaModFix/>
          </a:blip>
          <a:srcRect/>
          <a:stretch/>
        </p:blipFill>
        <p:spPr>
          <a:xfrm>
            <a:off x="324601" y="4336462"/>
            <a:ext cx="3582855" cy="2385937"/>
          </a:xfrm>
          <a:prstGeom prst="rect">
            <a:avLst/>
          </a:prstGeom>
          <a:noFill/>
          <a:ln w="9525" cap="flat" cmpd="sng">
            <a:solidFill>
              <a:schemeClr val="accent1"/>
            </a:solidFill>
            <a:prstDash val="solid"/>
            <a:round/>
            <a:headEnd type="none" w="sm" len="sm"/>
            <a:tailEnd type="none" w="sm" len="sm"/>
          </a:ln>
        </p:spPr>
      </p:pic>
      <p:pic>
        <p:nvPicPr>
          <p:cNvPr id="246" name="Google Shape;246;g36e7437085d_0_84"/>
          <p:cNvPicPr preferRelativeResize="0"/>
          <p:nvPr/>
        </p:nvPicPr>
        <p:blipFill rotWithShape="1">
          <a:blip r:embed="rId5">
            <a:alphaModFix/>
          </a:blip>
          <a:srcRect/>
          <a:stretch/>
        </p:blipFill>
        <p:spPr>
          <a:xfrm>
            <a:off x="296755" y="1776740"/>
            <a:ext cx="4927516" cy="2332552"/>
          </a:xfrm>
          <a:prstGeom prst="rect">
            <a:avLst/>
          </a:prstGeom>
          <a:noFill/>
          <a:ln w="9525" cap="flat" cmpd="sng">
            <a:solidFill>
              <a:schemeClr val="accent1"/>
            </a:solidFill>
            <a:prstDash val="solid"/>
            <a:round/>
            <a:headEnd type="none" w="sm" len="sm"/>
            <a:tailEnd type="none" w="sm" len="sm"/>
          </a:ln>
        </p:spPr>
      </p:pic>
      <p:sp>
        <p:nvSpPr>
          <p:cNvPr id="247" name="Google Shape;247;g36e7437085d_0_84"/>
          <p:cNvSpPr txBox="1"/>
          <p:nvPr/>
        </p:nvSpPr>
        <p:spPr>
          <a:xfrm>
            <a:off x="5252117" y="2813446"/>
            <a:ext cx="1883664"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Figure 5</a:t>
            </a:r>
            <a:endParaRPr sz="1400" b="0" i="0" u="none" strike="noStrike" cap="none" dirty="0">
              <a:solidFill>
                <a:srgbClr val="000000"/>
              </a:solidFill>
              <a:latin typeface="Arial"/>
              <a:ea typeface="Arial"/>
              <a:cs typeface="Arial"/>
              <a:sym typeface="Arial"/>
            </a:endParaRPr>
          </a:p>
        </p:txBody>
      </p:sp>
      <p:sp>
        <p:nvSpPr>
          <p:cNvPr id="248" name="Google Shape;248;g36e7437085d_0_84"/>
          <p:cNvSpPr txBox="1"/>
          <p:nvPr/>
        </p:nvSpPr>
        <p:spPr>
          <a:xfrm>
            <a:off x="5252117" y="4883132"/>
            <a:ext cx="1883664"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Figure 6</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g36e7437085d_0_92"/>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Create a Database using Altas</a:t>
            </a:r>
            <a:endParaRPr/>
          </a:p>
        </p:txBody>
      </p:sp>
      <p:sp>
        <p:nvSpPr>
          <p:cNvPr id="254" name="Google Shape;254;g36e7437085d_0_92"/>
          <p:cNvSpPr txBox="1"/>
          <p:nvPr/>
        </p:nvSpPr>
        <p:spPr>
          <a:xfrm>
            <a:off x="7893099" y="2215866"/>
            <a:ext cx="3983444" cy="1033389"/>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Click </a:t>
            </a:r>
            <a:r>
              <a:rPr lang="en-US" sz="1800" b="1" i="0" u="none" strike="noStrike" cap="none" dirty="0">
                <a:solidFill>
                  <a:schemeClr val="dk1"/>
                </a:solidFill>
                <a:latin typeface="Arial"/>
                <a:ea typeface="Arial"/>
                <a:cs typeface="Arial"/>
                <a:sym typeface="Arial"/>
              </a:rPr>
              <a:t>INSERT DOCUMENT</a:t>
            </a:r>
            <a:endParaRPr sz="1800" b="1" i="0" u="none" strike="noStrike" cap="none" dirty="0">
              <a:solidFill>
                <a:schemeClr val="dk1"/>
              </a:solidFill>
              <a:latin typeface="Arial"/>
              <a:ea typeface="Arial"/>
              <a:cs typeface="Arial"/>
              <a:sym typeface="Arial"/>
            </a:endParaRPr>
          </a:p>
        </p:txBody>
      </p:sp>
      <p:pic>
        <p:nvPicPr>
          <p:cNvPr id="255" name="Google Shape;255;g36e7437085d_0_92"/>
          <p:cNvPicPr preferRelativeResize="0"/>
          <p:nvPr/>
        </p:nvPicPr>
        <p:blipFill rotWithShape="1">
          <a:blip r:embed="rId3">
            <a:alphaModFix/>
          </a:blip>
          <a:srcRect/>
          <a:stretch/>
        </p:blipFill>
        <p:spPr>
          <a:xfrm>
            <a:off x="388880" y="2880601"/>
            <a:ext cx="7271015" cy="1963931"/>
          </a:xfrm>
          <a:prstGeom prst="rect">
            <a:avLst/>
          </a:prstGeom>
          <a:noFill/>
          <a:ln>
            <a:noFill/>
          </a:ln>
        </p:spPr>
      </p:pic>
      <p:grpSp>
        <p:nvGrpSpPr>
          <p:cNvPr id="256" name="Google Shape;256;g36e7437085d_0_92"/>
          <p:cNvGrpSpPr/>
          <p:nvPr/>
        </p:nvGrpSpPr>
        <p:grpSpPr>
          <a:xfrm>
            <a:off x="8005875" y="1536192"/>
            <a:ext cx="3897950" cy="5146200"/>
            <a:chOff x="8005875" y="1536192"/>
            <a:chExt cx="3897950" cy="5146200"/>
          </a:xfrm>
        </p:grpSpPr>
        <p:sp>
          <p:nvSpPr>
            <p:cNvPr id="257" name="Google Shape;257;g36e7437085d_0_92"/>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258" name="Google Shape;258;g36e7437085d_0_92"/>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59" name="Google Shape;259;g36e7437085d_0_92"/>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260" name="Google Shape;260;g36e7437085d_0_92" descr="Pencil with solid fill"/>
            <p:cNvPicPr preferRelativeResize="0"/>
            <p:nvPr/>
          </p:nvPicPr>
          <p:blipFill rotWithShape="1">
            <a:blip r:embed="rId4">
              <a:alphaModFix/>
            </a:blip>
            <a:srcRect/>
            <a:stretch/>
          </p:blipFill>
          <p:spPr>
            <a:xfrm>
              <a:off x="8089175" y="1625313"/>
              <a:ext cx="432086" cy="432086"/>
            </a:xfrm>
            <a:prstGeom prst="rect">
              <a:avLst/>
            </a:prstGeom>
            <a:noFill/>
            <a:ln>
              <a:noFill/>
            </a:ln>
          </p:spPr>
        </p:pic>
      </p:grpSp>
      <p:sp>
        <p:nvSpPr>
          <p:cNvPr id="261" name="Google Shape;261;g36e7437085d_0_92"/>
          <p:cNvSpPr/>
          <p:nvPr/>
        </p:nvSpPr>
        <p:spPr>
          <a:xfrm>
            <a:off x="6888155" y="4115711"/>
            <a:ext cx="884516" cy="254000"/>
          </a:xfrm>
          <a:prstGeom prst="rect">
            <a:avLst/>
          </a:prstGeom>
          <a:no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262" name="Google Shape;262;g36e7437085d_0_92"/>
          <p:cNvSpPr txBox="1"/>
          <p:nvPr/>
        </p:nvSpPr>
        <p:spPr>
          <a:xfrm>
            <a:off x="269737" y="1849133"/>
            <a:ext cx="7467493"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600" b="0" i="0" u="none" strike="noStrike" cap="none">
                <a:solidFill>
                  <a:srgbClr val="000000"/>
                </a:solidFill>
                <a:latin typeface="Arial"/>
                <a:ea typeface="Arial"/>
                <a:cs typeface="Arial"/>
                <a:sym typeface="Arial"/>
              </a:rPr>
              <a:t>Now that we have created the database and collection, let us create a new document.</a:t>
            </a:r>
            <a:endParaRPr sz="1600" b="0" i="0" u="none" strike="noStrike" cap="none">
              <a:solidFill>
                <a:srgbClr val="000000"/>
              </a:solidFill>
              <a:latin typeface="Arial"/>
              <a:ea typeface="Arial"/>
              <a:cs typeface="Arial"/>
              <a:sym typeface="Arial"/>
            </a:endParaRPr>
          </a:p>
        </p:txBody>
      </p:sp>
      <p:sp>
        <p:nvSpPr>
          <p:cNvPr id="263" name="Google Shape;263;g36e7437085d_0_92"/>
          <p:cNvSpPr txBox="1"/>
          <p:nvPr/>
        </p:nvSpPr>
        <p:spPr>
          <a:xfrm>
            <a:off x="256370" y="1328956"/>
            <a:ext cx="7027025" cy="44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Add a Document to the collection services</a:t>
            </a:r>
            <a:endParaRPr sz="2300" b="1"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g36e7437085d_0_100"/>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Create a Database using Altas</a:t>
            </a:r>
            <a:endParaRPr/>
          </a:p>
        </p:txBody>
      </p:sp>
      <p:sp>
        <p:nvSpPr>
          <p:cNvPr id="269" name="Google Shape;269;g36e7437085d_0_100"/>
          <p:cNvSpPr txBox="1"/>
          <p:nvPr/>
        </p:nvSpPr>
        <p:spPr>
          <a:xfrm>
            <a:off x="7889486" y="2220030"/>
            <a:ext cx="3968769" cy="4453218"/>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You will see a pop-up window.</a:t>
            </a: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Click on the </a:t>
            </a:r>
            <a:r>
              <a:rPr lang="en-US" sz="1800" b="1" i="0" u="none" strike="noStrike" cap="none" dirty="0">
                <a:solidFill>
                  <a:schemeClr val="dk1"/>
                </a:solidFill>
                <a:latin typeface="Arial"/>
                <a:ea typeface="Arial"/>
                <a:cs typeface="Arial"/>
                <a:sym typeface="Arial"/>
              </a:rPr>
              <a:t>+</a:t>
            </a:r>
            <a:r>
              <a:rPr lang="en-US" sz="1800" b="0" i="0" u="none" strike="noStrike" cap="none" dirty="0">
                <a:solidFill>
                  <a:schemeClr val="dk1"/>
                </a:solidFill>
                <a:latin typeface="Arial"/>
                <a:ea typeface="Arial"/>
                <a:cs typeface="Arial"/>
                <a:sym typeface="Arial"/>
              </a:rPr>
              <a:t> sign to add a new line </a:t>
            </a: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Click on the “text-box” to key in the field names and the values</a:t>
            </a:r>
            <a:endParaRPr sz="1800" b="0" i="0" u="none" strike="noStrike" cap="none" dirty="0">
              <a:solidFill>
                <a:schemeClr val="dk1"/>
              </a:solidFill>
              <a:latin typeface="Arial"/>
              <a:ea typeface="Arial"/>
              <a:cs typeface="Arial"/>
              <a:sym typeface="Arial"/>
            </a:endParaRPr>
          </a:p>
        </p:txBody>
      </p:sp>
      <p:pic>
        <p:nvPicPr>
          <p:cNvPr id="270" name="Google Shape;270;g36e7437085d_0_100"/>
          <p:cNvPicPr preferRelativeResize="0"/>
          <p:nvPr/>
        </p:nvPicPr>
        <p:blipFill rotWithShape="1">
          <a:blip r:embed="rId3">
            <a:alphaModFix/>
          </a:blip>
          <a:srcRect/>
          <a:stretch/>
        </p:blipFill>
        <p:spPr>
          <a:xfrm>
            <a:off x="351017" y="1936672"/>
            <a:ext cx="6419850" cy="4171950"/>
          </a:xfrm>
          <a:prstGeom prst="rect">
            <a:avLst/>
          </a:prstGeom>
          <a:noFill/>
          <a:ln w="9525" cap="flat" cmpd="sng">
            <a:solidFill>
              <a:schemeClr val="accent1"/>
            </a:solidFill>
            <a:prstDash val="solid"/>
            <a:round/>
            <a:headEnd type="none" w="sm" len="sm"/>
            <a:tailEnd type="none" w="sm" len="sm"/>
          </a:ln>
        </p:spPr>
      </p:pic>
      <p:grpSp>
        <p:nvGrpSpPr>
          <p:cNvPr id="271" name="Google Shape;271;g36e7437085d_0_100"/>
          <p:cNvGrpSpPr/>
          <p:nvPr/>
        </p:nvGrpSpPr>
        <p:grpSpPr>
          <a:xfrm>
            <a:off x="8005875" y="1536192"/>
            <a:ext cx="3897950" cy="5146200"/>
            <a:chOff x="8005875" y="1536192"/>
            <a:chExt cx="3897950" cy="5146200"/>
          </a:xfrm>
        </p:grpSpPr>
        <p:sp>
          <p:nvSpPr>
            <p:cNvPr id="272" name="Google Shape;272;g36e7437085d_0_100"/>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273" name="Google Shape;273;g36e7437085d_0_100"/>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74" name="Google Shape;274;g36e7437085d_0_100"/>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275" name="Google Shape;275;g36e7437085d_0_100" descr="Pencil with solid fill"/>
            <p:cNvPicPr preferRelativeResize="0"/>
            <p:nvPr/>
          </p:nvPicPr>
          <p:blipFill rotWithShape="1">
            <a:blip r:embed="rId4">
              <a:alphaModFix/>
            </a:blip>
            <a:srcRect/>
            <a:stretch/>
          </p:blipFill>
          <p:spPr>
            <a:xfrm>
              <a:off x="8089175" y="1625313"/>
              <a:ext cx="432086" cy="432086"/>
            </a:xfrm>
            <a:prstGeom prst="rect">
              <a:avLst/>
            </a:prstGeom>
            <a:noFill/>
            <a:ln>
              <a:noFill/>
            </a:ln>
          </p:spPr>
        </p:pic>
      </p:grpSp>
      <p:sp>
        <p:nvSpPr>
          <p:cNvPr id="276" name="Google Shape;276;g36e7437085d_0_100"/>
          <p:cNvSpPr txBox="1"/>
          <p:nvPr/>
        </p:nvSpPr>
        <p:spPr>
          <a:xfrm>
            <a:off x="256370" y="1328956"/>
            <a:ext cx="7248586" cy="44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Add a Document to the collection services</a:t>
            </a:r>
            <a:endParaRPr sz="2300" b="1" i="0" u="none" strike="noStrike" cap="non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g36e7437085d_0_108"/>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Create a Database using Altas</a:t>
            </a:r>
            <a:endParaRPr/>
          </a:p>
        </p:txBody>
      </p:sp>
      <p:sp>
        <p:nvSpPr>
          <p:cNvPr id="282" name="Google Shape;282;g36e7437085d_0_108"/>
          <p:cNvSpPr txBox="1"/>
          <p:nvPr/>
        </p:nvSpPr>
        <p:spPr>
          <a:xfrm>
            <a:off x="7889023" y="2226258"/>
            <a:ext cx="3922757" cy="4502939"/>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key in these field names and their values as shown</a:t>
            </a:r>
            <a:endParaRPr sz="1800" b="0" i="0" u="none" strike="noStrike" cap="none" dirty="0">
              <a:solidFill>
                <a:schemeClr val="dk1"/>
              </a:solidFill>
              <a:latin typeface="Arial"/>
              <a:ea typeface="Arial"/>
              <a:cs typeface="Arial"/>
              <a:sym typeface="Arial"/>
            </a:endParaRPr>
          </a:p>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dirty="0">
                <a:solidFill>
                  <a:schemeClr val="dk1"/>
                </a:solidFill>
                <a:latin typeface="Arial"/>
                <a:ea typeface="Arial"/>
                <a:cs typeface="Arial"/>
                <a:sym typeface="Arial"/>
              </a:rPr>
              <a:t>Click </a:t>
            </a:r>
            <a:r>
              <a:rPr lang="en-US" sz="1800" b="1" i="0" u="none" strike="noStrike" cap="none" dirty="0">
                <a:solidFill>
                  <a:schemeClr val="dk1"/>
                </a:solidFill>
                <a:latin typeface="Arial"/>
                <a:ea typeface="Arial"/>
                <a:cs typeface="Arial"/>
                <a:sym typeface="Arial"/>
              </a:rPr>
              <a:t>Insert</a:t>
            </a:r>
            <a:r>
              <a:rPr lang="en-US" sz="1800" b="0" i="0" u="none" strike="noStrike" cap="none" dirty="0">
                <a:solidFill>
                  <a:schemeClr val="dk1"/>
                </a:solidFill>
                <a:latin typeface="Arial"/>
                <a:ea typeface="Arial"/>
                <a:cs typeface="Arial"/>
                <a:sym typeface="Arial"/>
              </a:rPr>
              <a:t>.</a:t>
            </a:r>
            <a:endParaRPr sz="1800" b="0" i="0" u="none" strike="noStrike" cap="none" dirty="0">
              <a:solidFill>
                <a:schemeClr val="dk1"/>
              </a:solidFill>
              <a:latin typeface="Arial"/>
              <a:ea typeface="Arial"/>
              <a:cs typeface="Arial"/>
              <a:sym typeface="Arial"/>
            </a:endParaRPr>
          </a:p>
        </p:txBody>
      </p:sp>
      <p:pic>
        <p:nvPicPr>
          <p:cNvPr id="283" name="Google Shape;283;g36e7437085d_0_108"/>
          <p:cNvPicPr preferRelativeResize="0"/>
          <p:nvPr/>
        </p:nvPicPr>
        <p:blipFill rotWithShape="1">
          <a:blip r:embed="rId3">
            <a:alphaModFix/>
          </a:blip>
          <a:srcRect/>
          <a:stretch/>
        </p:blipFill>
        <p:spPr>
          <a:xfrm>
            <a:off x="403588" y="1985440"/>
            <a:ext cx="6181725" cy="4229100"/>
          </a:xfrm>
          <a:prstGeom prst="rect">
            <a:avLst/>
          </a:prstGeom>
          <a:noFill/>
          <a:ln w="9525" cap="flat" cmpd="sng">
            <a:solidFill>
              <a:schemeClr val="accent1"/>
            </a:solidFill>
            <a:prstDash val="solid"/>
            <a:round/>
            <a:headEnd type="none" w="sm" len="sm"/>
            <a:tailEnd type="none" w="sm" len="sm"/>
          </a:ln>
        </p:spPr>
      </p:pic>
      <p:grpSp>
        <p:nvGrpSpPr>
          <p:cNvPr id="284" name="Google Shape;284;g36e7437085d_0_108"/>
          <p:cNvGrpSpPr/>
          <p:nvPr/>
        </p:nvGrpSpPr>
        <p:grpSpPr>
          <a:xfrm>
            <a:off x="8005875" y="1536192"/>
            <a:ext cx="3897950" cy="5146200"/>
            <a:chOff x="8005875" y="1536192"/>
            <a:chExt cx="3897950" cy="5146200"/>
          </a:xfrm>
        </p:grpSpPr>
        <p:sp>
          <p:nvSpPr>
            <p:cNvPr id="285" name="Google Shape;285;g36e7437085d_0_108"/>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286" name="Google Shape;286;g36e7437085d_0_108"/>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87" name="Google Shape;287;g36e7437085d_0_108"/>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288" name="Google Shape;288;g36e7437085d_0_108" descr="Pencil with solid fill"/>
            <p:cNvPicPr preferRelativeResize="0"/>
            <p:nvPr/>
          </p:nvPicPr>
          <p:blipFill rotWithShape="1">
            <a:blip r:embed="rId4">
              <a:alphaModFix/>
            </a:blip>
            <a:srcRect/>
            <a:stretch/>
          </p:blipFill>
          <p:spPr>
            <a:xfrm>
              <a:off x="8089175" y="1625313"/>
              <a:ext cx="432086" cy="432086"/>
            </a:xfrm>
            <a:prstGeom prst="rect">
              <a:avLst/>
            </a:prstGeom>
            <a:noFill/>
            <a:ln>
              <a:noFill/>
            </a:ln>
          </p:spPr>
        </p:pic>
      </p:grpSp>
      <p:sp>
        <p:nvSpPr>
          <p:cNvPr id="289" name="Google Shape;289;g36e7437085d_0_108"/>
          <p:cNvSpPr txBox="1"/>
          <p:nvPr/>
        </p:nvSpPr>
        <p:spPr>
          <a:xfrm>
            <a:off x="256370" y="1328956"/>
            <a:ext cx="7027025" cy="44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Add a Document to the collection services</a:t>
            </a:r>
            <a:endParaRPr sz="2300" b="1"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g36e7437085d_0_116"/>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None/>
            </a:pPr>
            <a:r>
              <a:rPr lang="en-US" sz="2400" b="1" i="0" u="none" strike="noStrike" cap="none">
                <a:solidFill>
                  <a:srgbClr val="11175E"/>
                </a:solidFill>
                <a:latin typeface="Arial"/>
                <a:ea typeface="Arial"/>
                <a:cs typeface="Arial"/>
                <a:sym typeface="Arial"/>
              </a:rPr>
              <a:t>Create a Database using Altas</a:t>
            </a:r>
            <a:endParaRPr/>
          </a:p>
        </p:txBody>
      </p:sp>
      <p:sp>
        <p:nvSpPr>
          <p:cNvPr id="295" name="Google Shape;295;g36e7437085d_0_116"/>
          <p:cNvSpPr txBox="1"/>
          <p:nvPr/>
        </p:nvSpPr>
        <p:spPr>
          <a:xfrm>
            <a:off x="7897047" y="2217710"/>
            <a:ext cx="3932689" cy="4455537"/>
          </a:xfrm>
          <a:prstGeom prst="rect">
            <a:avLst/>
          </a:prstGeom>
          <a:noFill/>
          <a:ln>
            <a:noFill/>
          </a:ln>
        </p:spPr>
        <p:txBody>
          <a:bodyPr spcFirstLastPara="1" wrap="square" lIns="91425" tIns="91425" rIns="91425" bIns="91425" anchor="t" anchorCtr="0">
            <a:noAutofit/>
          </a:bodyPr>
          <a:lstStyle/>
          <a:p>
            <a:pPr marL="457200" marR="0" lvl="0" indent="-355600" algn="l" rtl="0">
              <a:lnSpc>
                <a:spcPct val="100000"/>
              </a:lnSpc>
              <a:spcBef>
                <a:spcPts val="0"/>
              </a:spcBef>
              <a:spcAft>
                <a:spcPts val="0"/>
              </a:spcAft>
              <a:buClr>
                <a:schemeClr val="dk1"/>
              </a:buClr>
              <a:buSzPts val="2000"/>
              <a:buFont typeface="Arial"/>
              <a:buChar char="•"/>
            </a:pPr>
            <a:r>
              <a:rPr lang="en-US" sz="1800" b="0" i="0" u="none" strike="noStrike" cap="none">
                <a:solidFill>
                  <a:schemeClr val="dk1"/>
                </a:solidFill>
                <a:latin typeface="Arial"/>
                <a:ea typeface="Arial"/>
                <a:cs typeface="Arial"/>
                <a:sym typeface="Arial"/>
              </a:rPr>
              <a:t>You will see the newly inserted document.</a:t>
            </a:r>
            <a:endParaRPr sz="1800" b="0" i="0" u="none" strike="noStrike" cap="none">
              <a:solidFill>
                <a:schemeClr val="dk1"/>
              </a:solidFill>
              <a:latin typeface="Arial"/>
              <a:ea typeface="Arial"/>
              <a:cs typeface="Arial"/>
              <a:sym typeface="Arial"/>
            </a:endParaRPr>
          </a:p>
        </p:txBody>
      </p:sp>
      <p:pic>
        <p:nvPicPr>
          <p:cNvPr id="296" name="Google Shape;296;g36e7437085d_0_116"/>
          <p:cNvPicPr preferRelativeResize="0"/>
          <p:nvPr/>
        </p:nvPicPr>
        <p:blipFill rotWithShape="1">
          <a:blip r:embed="rId3">
            <a:alphaModFix/>
          </a:blip>
          <a:srcRect/>
          <a:stretch/>
        </p:blipFill>
        <p:spPr>
          <a:xfrm>
            <a:off x="343976" y="2051963"/>
            <a:ext cx="7496175" cy="4581525"/>
          </a:xfrm>
          <a:prstGeom prst="rect">
            <a:avLst/>
          </a:prstGeom>
          <a:noFill/>
          <a:ln w="9525" cap="flat" cmpd="sng">
            <a:solidFill>
              <a:schemeClr val="accent1"/>
            </a:solidFill>
            <a:prstDash val="solid"/>
            <a:round/>
            <a:headEnd type="none" w="sm" len="sm"/>
            <a:tailEnd type="none" w="sm" len="sm"/>
          </a:ln>
        </p:spPr>
      </p:pic>
      <p:grpSp>
        <p:nvGrpSpPr>
          <p:cNvPr id="297" name="Google Shape;297;g36e7437085d_0_116"/>
          <p:cNvGrpSpPr/>
          <p:nvPr/>
        </p:nvGrpSpPr>
        <p:grpSpPr>
          <a:xfrm>
            <a:off x="8005875" y="1536192"/>
            <a:ext cx="3897950" cy="5146200"/>
            <a:chOff x="8005875" y="1536192"/>
            <a:chExt cx="3897950" cy="5146200"/>
          </a:xfrm>
        </p:grpSpPr>
        <p:sp>
          <p:nvSpPr>
            <p:cNvPr id="298" name="Google Shape;298;g36e7437085d_0_116"/>
            <p:cNvSpPr/>
            <p:nvPr/>
          </p:nvSpPr>
          <p:spPr>
            <a:xfrm>
              <a:off x="8005875" y="1536192"/>
              <a:ext cx="3861524" cy="5146200"/>
            </a:xfrm>
            <a:prstGeom prst="snip1Rect">
              <a:avLst>
                <a:gd name="adj" fmla="val 16667"/>
              </a:avLst>
            </a:prstGeom>
            <a:noFill/>
            <a:ln w="38100" cap="flat" cmpd="sng">
              <a:solidFill>
                <a:srgbClr val="D29B0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299" name="Google Shape;299;g36e7437085d_0_116"/>
            <p:cNvSpPr/>
            <p:nvPr/>
          </p:nvSpPr>
          <p:spPr>
            <a:xfrm>
              <a:off x="8005875" y="1536192"/>
              <a:ext cx="3897950" cy="676656"/>
            </a:xfrm>
            <a:custGeom>
              <a:avLst/>
              <a:gdLst/>
              <a:ahLst/>
              <a:cxnLst/>
              <a:rect l="l" t="t" r="r" b="b"/>
              <a:pathLst>
                <a:path w="3897950" h="676656" extrusionOk="0">
                  <a:moveTo>
                    <a:pt x="0" y="0"/>
                  </a:moveTo>
                  <a:lnTo>
                    <a:pt x="3221294" y="0"/>
                  </a:lnTo>
                  <a:lnTo>
                    <a:pt x="3897950" y="676656"/>
                  </a:lnTo>
                  <a:lnTo>
                    <a:pt x="0" y="676656"/>
                  </a:lnTo>
                  <a:lnTo>
                    <a:pt x="0" y="0"/>
                  </a:lnTo>
                  <a:close/>
                </a:path>
              </a:pathLst>
            </a:custGeom>
            <a:solidFill>
              <a:srgbClr val="D29B0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00" name="Google Shape;300;g36e7437085d_0_116"/>
            <p:cNvSpPr txBox="1"/>
            <p:nvPr/>
          </p:nvSpPr>
          <p:spPr>
            <a:xfrm>
              <a:off x="8458688" y="1672119"/>
              <a:ext cx="290779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chemeClr val="lt1"/>
                  </a:solidFill>
                  <a:latin typeface="Arial"/>
                  <a:ea typeface="Arial"/>
                  <a:cs typeface="Arial"/>
                  <a:sym typeface="Arial"/>
                </a:rPr>
                <a:t>Do this :</a:t>
              </a:r>
              <a:endParaRPr sz="2000" b="0" i="0" u="none" strike="noStrike" cap="none">
                <a:solidFill>
                  <a:schemeClr val="lt1"/>
                </a:solidFill>
                <a:latin typeface="Arial"/>
                <a:ea typeface="Arial"/>
                <a:cs typeface="Arial"/>
                <a:sym typeface="Arial"/>
              </a:endParaRPr>
            </a:p>
          </p:txBody>
        </p:sp>
        <p:pic>
          <p:nvPicPr>
            <p:cNvPr id="301" name="Google Shape;301;g36e7437085d_0_116" descr="Pencil with solid fill"/>
            <p:cNvPicPr preferRelativeResize="0"/>
            <p:nvPr/>
          </p:nvPicPr>
          <p:blipFill rotWithShape="1">
            <a:blip r:embed="rId4">
              <a:alphaModFix/>
            </a:blip>
            <a:srcRect/>
            <a:stretch/>
          </p:blipFill>
          <p:spPr>
            <a:xfrm>
              <a:off x="8089175" y="1625313"/>
              <a:ext cx="432086" cy="432086"/>
            </a:xfrm>
            <a:prstGeom prst="rect">
              <a:avLst/>
            </a:prstGeom>
            <a:noFill/>
            <a:ln>
              <a:noFill/>
            </a:ln>
          </p:spPr>
        </p:pic>
      </p:grpSp>
      <p:sp>
        <p:nvSpPr>
          <p:cNvPr id="302" name="Google Shape;302;g36e7437085d_0_116"/>
          <p:cNvSpPr txBox="1"/>
          <p:nvPr/>
        </p:nvSpPr>
        <p:spPr>
          <a:xfrm>
            <a:off x="256370" y="1328956"/>
            <a:ext cx="6756680" cy="4462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000000"/>
                </a:solidFill>
                <a:latin typeface="Arial"/>
                <a:ea typeface="Arial"/>
                <a:cs typeface="Arial"/>
                <a:sym typeface="Arial"/>
              </a:rPr>
              <a:t>Add a Document to the collection services</a:t>
            </a:r>
            <a:endParaRPr sz="2300" b="1"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g36e7437085d_0_124"/>
          <p:cNvSpPr/>
          <p:nvPr/>
        </p:nvSpPr>
        <p:spPr>
          <a:xfrm>
            <a:off x="231725" y="808175"/>
            <a:ext cx="11672100" cy="350700"/>
          </a:xfrm>
          <a:prstGeom prst="rect">
            <a:avLst/>
          </a:prstGeom>
          <a:solidFill>
            <a:srgbClr val="548135">
              <a:alpha val="0"/>
            </a:srgbClr>
          </a:solidFill>
          <a:ln>
            <a:noFill/>
          </a:ln>
        </p:spPr>
        <p:txBody>
          <a:bodyPr spcFirstLastPara="1" wrap="square" lIns="83850" tIns="0" rIns="83850" bIns="41925" anchor="t" anchorCtr="0">
            <a:noAutofit/>
          </a:bodyPr>
          <a:lstStyle/>
          <a:p>
            <a:pPr marL="0" marR="0" lvl="0" indent="0" algn="l" rtl="0">
              <a:lnSpc>
                <a:spcPct val="90000"/>
              </a:lnSpc>
              <a:spcBef>
                <a:spcPts val="0"/>
              </a:spcBef>
              <a:spcAft>
                <a:spcPts val="0"/>
              </a:spcAft>
              <a:buClr>
                <a:srgbClr val="000000"/>
              </a:buClr>
              <a:buSzPts val="2400"/>
              <a:buFont typeface="Arial"/>
              <a:buNone/>
            </a:pPr>
            <a:r>
              <a:rPr lang="en-US" sz="2400" b="1" i="0" u="none" strike="noStrike" cap="none">
                <a:solidFill>
                  <a:srgbClr val="11175E"/>
                </a:solidFill>
                <a:latin typeface="Arial"/>
                <a:ea typeface="Arial"/>
                <a:cs typeface="Arial"/>
                <a:sym typeface="Arial"/>
              </a:rPr>
              <a:t>What have we learned</a:t>
            </a:r>
            <a:endParaRPr sz="2400" b="1" i="0" u="none" strike="noStrike" cap="none">
              <a:solidFill>
                <a:srgbClr val="11175E"/>
              </a:solidFill>
              <a:latin typeface="Arial"/>
              <a:ea typeface="Arial"/>
              <a:cs typeface="Arial"/>
              <a:sym typeface="Arial"/>
            </a:endParaRPr>
          </a:p>
        </p:txBody>
      </p:sp>
      <p:sp>
        <p:nvSpPr>
          <p:cNvPr id="308" name="Google Shape;308;g36e7437085d_0_124"/>
          <p:cNvSpPr txBox="1"/>
          <p:nvPr/>
        </p:nvSpPr>
        <p:spPr>
          <a:xfrm>
            <a:off x="334963" y="1415332"/>
            <a:ext cx="11568862" cy="273966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600" b="0" i="0" u="none" strike="noStrike" cap="none">
                <a:solidFill>
                  <a:schemeClr val="dk1"/>
                </a:solidFill>
                <a:latin typeface="Arial"/>
                <a:ea typeface="Arial"/>
                <a:cs typeface="Arial"/>
                <a:sym typeface="Arial"/>
              </a:rPr>
              <a:t>In this section, you took your first step toward using a real cloud database by setting up </a:t>
            </a:r>
            <a:r>
              <a:rPr lang="en-US" sz="1600" b="1" i="0" u="none" strike="noStrike" cap="none">
                <a:solidFill>
                  <a:schemeClr val="dk1"/>
                </a:solidFill>
                <a:latin typeface="Arial"/>
                <a:ea typeface="Arial"/>
                <a:cs typeface="Arial"/>
                <a:sym typeface="Arial"/>
              </a:rPr>
              <a:t>MongoDB Atlas</a:t>
            </a:r>
            <a:r>
              <a:rPr lang="en-US" sz="1600" b="0" i="0" u="none" strike="noStrike" cap="none">
                <a:solidFill>
                  <a:schemeClr val="dk1"/>
                </a:solidFill>
                <a:latin typeface="Arial"/>
                <a:ea typeface="Arial"/>
                <a:cs typeface="Arial"/>
                <a:sym typeface="Arial"/>
              </a:rPr>
              <a:t>.</a:t>
            </a:r>
            <a:endParaRPr/>
          </a:p>
          <a:p>
            <a:pPr marL="0" marR="0" lvl="0" indent="0" algn="l" rtl="0">
              <a:lnSpc>
                <a:spcPct val="115000"/>
              </a:lnSpc>
              <a:spcBef>
                <a:spcPts val="1200"/>
              </a:spcBef>
              <a:spcAft>
                <a:spcPts val="0"/>
              </a:spcAft>
              <a:buNone/>
            </a:pPr>
            <a:r>
              <a:rPr lang="en-US" sz="1600" b="1" i="1" u="none" strike="noStrike" cap="none">
                <a:solidFill>
                  <a:schemeClr val="dk1"/>
                </a:solidFill>
                <a:latin typeface="Arial"/>
                <a:ea typeface="Arial"/>
                <a:cs typeface="Arial"/>
                <a:sym typeface="Arial"/>
              </a:rPr>
              <a:t>You learned how to:</a:t>
            </a:r>
            <a:endParaRPr/>
          </a:p>
          <a:p>
            <a:pPr marL="457200" marR="0" lvl="0" indent="-330200" algn="l" rtl="0">
              <a:lnSpc>
                <a:spcPct val="115000"/>
              </a:lnSpc>
              <a:spcBef>
                <a:spcPts val="120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Create a MongoDB Atlas </a:t>
            </a:r>
            <a:r>
              <a:rPr lang="en-US" sz="1400" b="1" i="0" u="none" strike="noStrike" cap="none">
                <a:solidFill>
                  <a:schemeClr val="dk1"/>
                </a:solidFill>
                <a:latin typeface="Arial"/>
                <a:ea typeface="Arial"/>
                <a:cs typeface="Arial"/>
                <a:sym typeface="Arial"/>
              </a:rPr>
              <a:t>cluster</a:t>
            </a:r>
            <a:r>
              <a:rPr lang="en-US" sz="1400" b="0" i="0" u="none" strike="noStrike" cap="none">
                <a:solidFill>
                  <a:schemeClr val="dk1"/>
                </a:solidFill>
                <a:latin typeface="Arial"/>
                <a:ea typeface="Arial"/>
                <a:cs typeface="Arial"/>
                <a:sym typeface="Arial"/>
              </a:rPr>
              <a:t> in the cloud</a:t>
            </a:r>
            <a:endParaRPr/>
          </a:p>
          <a:p>
            <a:pPr marL="457200" marR="0" lvl="0" indent="-330200" algn="l" rtl="0">
              <a:lnSpc>
                <a:spcPct val="115000"/>
              </a:lnSpc>
              <a:spcBef>
                <a:spcPts val="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Set up a </a:t>
            </a:r>
            <a:r>
              <a:rPr lang="en-US" sz="1400" b="1" i="0" u="none" strike="noStrike" cap="none">
                <a:solidFill>
                  <a:schemeClr val="dk1"/>
                </a:solidFill>
                <a:latin typeface="Arial"/>
                <a:ea typeface="Arial"/>
                <a:cs typeface="Arial"/>
                <a:sym typeface="Arial"/>
              </a:rPr>
              <a:t>database</a:t>
            </a:r>
            <a:r>
              <a:rPr lang="en-US" sz="1400" b="0" i="0" u="none" strike="noStrike" cap="none">
                <a:solidFill>
                  <a:schemeClr val="dk1"/>
                </a:solidFill>
                <a:latin typeface="Arial"/>
                <a:ea typeface="Arial"/>
                <a:cs typeface="Arial"/>
                <a:sym typeface="Arial"/>
              </a:rPr>
              <a:t> and a </a:t>
            </a:r>
            <a:r>
              <a:rPr lang="en-US" sz="1400" b="1" i="0" u="none" strike="noStrike" cap="none">
                <a:solidFill>
                  <a:schemeClr val="dk1"/>
                </a:solidFill>
                <a:latin typeface="Arial"/>
                <a:ea typeface="Arial"/>
                <a:cs typeface="Arial"/>
                <a:sym typeface="Arial"/>
              </a:rPr>
              <a:t>collection</a:t>
            </a:r>
            <a:endParaRPr/>
          </a:p>
          <a:p>
            <a:pPr marL="457200" marR="0" lvl="0" indent="-330200" algn="l" rtl="0">
              <a:lnSpc>
                <a:spcPct val="115000"/>
              </a:lnSpc>
              <a:spcBef>
                <a:spcPts val="0"/>
              </a:spcBef>
              <a:spcAft>
                <a:spcPts val="0"/>
              </a:spcAft>
              <a:buClr>
                <a:schemeClr val="dk1"/>
              </a:buClr>
              <a:buSzPts val="1600"/>
              <a:buFont typeface="Arial"/>
              <a:buChar char="●"/>
            </a:pPr>
            <a:r>
              <a:rPr lang="en-US" sz="1400" b="0" i="0" u="none" strike="noStrike" cap="none">
                <a:solidFill>
                  <a:schemeClr val="dk1"/>
                </a:solidFill>
                <a:latin typeface="Arial"/>
                <a:ea typeface="Arial"/>
                <a:cs typeface="Arial"/>
                <a:sym typeface="Arial"/>
              </a:rPr>
              <a:t>Insert a document directly through the Atlas UI</a:t>
            </a:r>
            <a:endParaRPr/>
          </a:p>
          <a:p>
            <a:pPr marL="0" marR="0" lvl="0" indent="0" algn="l" rtl="0">
              <a:lnSpc>
                <a:spcPct val="115000"/>
              </a:lnSpc>
              <a:spcBef>
                <a:spcPts val="1200"/>
              </a:spcBef>
              <a:spcAft>
                <a:spcPts val="0"/>
              </a:spcAft>
              <a:buNone/>
            </a:pPr>
            <a:r>
              <a:rPr lang="en-US" sz="1400" b="0" i="0" u="none" strike="noStrike" cap="none">
                <a:solidFill>
                  <a:schemeClr val="dk1"/>
                </a:solidFill>
                <a:latin typeface="Arial"/>
                <a:ea typeface="Arial"/>
                <a:cs typeface="Arial"/>
                <a:sym typeface="Arial"/>
              </a:rPr>
              <a:t>This hands-on experience gave you a solid understanding of how MongoDB stores and organizes data in a flexible, document-based structure.</a:t>
            </a:r>
            <a:endParaRPr/>
          </a:p>
          <a:p>
            <a:pPr marL="0" marR="0" lvl="0" indent="0" algn="l" rtl="0">
              <a:lnSpc>
                <a:spcPct val="115000"/>
              </a:lnSpc>
              <a:spcBef>
                <a:spcPts val="1200"/>
              </a:spcBef>
              <a:spcAft>
                <a:spcPts val="0"/>
              </a:spcAft>
              <a:buNone/>
            </a:pPr>
            <a:r>
              <a:rPr lang="en-US" sz="1400" b="0" i="0" u="none" strike="noStrike" cap="none">
                <a:solidFill>
                  <a:schemeClr val="dk1"/>
                </a:solidFill>
                <a:latin typeface="Arial"/>
                <a:ea typeface="Arial"/>
                <a:cs typeface="Arial"/>
                <a:sym typeface="Arial"/>
              </a:rPr>
              <a:t>In the next part, we’ll create a new database and connect it to our Express app using </a:t>
            </a:r>
            <a:r>
              <a:rPr lang="en-US" sz="1400" b="1" i="0" u="none" strike="noStrike" cap="none">
                <a:solidFill>
                  <a:schemeClr val="dk1"/>
                </a:solidFill>
                <a:latin typeface="Arial"/>
                <a:ea typeface="Arial"/>
                <a:cs typeface="Arial"/>
                <a:sym typeface="Arial"/>
              </a:rPr>
              <a:t>Mongoose</a:t>
            </a:r>
            <a:r>
              <a:rPr lang="en-US" sz="1400" b="0" i="0" u="none" strike="noStrike" cap="none">
                <a:solidFill>
                  <a:schemeClr val="dk1"/>
                </a:solidFill>
                <a:latin typeface="Arial"/>
                <a:ea typeface="Arial"/>
                <a:cs typeface="Arial"/>
                <a:sym typeface="Arial"/>
              </a:rPr>
              <a:t>, and it interact with our data programmatically and build a fully dynamic, cloud-powered backend for our application.</a:t>
            </a:r>
            <a:endParaRPr sz="1400" b="1" i="0" u="none" strike="noStrike" cap="non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pic>
        <p:nvPicPr>
          <p:cNvPr id="313" name="Google Shape;313;p4" descr="Text&#10;&#10;Description automatically generated"/>
          <p:cNvPicPr preferRelativeResize="0"/>
          <p:nvPr/>
        </p:nvPicPr>
        <p:blipFill rotWithShape="1">
          <a:blip r:embed="rId3">
            <a:alphaModFix/>
          </a:blip>
          <a:srcRect/>
          <a:stretch/>
        </p:blipFill>
        <p:spPr>
          <a:xfrm>
            <a:off x="9144" y="1079881"/>
            <a:ext cx="12192000" cy="55403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6951d41b-6b8e-4636-984f-012bff14ba18}" enabled="1" method="Standard" siteId="{c98a79ca-5a9a-4791-a243-f06afd67464d}" removed="0"/>
</clbl:labelList>
</file>

<file path=docProps/app.xml><?xml version="1.0" encoding="utf-8"?>
<Properties xmlns="http://schemas.openxmlformats.org/officeDocument/2006/extended-properties" xmlns:vt="http://schemas.openxmlformats.org/officeDocument/2006/docPropsVTypes">
  <TotalTime>27</TotalTime>
  <Words>1209</Words>
  <Application>Microsoft Macintosh PowerPoint</Application>
  <PresentationFormat>Widescreen</PresentationFormat>
  <Paragraphs>126</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Aptos</vt:lpstr>
      <vt:lpstr>Roboto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Elvin NG Pei Xiong</dc:creator>
  <cp:lastModifiedBy>Manoj THULASIDAS</cp:lastModifiedBy>
  <cp:revision>1</cp:revision>
  <dcterms:created xsi:type="dcterms:W3CDTF">2018-11-21T01:52:47Z</dcterms:created>
  <dcterms:modified xsi:type="dcterms:W3CDTF">2026-02-27T01:51:28Z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0x01010090F32C23BA0D1F46B52AAC7AA48FC3E3</vt:lpwstr>
  </property>
  <property fmtid="{D5CDD505-2E9C-101B-9397-08002B2CF9AE}" pid="3" name="ClassificationContentMarkingHeaderLocations">
    <vt:lpwstr>Office Theme:3</vt:lpwstr>
  </property>
  <property fmtid="{D5CDD505-2E9C-101B-9397-08002B2CF9AE}" pid="4" name="ClassificationContentMarkingHeaderText">
    <vt:lpwstr>SMU Classification: Restricted</vt:lpwstr>
  </property>
</Properties>
</file>