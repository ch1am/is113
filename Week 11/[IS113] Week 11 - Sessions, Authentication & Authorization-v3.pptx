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Lst>
  <p:sldSz cy="6858000" cx="12192000"/>
  <p:notesSz cx="6797675" cy="9926625"/>
  <p:embeddedFontLst>
    <p:embeddedFont>
      <p:font typeface="Roboto Mono"/>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3840">
          <p15:clr>
            <a:srgbClr val="747775"/>
          </p15:clr>
        </p15:guide>
      </p15:sldGuideLst>
    </p:ext>
    <p:ext uri="GoogleSlidesCustomDataVersion2">
      <go:slidesCustomData xmlns:go="http://customooxmlschemas.google.com/" r:id="rId57" roundtripDataSignature="AMtx7mhMytvfs7/e9U1+ubjpWyws55L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BB78C3-EA8A-407A-A430-AD8ECAB5547F}">
  <a:tblStyle styleId="{DDBB78C3-EA8A-407A-A430-AD8ECAB5547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font" Target="fonts/RobotoMono-regular.fntdata"/><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font" Target="fonts/RobotoMono-italic.fntdata"/><Relationship Id="rId10" Type="http://schemas.openxmlformats.org/officeDocument/2006/relationships/slide" Target="slides/slide2.xml"/><Relationship Id="rId54" Type="http://schemas.openxmlformats.org/officeDocument/2006/relationships/font" Target="fonts/RobotoMono-bold.fntdata"/><Relationship Id="rId13" Type="http://schemas.openxmlformats.org/officeDocument/2006/relationships/slide" Target="slides/slide5.xml"/><Relationship Id="rId57" Type="http://customschemas.google.com/relationships/presentationmetadata" Target="metadata"/><Relationship Id="rId12" Type="http://schemas.openxmlformats.org/officeDocument/2006/relationships/slide" Target="slides/slide4.xml"/><Relationship Id="rId56" Type="http://schemas.openxmlformats.org/officeDocument/2006/relationships/font" Target="fonts/RobotoMono-boldItalic.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6400" cy="4968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49688" y="0"/>
            <a:ext cx="2946400" cy="4968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450" y="4776788"/>
            <a:ext cx="5438775" cy="39084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9750"/>
            <a:ext cx="2946400" cy="49688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49688" y="9429750"/>
            <a:ext cx="2946400" cy="496888"/>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soonline.com/article/3488207/aws-environments-compromised-through-exposed-env-files.html" TargetMode="External"/><Relationship Id="rId3" Type="http://schemas.openxmlformats.org/officeDocument/2006/relationships/hyperlink" Target="https://en.wikipedia.org/wiki/2021_Epik_data_breach" TargetMode="External"/><Relationship Id="rId4" Type="http://schemas.openxmlformats.org/officeDocument/2006/relationships/hyperlink" Target="https://hackernoon.com/scanning-26-million-domains-for-exposed-env-files" TargetMode="External"/><Relationship Id="rId5" Type="http://schemas.openxmlformats.org/officeDocument/2006/relationships/hyperlink" Target="https://www.theverge.com/2019/3/21/18275837/facebook-plain-text-password-storage-hundreds-millions-users"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44c60f6e55_0_72: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344c60f6e55_0_72: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7212702409_0_1: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g37212702409_0_1: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44c60f6e55_0_304: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g344c60f6e55_0_304: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44c60f6e55_0_232: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g344c60f6e55_0_232: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44c60f6e55_0_316: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344c60f6e55_0_316: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74c8355501_0_0: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g374c8355501_0_0: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94c25f66fd_0_80: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g394c25f66fd_0_80: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94c25f66fd_0_161: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g394c25f66fd_0_161: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94c25f66fd_0_340: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g394c25f66fd_0_340: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94c25f66fd_0_350: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g394c25f66fd_0_350: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44c60f6e55_0_461: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instructions on how to get here</a:t>
            </a:r>
            <a:endParaRPr/>
          </a:p>
        </p:txBody>
      </p:sp>
      <p:sp>
        <p:nvSpPr>
          <p:cNvPr id="317" name="Google Shape;317;g344c60f6e55_0_461: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94c25f66fd_0_440: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g394c25f66fd_0_440: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94c25f66fd_0_448: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g394c25f66fd_0_448: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44c60f6e55_0_359: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g344c60f6e55_0_359: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94c25f66fd_0_465: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g394c25f66fd_0_465: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94c25f66fd_0_473: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394c25f66fd_0_473: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44e8dc70ee_0_3: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g344e8dc70ee_0_3: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94c25f66fd_0_520: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394c25f66fd_0_520: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94c25f66fd_0_529: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4" name="Google Shape;424;g394c25f66fd_0_529: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94c25f66fd_0_535: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g394c25f66fd_0_535: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94c25f66fd_0_584: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8" name="Google Shape;438;g394c25f66fd_0_584: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94c25f66fd_0_597: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4" name="Google Shape;454;g394c25f66fd_0_597: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94c25f66fd_0_603: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g394c25f66fd_0_603: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94c25f66fd_0_612: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 name="Google Shape;468;g394c25f66fd_0_612: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94c25f66fd_0_620: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9" name="Google Shape;479;g394c25f66fd_0_620: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94c25f66fd_0_639: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g394c25f66fd_0_639: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94c25f66fd_0_654: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4" name="Google Shape;504;g394c25f66fd_0_654: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94c25f66fd_0_668: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94c25f66fd_0_668: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94c25f66fd_0_682: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5" name="Google Shape;525;g394c25f66fd_0_682: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981e5c5615_0_2: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g3981e5c5615_0_2: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981e5c5615_0_8: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981e5c5615_0_8: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981e5c5615_0_18: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8" name="Google Shape;558;g3981e5c5615_0_18: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981e5c5615_0_51: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8" name="Google Shape;578;g3981e5c5615_0_51: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8dc83ce601_0_0: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2" name="Google Shape;592;g38dc83ce601_0_0: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8dc83ce601_0_16: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3" name="Google Shape;603;g38dc83ce601_0_16: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44c60f6e55_0_410: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g344c60f6e55_0_410: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44c60f6e55_0_438: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7" name="Google Shape;617;g344c60f6e55_0_438: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94c25f66fd_0_694: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4" name="Google Shape;624;g394c25f66fd_0_694: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94c25f66fd_0_702: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g394c25f66fd_0_702: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94c25f66fd_0_722: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g394c25f66fd_0_722: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44c60f6e55_0_456: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44c60f6e55_0_456: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44e8dc70ee_0_27: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400" u="sng">
                <a:solidFill>
                  <a:schemeClr val="hlink"/>
                </a:solidFill>
                <a:latin typeface="Arial"/>
                <a:ea typeface="Arial"/>
                <a:cs typeface="Arial"/>
                <a:sym typeface="Arial"/>
                <a:hlinkClick r:id="rId2"/>
              </a:rPr>
              <a:t>https://www.csoonline.com/article/3488207/aws-environments-compromised-through-exposed-env-files.html</a:t>
            </a:r>
            <a:endParaRPr sz="1400">
              <a:latin typeface="Arial"/>
              <a:ea typeface="Arial"/>
              <a:cs typeface="Arial"/>
              <a:sym typeface="Arial"/>
            </a:endParaRPr>
          </a:p>
          <a:p>
            <a:pPr indent="0" lvl="0" marL="0" rtl="0" algn="l">
              <a:lnSpc>
                <a:spcPct val="100000"/>
              </a:lnSpc>
              <a:spcBef>
                <a:spcPts val="0"/>
              </a:spcBef>
              <a:spcAft>
                <a:spcPts val="0"/>
              </a:spcAft>
              <a:buSzPts val="1100"/>
              <a:buNone/>
            </a:pPr>
            <a:r>
              <a:rPr lang="en-US" sz="1400" u="sng">
                <a:solidFill>
                  <a:schemeClr val="hlink"/>
                </a:solidFill>
                <a:latin typeface="Arial"/>
                <a:ea typeface="Arial"/>
                <a:cs typeface="Arial"/>
                <a:sym typeface="Arial"/>
                <a:hlinkClick r:id="rId3"/>
              </a:rPr>
              <a:t>https://en.wikipedia.org/wiki/2021_Epik_data_breach</a:t>
            </a:r>
            <a:endParaRPr sz="1400">
              <a:latin typeface="Arial"/>
              <a:ea typeface="Arial"/>
              <a:cs typeface="Arial"/>
              <a:sym typeface="Arial"/>
            </a:endParaRPr>
          </a:p>
          <a:p>
            <a:pPr indent="0" lvl="0" marL="0" rtl="0" algn="l">
              <a:lnSpc>
                <a:spcPct val="100000"/>
              </a:lnSpc>
              <a:spcBef>
                <a:spcPts val="0"/>
              </a:spcBef>
              <a:spcAft>
                <a:spcPts val="0"/>
              </a:spcAft>
              <a:buSzPts val="1100"/>
              <a:buNone/>
            </a:pPr>
            <a:r>
              <a:rPr lang="en-US" sz="1400" u="sng">
                <a:solidFill>
                  <a:schemeClr val="hlink"/>
                </a:solidFill>
                <a:latin typeface="Arial"/>
                <a:ea typeface="Arial"/>
                <a:cs typeface="Arial"/>
                <a:sym typeface="Arial"/>
                <a:hlinkClick r:id="rId4"/>
              </a:rPr>
              <a:t>https://hackernoon.com/scanning-26-million-domains-for-exposed-env-files</a:t>
            </a:r>
            <a:endParaRPr sz="1400">
              <a:latin typeface="Arial"/>
              <a:ea typeface="Arial"/>
              <a:cs typeface="Arial"/>
              <a:sym typeface="Arial"/>
            </a:endParaRPr>
          </a:p>
          <a:p>
            <a:pPr indent="0" lvl="0" marL="0" rtl="0" algn="l">
              <a:lnSpc>
                <a:spcPct val="100000"/>
              </a:lnSpc>
              <a:spcBef>
                <a:spcPts val="0"/>
              </a:spcBef>
              <a:spcAft>
                <a:spcPts val="0"/>
              </a:spcAft>
              <a:buSzPts val="1100"/>
              <a:buNone/>
            </a:pPr>
            <a:r>
              <a:t/>
            </a:r>
            <a:endParaRPr sz="1400">
              <a:latin typeface="Arial"/>
              <a:ea typeface="Arial"/>
              <a:cs typeface="Arial"/>
              <a:sym typeface="Arial"/>
            </a:endParaRPr>
          </a:p>
          <a:p>
            <a:pPr indent="0" lvl="0" marL="0" rtl="0" algn="l">
              <a:lnSpc>
                <a:spcPct val="100000"/>
              </a:lnSpc>
              <a:spcBef>
                <a:spcPts val="0"/>
              </a:spcBef>
              <a:spcAft>
                <a:spcPts val="0"/>
              </a:spcAft>
              <a:buSzPts val="1100"/>
              <a:buNone/>
            </a:pPr>
            <a:r>
              <a:t/>
            </a:r>
            <a:endParaRPr sz="1400">
              <a:latin typeface="Arial"/>
              <a:ea typeface="Arial"/>
              <a:cs typeface="Arial"/>
              <a:sym typeface="Arial"/>
            </a:endParaRPr>
          </a:p>
          <a:p>
            <a:pPr indent="0" lvl="0" marL="0" rtl="0" algn="l">
              <a:lnSpc>
                <a:spcPct val="100000"/>
              </a:lnSpc>
              <a:spcBef>
                <a:spcPts val="0"/>
              </a:spcBef>
              <a:spcAft>
                <a:spcPts val="0"/>
              </a:spcAft>
              <a:buSzPts val="1100"/>
              <a:buNone/>
            </a:pPr>
            <a:r>
              <a:rPr lang="en-US" sz="1400" u="sng">
                <a:solidFill>
                  <a:schemeClr val="hlink"/>
                </a:solidFill>
                <a:latin typeface="Arial"/>
                <a:ea typeface="Arial"/>
                <a:cs typeface="Arial"/>
                <a:sym typeface="Arial"/>
                <a:hlinkClick r:id="rId5"/>
              </a:rPr>
              <a:t>https://www.theverge.com/2019/3/21/18275837/facebook-plain-text-password-storage-hundreds-millions-users</a:t>
            </a:r>
            <a:endParaRPr sz="14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663" name="Google Shape;663;g344e8dc70ee_0_27: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705708b02d_0_16: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705708b02d_0_16: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44e8dc70ee_0_44:notes"/>
          <p:cNvSpPr/>
          <p:nvPr>
            <p:ph idx="2" type="sldImg"/>
          </p:nvPr>
        </p:nvSpPr>
        <p:spPr>
          <a:xfrm>
            <a:off x="422275" y="1241425"/>
            <a:ext cx="59531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g344e8dc70ee_0_44:notes"/>
          <p:cNvSpPr txBox="1"/>
          <p:nvPr>
            <p:ph idx="1" type="body"/>
          </p:nvPr>
        </p:nvSpPr>
        <p:spPr>
          <a:xfrm>
            <a:off x="679450" y="4776788"/>
            <a:ext cx="5438700" cy="390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3" name="Google Shape;683;g344e8dc70ee_0_44:notes"/>
          <p:cNvSpPr txBox="1"/>
          <p:nvPr>
            <p:ph idx="12" type="sldNum"/>
          </p:nvPr>
        </p:nvSpPr>
        <p:spPr>
          <a:xfrm>
            <a:off x="3849688" y="9429750"/>
            <a:ext cx="2946300" cy="4968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pic>
        <p:nvPicPr>
          <p:cNvPr id="18" name="Google Shape;18;g344c60f6e55_0_84"/>
          <p:cNvPicPr preferRelativeResize="0"/>
          <p:nvPr/>
        </p:nvPicPr>
        <p:blipFill rotWithShape="1">
          <a:blip r:embed="rId2">
            <a:alphaModFix/>
          </a:blip>
          <a:srcRect b="0" l="0" r="49656" t="0"/>
          <a:stretch/>
        </p:blipFill>
        <p:spPr>
          <a:xfrm>
            <a:off x="1" y="1"/>
            <a:ext cx="12192000" cy="1362268"/>
          </a:xfrm>
          <a:prstGeom prst="rect">
            <a:avLst/>
          </a:prstGeom>
          <a:noFill/>
          <a:ln>
            <a:noFill/>
          </a:ln>
        </p:spPr>
      </p:pic>
      <p:cxnSp>
        <p:nvCxnSpPr>
          <p:cNvPr id="19" name="Google Shape;19;g344c60f6e55_0_84"/>
          <p:cNvCxnSpPr/>
          <p:nvPr/>
        </p:nvCxnSpPr>
        <p:spPr>
          <a:xfrm>
            <a:off x="0" y="1362269"/>
            <a:ext cx="12192000" cy="0"/>
          </a:xfrm>
          <a:prstGeom prst="straightConnector1">
            <a:avLst/>
          </a:prstGeom>
          <a:noFill/>
          <a:ln cap="flat" cmpd="sng" w="9525">
            <a:solidFill>
              <a:srgbClr val="D5A10F"/>
            </a:solidFill>
            <a:prstDash val="solid"/>
            <a:miter lim="800000"/>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g344c60f6e55_0_87"/>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g344c60f6e55_0_87"/>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g344c60f6e55_0_8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g344c60f6e55_0_8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g344c60f6e55_0_8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g344c60f6e55_0_87"/>
          <p:cNvCxnSpPr/>
          <p:nvPr/>
        </p:nvCxnSpPr>
        <p:spPr>
          <a:xfrm>
            <a:off x="0" y="1250297"/>
            <a:ext cx="12192000" cy="0"/>
          </a:xfrm>
          <a:prstGeom prst="straightConnector1">
            <a:avLst/>
          </a:prstGeom>
          <a:noFill/>
          <a:ln cap="flat" cmpd="sng" w="9525">
            <a:solidFill>
              <a:srgbClr val="D5A10F"/>
            </a:solidFill>
            <a:prstDash val="solid"/>
            <a:miter lim="800000"/>
            <a:headEnd len="sm" w="sm" type="none"/>
            <a:tailEnd len="sm" w="sm" type="none"/>
          </a:ln>
        </p:spPr>
      </p:cxnSp>
      <p:pic>
        <p:nvPicPr>
          <p:cNvPr id="27" name="Google Shape;27;g344c60f6e55_0_87"/>
          <p:cNvPicPr preferRelativeResize="0"/>
          <p:nvPr/>
        </p:nvPicPr>
        <p:blipFill rotWithShape="1">
          <a:blip r:embed="rId2">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8" name="Shape 28"/>
        <p:cNvGrpSpPr/>
        <p:nvPr/>
      </p:nvGrpSpPr>
      <p:grpSpPr>
        <a:xfrm>
          <a:off x="0" y="0"/>
          <a:ext cx="0" cy="0"/>
          <a:chOff x="0" y="0"/>
          <a:chExt cx="0" cy="0"/>
        </a:xfrm>
      </p:grpSpPr>
      <p:pic>
        <p:nvPicPr>
          <p:cNvPr descr="1.jpg" id="29" name="Google Shape;29;g344c60f6e55_0_95"/>
          <p:cNvPicPr preferRelativeResize="0"/>
          <p:nvPr/>
        </p:nvPicPr>
        <p:blipFill rotWithShape="1">
          <a:blip r:embed="rId2">
            <a:alphaModFix amt="36000"/>
          </a:blip>
          <a:srcRect b="0" l="0" r="0" t="0"/>
          <a:stretch/>
        </p:blipFill>
        <p:spPr>
          <a:xfrm>
            <a:off x="1426724" y="692513"/>
            <a:ext cx="10765275" cy="6165488"/>
          </a:xfrm>
          <a:prstGeom prst="rect">
            <a:avLst/>
          </a:prstGeom>
          <a:noFill/>
          <a:ln>
            <a:noFill/>
          </a:ln>
        </p:spPr>
      </p:pic>
      <p:pic>
        <p:nvPicPr>
          <p:cNvPr id="30" name="Google Shape;30;g344c60f6e55_0_95"/>
          <p:cNvPicPr preferRelativeResize="0"/>
          <p:nvPr/>
        </p:nvPicPr>
        <p:blipFill rotWithShape="1">
          <a:blip r:embed="rId3">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1" name="Shape 31"/>
        <p:cNvGrpSpPr/>
        <p:nvPr/>
      </p:nvGrpSpPr>
      <p:grpSpPr>
        <a:xfrm>
          <a:off x="0" y="0"/>
          <a:ext cx="0" cy="0"/>
          <a:chOff x="0" y="0"/>
          <a:chExt cx="0" cy="0"/>
        </a:xfrm>
      </p:grpSpPr>
      <p:sp>
        <p:nvSpPr>
          <p:cNvPr id="32" name="Google Shape;32;g344c60f6e55_0_98"/>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g344c60f6e55_0_98"/>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g344c60f6e55_0_98"/>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g344c60f6e55_0_98"/>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g344c60f6e55_0_9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g344c60f6e55_0_9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g344c60f6e55_0_9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9" name="Google Shape;39;g344c60f6e55_0_98"/>
          <p:cNvPicPr preferRelativeResize="0"/>
          <p:nvPr/>
        </p:nvPicPr>
        <p:blipFill rotWithShape="1">
          <a:blip r:embed="rId2">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0" name="Shape 40"/>
        <p:cNvGrpSpPr/>
        <p:nvPr/>
      </p:nvGrpSpPr>
      <p:grpSpPr>
        <a:xfrm>
          <a:off x="0" y="0"/>
          <a:ext cx="0" cy="0"/>
          <a:chOff x="0" y="0"/>
          <a:chExt cx="0" cy="0"/>
        </a:xfrm>
      </p:grpSpPr>
      <p:pic>
        <p:nvPicPr>
          <p:cNvPr id="41" name="Google Shape;41;g344c60f6e55_0_107"/>
          <p:cNvPicPr preferRelativeResize="0"/>
          <p:nvPr/>
        </p:nvPicPr>
        <p:blipFill rotWithShape="1">
          <a:blip r:embed="rId2">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g344c60f6e55_0_10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g344c60f6e55_0_10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g344c60f6e55_0_10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g344c60f6e55_0_10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g344c60f6e55_0_11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g344c60f6e55_0_1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g344c60f6e55_0_1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1" name="Shape 51"/>
        <p:cNvGrpSpPr/>
        <p:nvPr/>
      </p:nvGrpSpPr>
      <p:grpSpPr>
        <a:xfrm>
          <a:off x="0" y="0"/>
          <a:ext cx="0" cy="0"/>
          <a:chOff x="0" y="0"/>
          <a:chExt cx="0" cy="0"/>
        </a:xfrm>
      </p:grpSpPr>
      <p:sp>
        <p:nvSpPr>
          <p:cNvPr id="52" name="Google Shape;52;g344c60f6e55_0_118"/>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g344c60f6e55_0_118"/>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4" name="Google Shape;54;g344c60f6e55_0_118"/>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5" name="Google Shape;55;g344c60f6e55_0_1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g344c60f6e55_0_1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g344c60f6e55_0_1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8" name="Shape 58"/>
        <p:cNvGrpSpPr/>
        <p:nvPr/>
      </p:nvGrpSpPr>
      <p:grpSpPr>
        <a:xfrm>
          <a:off x="0" y="0"/>
          <a:ext cx="0" cy="0"/>
          <a:chOff x="0" y="0"/>
          <a:chExt cx="0" cy="0"/>
        </a:xfrm>
      </p:grpSpPr>
      <p:sp>
        <p:nvSpPr>
          <p:cNvPr id="59" name="Google Shape;59;g344c60f6e55_0_125"/>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g344c60f6e55_0_125"/>
          <p:cNvSpPr/>
          <p:nvPr>
            <p:ph idx="2" type="pic"/>
          </p:nvPr>
        </p:nvSpPr>
        <p:spPr>
          <a:xfrm>
            <a:off x="5183188" y="987425"/>
            <a:ext cx="6172200" cy="4873500"/>
          </a:xfrm>
          <a:prstGeom prst="rect">
            <a:avLst/>
          </a:prstGeom>
          <a:noFill/>
          <a:ln>
            <a:noFill/>
          </a:ln>
        </p:spPr>
      </p:sp>
      <p:sp>
        <p:nvSpPr>
          <p:cNvPr id="61" name="Google Shape;61;g344c60f6e55_0_125"/>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g344c60f6e55_0_12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g344c60f6e55_0_1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g344c60f6e55_0_1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5" name="Shape 65"/>
        <p:cNvGrpSpPr/>
        <p:nvPr/>
      </p:nvGrpSpPr>
      <p:grpSpPr>
        <a:xfrm>
          <a:off x="0" y="0"/>
          <a:ext cx="0" cy="0"/>
          <a:chOff x="0" y="0"/>
          <a:chExt cx="0" cy="0"/>
        </a:xfrm>
      </p:grpSpPr>
      <p:sp>
        <p:nvSpPr>
          <p:cNvPr id="66" name="Google Shape;66;g344c60f6e55_0_13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g344c60f6e55_0_132"/>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g344c60f6e55_0_13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g344c60f6e55_0_1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g344c60f6e55_0_1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1" name="Shape 71"/>
        <p:cNvGrpSpPr/>
        <p:nvPr/>
      </p:nvGrpSpPr>
      <p:grpSpPr>
        <a:xfrm>
          <a:off x="0" y="0"/>
          <a:ext cx="0" cy="0"/>
          <a:chOff x="0" y="0"/>
          <a:chExt cx="0" cy="0"/>
        </a:xfrm>
      </p:grpSpPr>
      <p:sp>
        <p:nvSpPr>
          <p:cNvPr id="72" name="Google Shape;72;g344c60f6e55_0_138"/>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344c60f6e55_0_138"/>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g344c60f6e55_0_13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g344c60f6e55_0_13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g344c60f6e55_0_1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4" name="Shape 84"/>
        <p:cNvGrpSpPr/>
        <p:nvPr/>
      </p:nvGrpSpPr>
      <p:grpSpPr>
        <a:xfrm>
          <a:off x="0" y="0"/>
          <a:ext cx="0" cy="0"/>
          <a:chOff x="0" y="0"/>
          <a:chExt cx="0" cy="0"/>
        </a:xfrm>
      </p:grpSpPr>
      <p:sp>
        <p:nvSpPr>
          <p:cNvPr id="85" name="Google Shape;85;p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87" name="Google Shape;87;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90" name="Google Shape;90;p9"/>
          <p:cNvCxnSpPr/>
          <p:nvPr/>
        </p:nvCxnSpPr>
        <p:spPr>
          <a:xfrm>
            <a:off x="0" y="1250297"/>
            <a:ext cx="12192000" cy="0"/>
          </a:xfrm>
          <a:prstGeom prst="straightConnector1">
            <a:avLst/>
          </a:prstGeom>
          <a:noFill/>
          <a:ln cap="flat" cmpd="sng" w="9525">
            <a:solidFill>
              <a:srgbClr val="D5A10F"/>
            </a:solidFill>
            <a:prstDash val="solid"/>
            <a:miter lim="800000"/>
            <a:headEnd len="sm" w="sm" type="none"/>
            <a:tailEnd len="sm" w="sm" type="none"/>
          </a:ln>
        </p:spPr>
      </p:cxnSp>
      <p:pic>
        <p:nvPicPr>
          <p:cNvPr id="91" name="Google Shape;91;p9"/>
          <p:cNvPicPr preferRelativeResize="0"/>
          <p:nvPr/>
        </p:nvPicPr>
        <p:blipFill rotWithShape="1">
          <a:blip r:embed="rId2">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92" name="Shape 92"/>
        <p:cNvGrpSpPr/>
        <p:nvPr/>
      </p:nvGrpSpPr>
      <p:grpSpPr>
        <a:xfrm>
          <a:off x="0" y="0"/>
          <a:ext cx="0" cy="0"/>
          <a:chOff x="0" y="0"/>
          <a:chExt cx="0" cy="0"/>
        </a:xfrm>
      </p:grpSpPr>
      <p:pic>
        <p:nvPicPr>
          <p:cNvPr id="93" name="Google Shape;93;p7"/>
          <p:cNvPicPr preferRelativeResize="0"/>
          <p:nvPr/>
        </p:nvPicPr>
        <p:blipFill rotWithShape="1">
          <a:blip r:embed="rId2">
            <a:alphaModFix/>
          </a:blip>
          <a:srcRect b="0" l="-1" r="49658" t="0"/>
          <a:stretch/>
        </p:blipFill>
        <p:spPr>
          <a:xfrm>
            <a:off x="1" y="1"/>
            <a:ext cx="12191999" cy="1362268"/>
          </a:xfrm>
          <a:prstGeom prst="rect">
            <a:avLst/>
          </a:prstGeom>
          <a:noFill/>
          <a:ln>
            <a:noFill/>
          </a:ln>
        </p:spPr>
      </p:pic>
      <p:cxnSp>
        <p:nvCxnSpPr>
          <p:cNvPr id="94" name="Google Shape;94;p7"/>
          <p:cNvCxnSpPr/>
          <p:nvPr/>
        </p:nvCxnSpPr>
        <p:spPr>
          <a:xfrm>
            <a:off x="0" y="1362269"/>
            <a:ext cx="12192000" cy="0"/>
          </a:xfrm>
          <a:prstGeom prst="straightConnector1">
            <a:avLst/>
          </a:prstGeom>
          <a:noFill/>
          <a:ln cap="flat" cmpd="sng" w="9525">
            <a:solidFill>
              <a:srgbClr val="D5A10F"/>
            </a:solidFill>
            <a:prstDash val="solid"/>
            <a:miter lim="800000"/>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95" name="Shape 95"/>
        <p:cNvGrpSpPr/>
        <p:nvPr/>
      </p:nvGrpSpPr>
      <p:grpSpPr>
        <a:xfrm>
          <a:off x="0" y="0"/>
          <a:ext cx="0" cy="0"/>
          <a:chOff x="0" y="0"/>
          <a:chExt cx="0" cy="0"/>
        </a:xfrm>
      </p:grpSpPr>
      <p:pic>
        <p:nvPicPr>
          <p:cNvPr descr="1.jpg" id="96" name="Google Shape;96;p8"/>
          <p:cNvPicPr preferRelativeResize="0"/>
          <p:nvPr/>
        </p:nvPicPr>
        <p:blipFill rotWithShape="1">
          <a:blip r:embed="rId2">
            <a:alphaModFix amt="36000"/>
          </a:blip>
          <a:srcRect b="0" l="0" r="0" t="0"/>
          <a:stretch/>
        </p:blipFill>
        <p:spPr>
          <a:xfrm>
            <a:off x="1426724" y="692513"/>
            <a:ext cx="10765276" cy="6165487"/>
          </a:xfrm>
          <a:prstGeom prst="rect">
            <a:avLst/>
          </a:prstGeom>
          <a:noFill/>
          <a:ln>
            <a:noFill/>
          </a:ln>
        </p:spPr>
      </p:pic>
      <p:pic>
        <p:nvPicPr>
          <p:cNvPr id="97" name="Google Shape;97;p8"/>
          <p:cNvPicPr preferRelativeResize="0"/>
          <p:nvPr/>
        </p:nvPicPr>
        <p:blipFill rotWithShape="1">
          <a:blip r:embed="rId3">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98" name="Shape 98"/>
        <p:cNvGrpSpPr/>
        <p:nvPr/>
      </p:nvGrpSpPr>
      <p:grpSpPr>
        <a:xfrm>
          <a:off x="0" y="0"/>
          <a:ext cx="0" cy="0"/>
          <a:chOff x="0" y="0"/>
          <a:chExt cx="0" cy="0"/>
        </a:xfrm>
      </p:grpSpPr>
      <p:sp>
        <p:nvSpPr>
          <p:cNvPr id="99" name="Google Shape;99;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0" name="Google Shape;100;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2" name="Google Shape;102;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06" name="Google Shape;106;p10"/>
          <p:cNvPicPr preferRelativeResize="0"/>
          <p:nvPr/>
        </p:nvPicPr>
        <p:blipFill rotWithShape="1">
          <a:blip r:embed="rId2">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07" name="Shape 107"/>
        <p:cNvGrpSpPr/>
        <p:nvPr/>
      </p:nvGrpSpPr>
      <p:grpSpPr>
        <a:xfrm>
          <a:off x="0" y="0"/>
          <a:ext cx="0" cy="0"/>
          <a:chOff x="0" y="0"/>
          <a:chExt cx="0" cy="0"/>
        </a:xfrm>
      </p:grpSpPr>
      <p:pic>
        <p:nvPicPr>
          <p:cNvPr id="108" name="Google Shape;108;p11"/>
          <p:cNvPicPr preferRelativeResize="0"/>
          <p:nvPr/>
        </p:nvPicPr>
        <p:blipFill rotWithShape="1">
          <a:blip r:embed="rId2">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9" name="Shape 109"/>
        <p:cNvGrpSpPr/>
        <p:nvPr/>
      </p:nvGrpSpPr>
      <p:grpSpPr>
        <a:xfrm>
          <a:off x="0" y="0"/>
          <a:ext cx="0" cy="0"/>
          <a:chOff x="0" y="0"/>
          <a:chExt cx="0" cy="0"/>
        </a:xfrm>
      </p:grpSpPr>
      <p:sp>
        <p:nvSpPr>
          <p:cNvPr id="110" name="Google Shape;1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4" name="Shape 114"/>
        <p:cNvGrpSpPr/>
        <p:nvPr/>
      </p:nvGrpSpPr>
      <p:grpSpPr>
        <a:xfrm>
          <a:off x="0" y="0"/>
          <a:ext cx="0" cy="0"/>
          <a:chOff x="0" y="0"/>
          <a:chExt cx="0" cy="0"/>
        </a:xfrm>
      </p:grpSpPr>
      <p:sp>
        <p:nvSpPr>
          <p:cNvPr id="115" name="Google Shape;11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8" name="Shape 118"/>
        <p:cNvGrpSpPr/>
        <p:nvPr/>
      </p:nvGrpSpPr>
      <p:grpSpPr>
        <a:xfrm>
          <a:off x="0" y="0"/>
          <a:ext cx="0" cy="0"/>
          <a:chOff x="0" y="0"/>
          <a:chExt cx="0" cy="0"/>
        </a:xfrm>
      </p:grpSpPr>
      <p:sp>
        <p:nvSpPr>
          <p:cNvPr id="119" name="Google Shape;119;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21" name="Google Shape;121;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2" name="Google Shape;12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5" name="Shape 125"/>
        <p:cNvGrpSpPr/>
        <p:nvPr/>
      </p:nvGrpSpPr>
      <p:grpSpPr>
        <a:xfrm>
          <a:off x="0" y="0"/>
          <a:ext cx="0" cy="0"/>
          <a:chOff x="0" y="0"/>
          <a:chExt cx="0" cy="0"/>
        </a:xfrm>
      </p:grpSpPr>
      <p:sp>
        <p:nvSpPr>
          <p:cNvPr id="126" name="Google Shape;126;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15"/>
          <p:cNvSpPr/>
          <p:nvPr>
            <p:ph idx="2" type="pic"/>
          </p:nvPr>
        </p:nvSpPr>
        <p:spPr>
          <a:xfrm>
            <a:off x="5183188" y="987425"/>
            <a:ext cx="6172200" cy="4873625"/>
          </a:xfrm>
          <a:prstGeom prst="rect">
            <a:avLst/>
          </a:prstGeom>
          <a:noFill/>
          <a:ln>
            <a:noFill/>
          </a:ln>
        </p:spPr>
      </p:sp>
      <p:sp>
        <p:nvSpPr>
          <p:cNvPr id="128" name="Google Shape;128;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9" name="Google Shape;12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2" name="Shape 132"/>
        <p:cNvGrpSpPr/>
        <p:nvPr/>
      </p:nvGrpSpPr>
      <p:grpSpPr>
        <a:xfrm>
          <a:off x="0" y="0"/>
          <a:ext cx="0" cy="0"/>
          <a:chOff x="0" y="0"/>
          <a:chExt cx="0" cy="0"/>
        </a:xfrm>
      </p:grpSpPr>
      <p:sp>
        <p:nvSpPr>
          <p:cNvPr id="133" name="Google Shape;13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8" name="Shape 138"/>
        <p:cNvGrpSpPr/>
        <p:nvPr/>
      </p:nvGrpSpPr>
      <p:grpSpPr>
        <a:xfrm>
          <a:off x="0" y="0"/>
          <a:ext cx="0" cy="0"/>
          <a:chOff x="0" y="0"/>
          <a:chExt cx="0" cy="0"/>
        </a:xfrm>
      </p:grpSpPr>
      <p:sp>
        <p:nvSpPr>
          <p:cNvPr id="139" name="Google Shape;139;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1" name="Shape 151"/>
        <p:cNvGrpSpPr/>
        <p:nvPr/>
      </p:nvGrpSpPr>
      <p:grpSpPr>
        <a:xfrm>
          <a:off x="0" y="0"/>
          <a:ext cx="0" cy="0"/>
          <a:chOff x="0" y="0"/>
          <a:chExt cx="0" cy="0"/>
        </a:xfrm>
      </p:grpSpPr>
      <p:sp>
        <p:nvSpPr>
          <p:cNvPr id="152" name="Google Shape;152;g394c25f66fd_0_372"/>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g394c25f66fd_0_37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4" name="Google Shape;154;g394c25f66fd_0_37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g394c25f66fd_0_37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g394c25f66fd_0_37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57" name="Google Shape;157;g394c25f66fd_0_372"/>
          <p:cNvCxnSpPr/>
          <p:nvPr/>
        </p:nvCxnSpPr>
        <p:spPr>
          <a:xfrm>
            <a:off x="0" y="1250297"/>
            <a:ext cx="12192000" cy="0"/>
          </a:xfrm>
          <a:prstGeom prst="straightConnector1">
            <a:avLst/>
          </a:prstGeom>
          <a:noFill/>
          <a:ln cap="flat" cmpd="sng" w="9525">
            <a:solidFill>
              <a:srgbClr val="D5A10F"/>
            </a:solidFill>
            <a:prstDash val="solid"/>
            <a:miter lim="800000"/>
            <a:headEnd len="sm" w="sm" type="none"/>
            <a:tailEnd len="sm" w="sm" type="none"/>
          </a:ln>
        </p:spPr>
      </p:cxnSp>
      <p:pic>
        <p:nvPicPr>
          <p:cNvPr id="158" name="Google Shape;158;g394c25f66fd_0_372"/>
          <p:cNvPicPr preferRelativeResize="0"/>
          <p:nvPr/>
        </p:nvPicPr>
        <p:blipFill rotWithShape="1">
          <a:blip r:embed="rId2">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9" name="Shape 159"/>
        <p:cNvGrpSpPr/>
        <p:nvPr/>
      </p:nvGrpSpPr>
      <p:grpSpPr>
        <a:xfrm>
          <a:off x="0" y="0"/>
          <a:ext cx="0" cy="0"/>
          <a:chOff x="0" y="0"/>
          <a:chExt cx="0" cy="0"/>
        </a:xfrm>
      </p:grpSpPr>
      <p:pic>
        <p:nvPicPr>
          <p:cNvPr id="160" name="Google Shape;160;g394c25f66fd_0_368"/>
          <p:cNvPicPr preferRelativeResize="0"/>
          <p:nvPr/>
        </p:nvPicPr>
        <p:blipFill rotWithShape="1">
          <a:blip r:embed="rId2">
            <a:alphaModFix/>
          </a:blip>
          <a:srcRect b="0" l="0" r="49657" t="0"/>
          <a:stretch/>
        </p:blipFill>
        <p:spPr>
          <a:xfrm>
            <a:off x="1" y="1"/>
            <a:ext cx="12192000" cy="1362268"/>
          </a:xfrm>
          <a:prstGeom prst="rect">
            <a:avLst/>
          </a:prstGeom>
          <a:noFill/>
          <a:ln>
            <a:noFill/>
          </a:ln>
        </p:spPr>
      </p:pic>
      <p:cxnSp>
        <p:nvCxnSpPr>
          <p:cNvPr id="161" name="Google Shape;161;g394c25f66fd_0_368"/>
          <p:cNvCxnSpPr/>
          <p:nvPr/>
        </p:nvCxnSpPr>
        <p:spPr>
          <a:xfrm>
            <a:off x="0" y="1362269"/>
            <a:ext cx="12192000" cy="0"/>
          </a:xfrm>
          <a:prstGeom prst="straightConnector1">
            <a:avLst/>
          </a:prstGeom>
          <a:noFill/>
          <a:ln cap="flat" cmpd="sng" w="9525">
            <a:solidFill>
              <a:srgbClr val="D5A10F"/>
            </a:solidFill>
            <a:prstDash val="solid"/>
            <a:miter lim="800000"/>
            <a:headEnd len="sm" w="sm" type="none"/>
            <a:tailEnd len="sm" w="sm" type="none"/>
          </a:ln>
        </p:spPr>
      </p:cxnSp>
      <p:sp>
        <p:nvSpPr>
          <p:cNvPr id="162" name="Google Shape;162;g394c25f66fd_0_368"/>
          <p:cNvSpPr txBox="1"/>
          <p:nvPr>
            <p:ph idx="12" type="sldNum"/>
          </p:nvPr>
        </p:nvSpPr>
        <p:spPr>
          <a:xfrm>
            <a:off x="11409045" y="6333134"/>
            <a:ext cx="731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63" name="Shape 163"/>
        <p:cNvGrpSpPr/>
        <p:nvPr/>
      </p:nvGrpSpPr>
      <p:grpSpPr>
        <a:xfrm>
          <a:off x="0" y="0"/>
          <a:ext cx="0" cy="0"/>
          <a:chOff x="0" y="0"/>
          <a:chExt cx="0" cy="0"/>
        </a:xfrm>
      </p:grpSpPr>
      <p:pic>
        <p:nvPicPr>
          <p:cNvPr descr="1.jpg" id="164" name="Google Shape;164;g394c25f66fd_0_380"/>
          <p:cNvPicPr preferRelativeResize="0"/>
          <p:nvPr/>
        </p:nvPicPr>
        <p:blipFill rotWithShape="1">
          <a:blip r:embed="rId2">
            <a:alphaModFix amt="36000"/>
          </a:blip>
          <a:srcRect b="0" l="0" r="0" t="0"/>
          <a:stretch/>
        </p:blipFill>
        <p:spPr>
          <a:xfrm>
            <a:off x="1426724" y="692513"/>
            <a:ext cx="10765275" cy="6165488"/>
          </a:xfrm>
          <a:prstGeom prst="rect">
            <a:avLst/>
          </a:prstGeom>
          <a:noFill/>
          <a:ln>
            <a:noFill/>
          </a:ln>
        </p:spPr>
      </p:pic>
      <p:pic>
        <p:nvPicPr>
          <p:cNvPr id="165" name="Google Shape;165;g394c25f66fd_0_380"/>
          <p:cNvPicPr preferRelativeResize="0"/>
          <p:nvPr/>
        </p:nvPicPr>
        <p:blipFill rotWithShape="1">
          <a:blip r:embed="rId3">
            <a:alphaModFix/>
          </a:blip>
          <a:srcRect b="0" l="0" r="0" t="0"/>
          <a:stretch/>
        </p:blipFill>
        <p:spPr>
          <a:xfrm>
            <a:off x="0" y="-4761"/>
            <a:ext cx="12192000" cy="685800"/>
          </a:xfrm>
          <a:prstGeom prst="rect">
            <a:avLst/>
          </a:prstGeom>
          <a:noFill/>
          <a:ln>
            <a:noFill/>
          </a:ln>
        </p:spPr>
      </p:pic>
      <p:sp>
        <p:nvSpPr>
          <p:cNvPr id="166" name="Google Shape;166;g394c25f66fd_0_380"/>
          <p:cNvSpPr txBox="1"/>
          <p:nvPr>
            <p:ph idx="12" type="sldNum"/>
          </p:nvPr>
        </p:nvSpPr>
        <p:spPr>
          <a:xfrm>
            <a:off x="11409045" y="6333134"/>
            <a:ext cx="731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67" name="Shape 167"/>
        <p:cNvGrpSpPr/>
        <p:nvPr/>
      </p:nvGrpSpPr>
      <p:grpSpPr>
        <a:xfrm>
          <a:off x="0" y="0"/>
          <a:ext cx="0" cy="0"/>
          <a:chOff x="0" y="0"/>
          <a:chExt cx="0" cy="0"/>
        </a:xfrm>
      </p:grpSpPr>
      <p:sp>
        <p:nvSpPr>
          <p:cNvPr id="168" name="Google Shape;168;g394c25f66fd_0_384"/>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69" name="Google Shape;169;g394c25f66fd_0_384"/>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 name="Google Shape;170;g394c25f66fd_0_384"/>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1" name="Google Shape;171;g394c25f66fd_0_384"/>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g394c25f66fd_0_38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g394c25f66fd_0_3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g394c25f66fd_0_38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75" name="Google Shape;175;g394c25f66fd_0_384"/>
          <p:cNvPicPr preferRelativeResize="0"/>
          <p:nvPr/>
        </p:nvPicPr>
        <p:blipFill rotWithShape="1">
          <a:blip r:embed="rId2">
            <a:alphaModFix/>
          </a:blip>
          <a:srcRect b="0" l="0" r="0" t="0"/>
          <a:stretch/>
        </p:blipFill>
        <p:spPr>
          <a:xfrm>
            <a:off x="0" y="-4761"/>
            <a:ext cx="12192000" cy="6858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76" name="Shape 176"/>
        <p:cNvGrpSpPr/>
        <p:nvPr/>
      </p:nvGrpSpPr>
      <p:grpSpPr>
        <a:xfrm>
          <a:off x="0" y="0"/>
          <a:ext cx="0" cy="0"/>
          <a:chOff x="0" y="0"/>
          <a:chExt cx="0" cy="0"/>
        </a:xfrm>
      </p:grpSpPr>
      <p:pic>
        <p:nvPicPr>
          <p:cNvPr id="177" name="Google Shape;177;g394c25f66fd_0_393"/>
          <p:cNvPicPr preferRelativeResize="0"/>
          <p:nvPr/>
        </p:nvPicPr>
        <p:blipFill rotWithShape="1">
          <a:blip r:embed="rId2">
            <a:alphaModFix/>
          </a:blip>
          <a:srcRect b="0" l="0" r="0" t="0"/>
          <a:stretch/>
        </p:blipFill>
        <p:spPr>
          <a:xfrm>
            <a:off x="0" y="-4761"/>
            <a:ext cx="12192000" cy="685800"/>
          </a:xfrm>
          <a:prstGeom prst="rect">
            <a:avLst/>
          </a:prstGeom>
          <a:noFill/>
          <a:ln>
            <a:noFill/>
          </a:ln>
        </p:spPr>
      </p:pic>
      <p:sp>
        <p:nvSpPr>
          <p:cNvPr id="178" name="Google Shape;178;g394c25f66fd_0_393"/>
          <p:cNvSpPr txBox="1"/>
          <p:nvPr>
            <p:ph idx="12" type="sldNum"/>
          </p:nvPr>
        </p:nvSpPr>
        <p:spPr>
          <a:xfrm>
            <a:off x="11409045" y="6333134"/>
            <a:ext cx="731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9" name="Shape 179"/>
        <p:cNvGrpSpPr/>
        <p:nvPr/>
      </p:nvGrpSpPr>
      <p:grpSpPr>
        <a:xfrm>
          <a:off x="0" y="0"/>
          <a:ext cx="0" cy="0"/>
          <a:chOff x="0" y="0"/>
          <a:chExt cx="0" cy="0"/>
        </a:xfrm>
      </p:grpSpPr>
      <p:sp>
        <p:nvSpPr>
          <p:cNvPr id="180" name="Google Shape;180;g394c25f66fd_0_39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g394c25f66fd_0_39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g394c25f66fd_0_39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g394c25f66fd_0_39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4" name="Shape 184"/>
        <p:cNvGrpSpPr/>
        <p:nvPr/>
      </p:nvGrpSpPr>
      <p:grpSpPr>
        <a:xfrm>
          <a:off x="0" y="0"/>
          <a:ext cx="0" cy="0"/>
          <a:chOff x="0" y="0"/>
          <a:chExt cx="0" cy="0"/>
        </a:xfrm>
      </p:grpSpPr>
      <p:sp>
        <p:nvSpPr>
          <p:cNvPr id="185" name="Google Shape;185;g394c25f66fd_0_40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g394c25f66fd_0_40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g394c25f66fd_0_40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8" name="Shape 188"/>
        <p:cNvGrpSpPr/>
        <p:nvPr/>
      </p:nvGrpSpPr>
      <p:grpSpPr>
        <a:xfrm>
          <a:off x="0" y="0"/>
          <a:ext cx="0" cy="0"/>
          <a:chOff x="0" y="0"/>
          <a:chExt cx="0" cy="0"/>
        </a:xfrm>
      </p:grpSpPr>
      <p:sp>
        <p:nvSpPr>
          <p:cNvPr id="189" name="Google Shape;189;g394c25f66fd_0_405"/>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g394c25f66fd_0_405"/>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91" name="Google Shape;191;g394c25f66fd_0_405"/>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2" name="Google Shape;192;g394c25f66fd_0_40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g394c25f66fd_0_40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g394c25f66fd_0_40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5" name="Shape 195"/>
        <p:cNvGrpSpPr/>
        <p:nvPr/>
      </p:nvGrpSpPr>
      <p:grpSpPr>
        <a:xfrm>
          <a:off x="0" y="0"/>
          <a:ext cx="0" cy="0"/>
          <a:chOff x="0" y="0"/>
          <a:chExt cx="0" cy="0"/>
        </a:xfrm>
      </p:grpSpPr>
      <p:sp>
        <p:nvSpPr>
          <p:cNvPr id="196" name="Google Shape;196;g394c25f66fd_0_412"/>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g394c25f66fd_0_412"/>
          <p:cNvSpPr/>
          <p:nvPr>
            <p:ph idx="2" type="pic"/>
          </p:nvPr>
        </p:nvSpPr>
        <p:spPr>
          <a:xfrm>
            <a:off x="5183188" y="987425"/>
            <a:ext cx="6172200" cy="4873500"/>
          </a:xfrm>
          <a:prstGeom prst="rect">
            <a:avLst/>
          </a:prstGeom>
          <a:noFill/>
          <a:ln>
            <a:noFill/>
          </a:ln>
        </p:spPr>
      </p:sp>
      <p:sp>
        <p:nvSpPr>
          <p:cNvPr id="198" name="Google Shape;198;g394c25f66fd_0_412"/>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9" name="Google Shape;199;g394c25f66fd_0_41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g394c25f66fd_0_41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g394c25f66fd_0_4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2" name="Shape 202"/>
        <p:cNvGrpSpPr/>
        <p:nvPr/>
      </p:nvGrpSpPr>
      <p:grpSpPr>
        <a:xfrm>
          <a:off x="0" y="0"/>
          <a:ext cx="0" cy="0"/>
          <a:chOff x="0" y="0"/>
          <a:chExt cx="0" cy="0"/>
        </a:xfrm>
      </p:grpSpPr>
      <p:sp>
        <p:nvSpPr>
          <p:cNvPr id="203" name="Google Shape;203;g394c25f66fd_0_4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g394c25f66fd_0_419"/>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g394c25f66fd_0_41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g394c25f66fd_0_4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g394c25f66fd_0_4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8" name="Shape 208"/>
        <p:cNvGrpSpPr/>
        <p:nvPr/>
      </p:nvGrpSpPr>
      <p:grpSpPr>
        <a:xfrm>
          <a:off x="0" y="0"/>
          <a:ext cx="0" cy="0"/>
          <a:chOff x="0" y="0"/>
          <a:chExt cx="0" cy="0"/>
        </a:xfrm>
      </p:grpSpPr>
      <p:sp>
        <p:nvSpPr>
          <p:cNvPr id="209" name="Google Shape;209;g394c25f66fd_0_425"/>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g394c25f66fd_0_425"/>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g394c25f66fd_0_42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g394c25f66fd_0_4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g394c25f66fd_0_4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1.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g344c60f6e55_0_7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g344c60f6e55_0_7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g344c60f6e55_0_7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g344c60f6e55_0_7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g344c60f6e55_0_7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g344c60f6e55_0_77"/>
          <p:cNvSpPr txBox="1"/>
          <p:nvPr/>
        </p:nvSpPr>
        <p:spPr>
          <a:xfrm>
            <a:off x="5480050" y="63500"/>
            <a:ext cx="1254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SMU Classification: Restricted</a:t>
            </a:r>
            <a:endParaRPr b="0" i="0" sz="1400" u="none" cap="none" strike="noStrike">
              <a:solidFill>
                <a:srgbClr val="000000"/>
              </a:solidFill>
              <a:latin typeface="Arial"/>
              <a:ea typeface="Arial"/>
              <a:cs typeface="Arial"/>
              <a:sym typeface="Arial"/>
            </a:endParaRPr>
          </a:p>
        </p:txBody>
      </p:sp>
      <p:sp>
        <p:nvSpPr>
          <p:cNvPr id="16" name="Google Shape;16;g344c60f6e55_0_77"/>
          <p:cNvSpPr txBox="1"/>
          <p:nvPr/>
        </p:nvSpPr>
        <p:spPr>
          <a:xfrm>
            <a:off x="5428425" y="63500"/>
            <a:ext cx="1355725" cy="121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SMU Classification: Restricted</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sp>
        <p:nvSpPr>
          <p:cNvPr id="78" name="Google Shape;7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9" name="Google Shape;7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0" name="Google Shape;80;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1" name="Google Shape;8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2" name="Google Shape;8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83" name="Google Shape;83;p6"/>
          <p:cNvSpPr txBox="1"/>
          <p:nvPr/>
        </p:nvSpPr>
        <p:spPr>
          <a:xfrm>
            <a:off x="5428425" y="63500"/>
            <a:ext cx="1355725" cy="121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SMU Classification: Restricted</a:t>
            </a:r>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g394c25f66fd_0_36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6" name="Google Shape;146;g394c25f66fd_0_36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7" name="Google Shape;147;g394c25f66fd_0_36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8" name="Google Shape;148;g394c25f66fd_0_36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9" name="Google Shape;149;g394c25f66fd_0_36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0" name="Google Shape;150;g394c25f66fd_0_362"/>
          <p:cNvSpPr txBox="1"/>
          <p:nvPr/>
        </p:nvSpPr>
        <p:spPr>
          <a:xfrm>
            <a:off x="5428425" y="63500"/>
            <a:ext cx="1355725" cy="121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SMU Classification: Restricted</a:t>
            </a:r>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s://expressjs.com/en/resources/middleware/sessio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hyperlink" Target="http://localhost:8000/search_form" TargetMode="Externa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hyperlink" Target="http://localhost:8000/search_form" TargetMode="Externa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 Id="rId3" Type="http://schemas.openxmlformats.org/officeDocument/2006/relationships/hyperlink" Target="http://localhost:8000/search_form" TargetMode="External"/><Relationship Id="rId4" Type="http://schemas.openxmlformats.org/officeDocument/2006/relationships/image" Target="../media/image9.png"/><Relationship Id="rId5"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 Id="rId3" Type="http://schemas.openxmlformats.org/officeDocument/2006/relationships/hyperlink" Target="http://localhost:8000/search_form" TargetMode="External"/><Relationship Id="rId4" Type="http://schemas.openxmlformats.org/officeDocument/2006/relationships/image" Target="../media/image7.png"/><Relationship Id="rId5"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23.png"/><Relationship Id="rId5"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1.xml"/><Relationship Id="rId3" Type="http://schemas.openxmlformats.org/officeDocument/2006/relationships/hyperlink" Target="http://localhost:8000/search_for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4.xml"/><Relationship Id="rId3" Type="http://schemas.openxmlformats.org/officeDocument/2006/relationships/image" Target="../media/image25.png"/><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 Id="rId3" Type="http://schemas.openxmlformats.org/officeDocument/2006/relationships/hyperlink" Target="http://localhost:8000/search_form" TargetMode="External"/><Relationship Id="rId4" Type="http://schemas.openxmlformats.org/officeDocument/2006/relationships/image" Target="../media/image26.png"/><Relationship Id="rId5"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32.png"/><Relationship Id="rId4" Type="http://schemas.openxmlformats.org/officeDocument/2006/relationships/image" Target="../media/image27.png"/><Relationship Id="rId5" Type="http://schemas.openxmlformats.org/officeDocument/2006/relationships/image" Target="../media/image29.png"/><Relationship Id="rId6" Type="http://schemas.openxmlformats.org/officeDocument/2006/relationships/image" Target="../media/image31.png"/><Relationship Id="rId7"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44c60f6e55_0_72"/>
          <p:cNvSpPr/>
          <p:nvPr/>
        </p:nvSpPr>
        <p:spPr>
          <a:xfrm>
            <a:off x="319075" y="2259075"/>
            <a:ext cx="11516700" cy="1253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ctr">
              <a:lnSpc>
                <a:spcPct val="90000"/>
              </a:lnSpc>
              <a:spcBef>
                <a:spcPts val="0"/>
              </a:spcBef>
              <a:spcAft>
                <a:spcPts val="0"/>
              </a:spcAft>
              <a:buClr>
                <a:srgbClr val="000000"/>
              </a:buClr>
              <a:buSzPts val="4200"/>
              <a:buFont typeface="Arial"/>
              <a:buNone/>
            </a:pPr>
            <a:r>
              <a:rPr b="1" i="0" lang="en-US" sz="4200" u="none" cap="none" strike="noStrike">
                <a:solidFill>
                  <a:srgbClr val="11175E"/>
                </a:solidFill>
                <a:latin typeface="Arial"/>
                <a:ea typeface="Arial"/>
                <a:cs typeface="Arial"/>
                <a:sym typeface="Arial"/>
              </a:rPr>
              <a:t>IS113</a:t>
            </a:r>
            <a:endParaRPr b="1" i="0" sz="4200" u="none" cap="none" strike="noStrike">
              <a:solidFill>
                <a:srgbClr val="11175E"/>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4200"/>
              <a:buFont typeface="Arial"/>
              <a:buNone/>
            </a:pPr>
            <a:r>
              <a:rPr b="1" i="0" lang="en-US" sz="4200" u="none" cap="none" strike="noStrike">
                <a:solidFill>
                  <a:srgbClr val="11175E"/>
                </a:solidFill>
                <a:latin typeface="Arial"/>
                <a:ea typeface="Arial"/>
                <a:cs typeface="Arial"/>
                <a:sym typeface="Arial"/>
              </a:rPr>
              <a:t>Web Application Development I</a:t>
            </a:r>
            <a:endParaRPr b="1" i="0" sz="4200" u="none" cap="none" strike="noStrike">
              <a:solidFill>
                <a:srgbClr val="11175E"/>
              </a:solidFill>
              <a:latin typeface="Arial"/>
              <a:ea typeface="Arial"/>
              <a:cs typeface="Arial"/>
              <a:sym typeface="Arial"/>
            </a:endParaRPr>
          </a:p>
        </p:txBody>
      </p:sp>
      <p:sp>
        <p:nvSpPr>
          <p:cNvPr id="219" name="Google Shape;219;g344c60f6e55_0_72"/>
          <p:cNvSpPr txBox="1"/>
          <p:nvPr/>
        </p:nvSpPr>
        <p:spPr>
          <a:xfrm>
            <a:off x="369450" y="4119775"/>
            <a:ext cx="11453100" cy="1715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extLst>
                  <a:ext uri="http://customooxmlschemas.google.com/">
                    <go:slidesCustomData xmlns:go="http://customooxmlschemas.google.com/" textRoundtripDataId="0"/>
                  </a:ext>
                </a:extLst>
              </a:rPr>
              <a:t>Week 11</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Sessions, Authentication and Authorization</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7212702409_0_1"/>
          <p:cNvSpPr txBox="1"/>
          <p:nvPr/>
        </p:nvSpPr>
        <p:spPr>
          <a:xfrm>
            <a:off x="217775" y="1470575"/>
            <a:ext cx="11686200" cy="51483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600"/>
              </a:spcBef>
              <a:spcAft>
                <a:spcPts val="0"/>
              </a:spcAft>
              <a:buClr>
                <a:srgbClr val="000000"/>
              </a:buClr>
              <a:buSzPts val="1600"/>
              <a:buFont typeface="Arial"/>
              <a:buChar char="●"/>
            </a:pPr>
            <a:r>
              <a:rPr b="0" i="0" lang="en-US" sz="2000" u="none" cap="none" strike="noStrike">
                <a:solidFill>
                  <a:srgbClr val="000000"/>
                </a:solidFill>
                <a:latin typeface="Arial"/>
                <a:ea typeface="Arial"/>
                <a:cs typeface="Arial"/>
                <a:sym typeface="Arial"/>
              </a:rPr>
              <a:t>S</a:t>
            </a:r>
            <a:r>
              <a:rPr b="0" i="0" lang="en-US" sz="2000" u="none" cap="none" strike="noStrike">
                <a:solidFill>
                  <a:srgbClr val="000000"/>
                </a:solidFill>
                <a:latin typeface="Arial"/>
                <a:ea typeface="Arial"/>
                <a:cs typeface="Arial"/>
                <a:sym typeface="Arial"/>
                <a:extLst>
                  <a:ext uri="http://customooxmlschemas.google.com/">
                    <go:slidesCustomData xmlns:go="http://customooxmlschemas.google.com/" textRoundtripDataId="1"/>
                  </a:ext>
                </a:extLst>
              </a:rPr>
              <a:t>ession</a:t>
            </a:r>
            <a:r>
              <a:rPr b="0" i="0" lang="en-US" sz="2000" u="none" cap="none" strike="noStrike">
                <a:solidFill>
                  <a:srgbClr val="000000"/>
                </a:solidFill>
                <a:latin typeface="Arial"/>
                <a:ea typeface="Arial"/>
                <a:cs typeface="Arial"/>
                <a:sym typeface="Arial"/>
              </a:rPr>
              <a:t>s</a:t>
            </a:r>
            <a:endParaRPr/>
          </a:p>
          <a:p>
            <a:pPr indent="-330200" lvl="1" marL="914400" marR="0" rtl="0" algn="l">
              <a:lnSpc>
                <a:spcPct val="100000"/>
              </a:lnSpc>
              <a:spcBef>
                <a:spcPts val="600"/>
              </a:spcBef>
              <a:spcAft>
                <a:spcPts val="0"/>
              </a:spcAft>
              <a:buClr>
                <a:srgbClr val="000000"/>
              </a:buClr>
              <a:buSzPts val="1600"/>
              <a:buFont typeface="Arial"/>
              <a:buChar char="○"/>
            </a:pPr>
            <a:r>
              <a:rPr b="0" i="0" lang="en-US" sz="2000" u="none" cap="none" strike="noStrike">
                <a:solidFill>
                  <a:srgbClr val="000000"/>
                </a:solidFill>
                <a:latin typeface="Arial"/>
                <a:ea typeface="Arial"/>
                <a:cs typeface="Arial"/>
                <a:sym typeface="Arial"/>
              </a:rPr>
              <a:t>HTTP and states</a:t>
            </a:r>
            <a:endParaRPr/>
          </a:p>
          <a:p>
            <a:pPr indent="-330200" lvl="1" marL="914400" marR="0" rtl="0" algn="l">
              <a:lnSpc>
                <a:spcPct val="100000"/>
              </a:lnSpc>
              <a:spcBef>
                <a:spcPts val="600"/>
              </a:spcBef>
              <a:spcAft>
                <a:spcPts val="0"/>
              </a:spcAft>
              <a:buClr>
                <a:srgbClr val="000000"/>
              </a:buClr>
              <a:buSzPts val="1600"/>
              <a:buFont typeface="Arial"/>
              <a:buChar char="○"/>
            </a:pPr>
            <a:r>
              <a:rPr b="0" i="0" lang="en-US" sz="2000" u="none" cap="none" strike="noStrike">
                <a:solidFill>
                  <a:srgbClr val="000000"/>
                </a:solidFill>
                <a:latin typeface="Arial"/>
                <a:ea typeface="Arial"/>
                <a:cs typeface="Arial"/>
                <a:sym typeface="Arial"/>
              </a:rPr>
              <a:t>Why use sessions</a:t>
            </a:r>
            <a:endParaRPr/>
          </a:p>
          <a:p>
            <a:pPr indent="-330200" lvl="1" marL="914400" marR="0" rtl="0" algn="l">
              <a:lnSpc>
                <a:spcPct val="100000"/>
              </a:lnSpc>
              <a:spcBef>
                <a:spcPts val="600"/>
              </a:spcBef>
              <a:spcAft>
                <a:spcPts val="0"/>
              </a:spcAft>
              <a:buClr>
                <a:srgbClr val="000000"/>
              </a:buClr>
              <a:buSzPts val="1600"/>
              <a:buFont typeface="Arial"/>
              <a:buChar char="○"/>
            </a:pPr>
            <a:r>
              <a:rPr b="0" i="0" lang="en-US" sz="2000" u="none" cap="none" strike="noStrike">
                <a:solidFill>
                  <a:srgbClr val="000000"/>
                </a:solidFill>
                <a:latin typeface="Arial"/>
                <a:ea typeface="Arial"/>
                <a:cs typeface="Arial"/>
                <a:sym typeface="Arial"/>
              </a:rPr>
              <a:t>Session management in express (with </a:t>
            </a:r>
            <a:r>
              <a:rPr b="1" i="0" lang="en-US" sz="1800" u="none" cap="none" strike="noStrike">
                <a:solidFill>
                  <a:srgbClr val="0000FF"/>
                </a:solidFill>
                <a:latin typeface="Roboto Mono"/>
                <a:ea typeface="Roboto Mono"/>
                <a:cs typeface="Roboto Mono"/>
                <a:sym typeface="Roboto Mono"/>
              </a:rPr>
              <a:t>express-sessions</a:t>
            </a:r>
            <a:r>
              <a:rPr b="0" i="0" lang="en-US" sz="2000" u="none" cap="none" strike="noStrike">
                <a:solidFill>
                  <a:srgbClr val="000000"/>
                </a:solidFill>
                <a:latin typeface="Arial"/>
                <a:ea typeface="Arial"/>
                <a:cs typeface="Arial"/>
                <a:sym typeface="Arial"/>
              </a:rPr>
              <a:t>)</a:t>
            </a:r>
            <a:endParaRPr/>
          </a:p>
          <a:p>
            <a:pPr indent="-330200" lvl="0" marL="457200" marR="0" rtl="0" algn="l">
              <a:lnSpc>
                <a:spcPct val="100000"/>
              </a:lnSpc>
              <a:spcBef>
                <a:spcPts val="600"/>
              </a:spcBef>
              <a:spcAft>
                <a:spcPts val="0"/>
              </a:spcAft>
              <a:buClr>
                <a:srgbClr val="000000"/>
              </a:buClr>
              <a:buSzPts val="1600"/>
              <a:buFont typeface="Arial"/>
              <a:buChar char="●"/>
            </a:pPr>
            <a:r>
              <a:rPr b="0" i="0" lang="en-US" sz="2000" u="none" cap="none" strike="noStrike">
                <a:solidFill>
                  <a:srgbClr val="000000"/>
                </a:solidFill>
                <a:latin typeface="Arial"/>
                <a:ea typeface="Arial"/>
                <a:cs typeface="Arial"/>
                <a:sym typeface="Arial"/>
              </a:rPr>
              <a:t>Authentication &amp; Authorization</a:t>
            </a:r>
            <a:endParaRPr/>
          </a:p>
          <a:p>
            <a:pPr indent="-330200" lvl="1" marL="914400" marR="0" rtl="0" algn="l">
              <a:lnSpc>
                <a:spcPct val="100000"/>
              </a:lnSpc>
              <a:spcBef>
                <a:spcPts val="600"/>
              </a:spcBef>
              <a:spcAft>
                <a:spcPts val="0"/>
              </a:spcAft>
              <a:buClr>
                <a:srgbClr val="000000"/>
              </a:buClr>
              <a:buSzPts val="1600"/>
              <a:buFont typeface="Arial"/>
              <a:buChar char="○"/>
            </a:pPr>
            <a:r>
              <a:rPr b="0" i="0" lang="en-US" sz="2000" u="none" cap="none" strike="noStrike">
                <a:solidFill>
                  <a:schemeClr val="dk1"/>
                </a:solidFill>
                <a:latin typeface="Arial"/>
                <a:ea typeface="Arial"/>
                <a:cs typeface="Arial"/>
                <a:sym typeface="Arial"/>
                <a:extLst>
                  <a:ext uri="http://customooxmlschemas.google.com/">
                    <go:slidesCustomData xmlns:go="http://customooxmlschemas.google.com/" textRoundtripDataId="2"/>
                  </a:ext>
                </a:extLst>
              </a:rPr>
              <a:t>Authentication vs Authorization</a:t>
            </a:r>
            <a:endParaRPr b="0" i="0" sz="2000" u="none" cap="none" strike="noStrike">
              <a:solidFill>
                <a:schemeClr val="dk1"/>
              </a:solidFill>
              <a:latin typeface="Arial"/>
              <a:ea typeface="Arial"/>
              <a:cs typeface="Arial"/>
              <a:sym typeface="Arial"/>
            </a:endParaRPr>
          </a:p>
          <a:p>
            <a:pPr indent="-330200" lvl="1" marL="914400" marR="0" rtl="0" algn="l">
              <a:lnSpc>
                <a:spcPct val="100000"/>
              </a:lnSpc>
              <a:spcBef>
                <a:spcPts val="600"/>
              </a:spcBef>
              <a:spcAft>
                <a:spcPts val="0"/>
              </a:spcAft>
              <a:buClr>
                <a:schemeClr val="dk1"/>
              </a:buClr>
              <a:buSzPts val="1600"/>
              <a:buFont typeface="Arial"/>
              <a:buChar char="○"/>
            </a:pPr>
            <a:r>
              <a:rPr b="0" i="0" lang="en-US" sz="2000" u="none" cap="none" strike="noStrike">
                <a:solidFill>
                  <a:schemeClr val="dk1"/>
                </a:solidFill>
                <a:latin typeface="Arial"/>
                <a:ea typeface="Arial"/>
                <a:cs typeface="Arial"/>
                <a:sym typeface="Arial"/>
              </a:rPr>
              <a:t>Using Middleware for </a:t>
            </a:r>
            <a:r>
              <a:rPr b="0" i="0" lang="en-US" sz="2000" u="none" cap="none" strike="noStrike">
                <a:solidFill>
                  <a:schemeClr val="dk1"/>
                </a:solidFill>
                <a:latin typeface="Arial"/>
                <a:ea typeface="Arial"/>
                <a:cs typeface="Arial"/>
                <a:sym typeface="Arial"/>
                <a:extLst>
                  <a:ext uri="http://customooxmlschemas.google.com/">
                    <go:slidesCustomData xmlns:go="http://customooxmlschemas.google.com/" textRoundtripDataId="3"/>
                  </a:ext>
                </a:extLst>
              </a:rPr>
              <a:t>Authorization</a:t>
            </a:r>
            <a:endParaRPr b="0" i="0" sz="2000" u="none" cap="none" strike="noStrike">
              <a:solidFill>
                <a:schemeClr val="dk1"/>
              </a:solidFill>
              <a:latin typeface="Arial"/>
              <a:ea typeface="Arial"/>
              <a:cs typeface="Arial"/>
              <a:sym typeface="Arial"/>
            </a:endParaRPr>
          </a:p>
          <a:p>
            <a:pPr indent="-330200" lvl="1" marL="914400" marR="0" rtl="0" algn="l">
              <a:lnSpc>
                <a:spcPct val="100000"/>
              </a:lnSpc>
              <a:spcBef>
                <a:spcPts val="600"/>
              </a:spcBef>
              <a:spcAft>
                <a:spcPts val="0"/>
              </a:spcAft>
              <a:buClr>
                <a:srgbClr val="000000"/>
              </a:buClr>
              <a:buSzPts val="1600"/>
              <a:buFont typeface="Arial"/>
              <a:buChar char="○"/>
            </a:pPr>
            <a:r>
              <a:rPr b="0" i="0" lang="en-US" sz="2000" u="none" cap="none" strike="noStrike">
                <a:solidFill>
                  <a:srgbClr val="000000"/>
                </a:solidFill>
                <a:latin typeface="Arial"/>
                <a:ea typeface="Arial"/>
                <a:cs typeface="Arial"/>
                <a:sym typeface="Arial"/>
              </a:rPr>
              <a:t>Storing Passwords</a:t>
            </a:r>
            <a:endParaRPr/>
          </a:p>
          <a:p>
            <a:pPr indent="-330200" lvl="2" marL="1371600" marR="0" rtl="0" algn="l">
              <a:lnSpc>
                <a:spcPct val="100000"/>
              </a:lnSpc>
              <a:spcBef>
                <a:spcPts val="600"/>
              </a:spcBef>
              <a:spcAft>
                <a:spcPts val="0"/>
              </a:spcAft>
              <a:buClr>
                <a:srgbClr val="000000"/>
              </a:buClr>
              <a:buSzPts val="1600"/>
              <a:buFont typeface="Arial"/>
              <a:buChar char="■"/>
            </a:pPr>
            <a:r>
              <a:rPr b="0" i="0" lang="en-US" sz="2000" u="none" cap="none" strike="noStrike">
                <a:solidFill>
                  <a:srgbClr val="000000"/>
                </a:solidFill>
                <a:latin typeface="Arial"/>
                <a:ea typeface="Arial"/>
                <a:cs typeface="Arial"/>
                <a:sym typeface="Arial"/>
              </a:rPr>
              <a:t>Hashing passwords</a:t>
            </a:r>
            <a:endParaRPr/>
          </a:p>
          <a:p>
            <a:pPr indent="-330200" lvl="2" marL="1371600" marR="0" rtl="0" algn="l">
              <a:lnSpc>
                <a:spcPct val="100000"/>
              </a:lnSpc>
              <a:spcBef>
                <a:spcPts val="600"/>
              </a:spcBef>
              <a:spcAft>
                <a:spcPts val="0"/>
              </a:spcAft>
              <a:buClr>
                <a:srgbClr val="000000"/>
              </a:buClr>
              <a:buSzPts val="1600"/>
              <a:buFont typeface="Arial"/>
              <a:buChar char="■"/>
            </a:pPr>
            <a:r>
              <a:rPr b="0" i="0" lang="en-US" sz="2000" u="none" cap="none" strike="noStrike">
                <a:solidFill>
                  <a:srgbClr val="000000"/>
                </a:solidFill>
                <a:latin typeface="Arial"/>
                <a:ea typeface="Arial"/>
                <a:cs typeface="Arial"/>
                <a:sym typeface="Arial"/>
              </a:rPr>
              <a:t>Hashing in express (with </a:t>
            </a:r>
            <a:r>
              <a:rPr b="1" i="0" lang="en-US" sz="1800" u="none" cap="none" strike="noStrike">
                <a:solidFill>
                  <a:srgbClr val="0000FF"/>
                </a:solidFill>
                <a:latin typeface="Roboto Mono"/>
                <a:ea typeface="Roboto Mono"/>
                <a:cs typeface="Roboto Mono"/>
                <a:sym typeface="Roboto Mono"/>
              </a:rPr>
              <a:t>bcrypt</a:t>
            </a:r>
            <a:r>
              <a:rPr b="0" i="0" lang="en-US" sz="2000" u="none" cap="none" strike="noStrike">
                <a:solidFill>
                  <a:srgbClr val="0000FF"/>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a:p>
            <a:pPr indent="-330200" lvl="0" marL="457200" marR="0" rtl="0" algn="l">
              <a:lnSpc>
                <a:spcPct val="100000"/>
              </a:lnSpc>
              <a:spcBef>
                <a:spcPts val="600"/>
              </a:spcBef>
              <a:spcAft>
                <a:spcPts val="0"/>
              </a:spcAft>
              <a:buClr>
                <a:srgbClr val="000000"/>
              </a:buClr>
              <a:buSzPts val="1600"/>
              <a:buFont typeface="Arial"/>
              <a:buChar char="●"/>
            </a:pPr>
            <a:r>
              <a:rPr b="0" i="0" lang="en-US" sz="2000" u="none" cap="none" strike="noStrike">
                <a:solidFill>
                  <a:srgbClr val="000000"/>
                </a:solidFill>
                <a:latin typeface="Arial"/>
                <a:ea typeface="Arial"/>
                <a:cs typeface="Arial"/>
                <a:sym typeface="Arial"/>
              </a:rPr>
              <a:t>Security Best Practices</a:t>
            </a:r>
            <a:endParaRPr/>
          </a:p>
        </p:txBody>
      </p:sp>
      <p:sp>
        <p:nvSpPr>
          <p:cNvPr id="225" name="Google Shape;225;g37212702409_0_1"/>
          <p:cNvSpPr/>
          <p:nvPr/>
        </p:nvSpPr>
        <p:spPr>
          <a:xfrm>
            <a:off x="217750" y="808175"/>
            <a:ext cx="116862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rgbClr val="000000"/>
              </a:buClr>
              <a:buSzPts val="2400"/>
              <a:buFont typeface="Arial"/>
              <a:buNone/>
            </a:pPr>
            <a:r>
              <a:rPr b="1" i="0" lang="en-US" sz="2400" u="none" cap="none" strike="noStrike">
                <a:solidFill>
                  <a:srgbClr val="11175E"/>
                </a:solidFill>
                <a:latin typeface="Arial"/>
                <a:ea typeface="Arial"/>
                <a:cs typeface="Arial"/>
                <a:sym typeface="Arial"/>
              </a:rPr>
              <a:t>Topics</a:t>
            </a:r>
            <a:endParaRPr b="1" i="0" sz="2400" u="none" cap="none" strike="noStrike">
              <a:solidFill>
                <a:srgbClr val="11175E"/>
              </a:solidFill>
              <a:latin typeface="Arial"/>
              <a:ea typeface="Arial"/>
              <a:cs typeface="Arial"/>
              <a:sym typeface="Arial"/>
            </a:endParaRPr>
          </a:p>
        </p:txBody>
      </p:sp>
      <p:sp>
        <p:nvSpPr>
          <p:cNvPr id="226" name="Google Shape;226;g37212702409_0_1"/>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44c60f6e55_0_304"/>
          <p:cNvSpPr txBox="1"/>
          <p:nvPr/>
        </p:nvSpPr>
        <p:spPr>
          <a:xfrm>
            <a:off x="217750" y="1497450"/>
            <a:ext cx="11694600" cy="51219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50000"/>
              </a:lnSpc>
              <a:spcBef>
                <a:spcPts val="12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HTTP is a Stateless Protocol - HTTP server processes each request independently, without relying on previous interactions.</a:t>
            </a:r>
            <a:endParaRPr b="0" i="0" sz="1600" u="none" cap="none" strike="noStrike">
              <a:solidFill>
                <a:schemeClr val="dk1"/>
              </a:solidFill>
              <a:latin typeface="Arial"/>
              <a:ea typeface="Arial"/>
              <a:cs typeface="Arial"/>
              <a:sym typeface="Arial"/>
            </a:endParaRPr>
          </a:p>
          <a:p>
            <a:pPr indent="-330200" lvl="0" marL="457200" marR="0" rtl="0" algn="just">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server doesn’t remember any session state from earlier requests.</a:t>
            </a:r>
            <a:endParaRPr b="0" i="0" sz="1600" u="none" cap="none" strike="noStrike">
              <a:solidFill>
                <a:schemeClr val="dk1"/>
              </a:solidFill>
              <a:latin typeface="Arial"/>
              <a:ea typeface="Arial"/>
              <a:cs typeface="Arial"/>
              <a:sym typeface="Arial"/>
            </a:endParaRPr>
          </a:p>
          <a:p>
            <a:pPr indent="-330200" lvl="0" marL="457200" marR="0" rtl="0" algn="just">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This means the client must include any necessary session information in every request it sends.</a:t>
            </a:r>
            <a:endParaRPr b="0" i="0" sz="1600" u="none" cap="none" strike="noStrike">
              <a:solidFill>
                <a:schemeClr val="dk1"/>
              </a:solidFill>
              <a:latin typeface="Arial"/>
              <a:ea typeface="Arial"/>
              <a:cs typeface="Arial"/>
              <a:sym typeface="Arial"/>
            </a:endParaRPr>
          </a:p>
          <a:p>
            <a:pPr indent="-330200" lvl="0" marL="457200" marR="0" rtl="0" algn="just">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Using a stateless protocol like HTTP brings several benefits:</a:t>
            </a:r>
            <a:endParaRPr b="0" i="0" sz="1600" u="none" cap="none" strike="noStrike">
              <a:solidFill>
                <a:schemeClr val="dk1"/>
              </a:solidFill>
              <a:latin typeface="Arial"/>
              <a:ea typeface="Arial"/>
              <a:cs typeface="Arial"/>
              <a:sym typeface="Arial"/>
            </a:endParaRPr>
          </a:p>
          <a:p>
            <a:pPr indent="-330200" lvl="1" marL="914400" marR="0" rtl="0" algn="just">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Visibility improves since monitoring tools can fully understand any request without needing context from earlier ones.</a:t>
            </a:r>
            <a:endParaRPr b="0" i="0" sz="1600" u="none" cap="none" strike="noStrike">
              <a:solidFill>
                <a:schemeClr val="dk1"/>
              </a:solidFill>
              <a:latin typeface="Arial"/>
              <a:ea typeface="Arial"/>
              <a:cs typeface="Arial"/>
              <a:sym typeface="Arial"/>
            </a:endParaRPr>
          </a:p>
          <a:p>
            <a:pPr indent="-330200" lvl="1" marL="914400" marR="0" rtl="0" algn="just">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Reliability increases because recovering from failures is simpler when there's no stored session data to manage.</a:t>
            </a:r>
            <a:endParaRPr b="0" i="0" sz="1600" u="none" cap="none" strike="noStrike">
              <a:solidFill>
                <a:schemeClr val="dk1"/>
              </a:solidFill>
              <a:latin typeface="Arial"/>
              <a:ea typeface="Arial"/>
              <a:cs typeface="Arial"/>
              <a:sym typeface="Arial"/>
            </a:endParaRPr>
          </a:p>
          <a:p>
            <a:pPr indent="-330200" lvl="1" marL="914400" marR="0" rtl="0" algn="just">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Scalability is enhanced as the server can release resources quickly after handling each request, making it easier to serve more clients efficiently.</a:t>
            </a:r>
            <a:endParaRPr b="0" i="0" sz="1600" u="none" cap="none" strike="noStrike">
              <a:solidFill>
                <a:schemeClr val="dk1"/>
              </a:solidFill>
              <a:latin typeface="Arial"/>
              <a:ea typeface="Arial"/>
              <a:cs typeface="Arial"/>
              <a:sym typeface="Arial"/>
            </a:endParaRPr>
          </a:p>
          <a:p>
            <a:pPr indent="0" lvl="0" marL="457200" marR="0" rtl="0" algn="just">
              <a:lnSpc>
                <a:spcPct val="100000"/>
              </a:lnSpc>
              <a:spcBef>
                <a:spcPts val="120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32" name="Google Shape;232;g344c60f6e55_0_304"/>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extLst>
                  <a:ext uri="http://customooxmlschemas.google.com/">
                    <go:slidesCustomData xmlns:go="http://customooxmlschemas.google.com/" textRoundtripDataId="4"/>
                  </a:ext>
                </a:extLst>
              </a:rPr>
              <a:t>HTTP and States</a:t>
            </a:r>
            <a:endParaRPr b="1" i="0" sz="2400" u="none" cap="none" strike="noStrike">
              <a:solidFill>
                <a:srgbClr val="11175E"/>
              </a:solidFill>
              <a:latin typeface="Arial"/>
              <a:ea typeface="Arial"/>
              <a:cs typeface="Arial"/>
              <a:sym typeface="Arial"/>
            </a:endParaRPr>
          </a:p>
        </p:txBody>
      </p:sp>
      <p:sp>
        <p:nvSpPr>
          <p:cNvPr id="233" name="Google Shape;233;g344c60f6e55_0_304"/>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44c60f6e55_0_232"/>
          <p:cNvSpPr/>
          <p:nvPr/>
        </p:nvSpPr>
        <p:spPr>
          <a:xfrm>
            <a:off x="1241100" y="1988550"/>
            <a:ext cx="9709800" cy="4630800"/>
          </a:xfrm>
          <a:prstGeom prst="rect">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g344c60f6e55_0_232"/>
          <p:cNvSpPr txBox="1"/>
          <p:nvPr/>
        </p:nvSpPr>
        <p:spPr>
          <a:xfrm>
            <a:off x="217750" y="1497450"/>
            <a:ext cx="11694600" cy="51219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Sessions </a:t>
            </a:r>
            <a:r>
              <a:rPr b="0" i="0" lang="en-US" sz="1600" u="none" cap="none" strike="noStrike">
                <a:solidFill>
                  <a:schemeClr val="dk1"/>
                </a:solidFill>
                <a:latin typeface="Arial"/>
                <a:ea typeface="Arial"/>
                <a:cs typeface="Arial"/>
                <a:sym typeface="Arial"/>
              </a:rPr>
              <a:t>maintain a state throughout multiple request response cycles</a:t>
            </a:r>
            <a:endParaRPr b="0" i="0" sz="1600" u="none" cap="none" strike="noStrike">
              <a:solidFill>
                <a:schemeClr val="dk1"/>
              </a:solidFill>
              <a:latin typeface="Arial"/>
              <a:ea typeface="Arial"/>
              <a:cs typeface="Arial"/>
              <a:sym typeface="Arial"/>
            </a:endParaRPr>
          </a:p>
        </p:txBody>
      </p:sp>
      <p:sp>
        <p:nvSpPr>
          <p:cNvPr id="240" name="Google Shape;240;g344c60f6e55_0_232"/>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Why use Sessions?</a:t>
            </a:r>
            <a:endParaRPr b="1" i="0" sz="2400" u="none" cap="none" strike="noStrike">
              <a:solidFill>
                <a:srgbClr val="11175E"/>
              </a:solidFill>
              <a:latin typeface="Arial"/>
              <a:ea typeface="Arial"/>
              <a:cs typeface="Arial"/>
              <a:sym typeface="Arial"/>
            </a:endParaRPr>
          </a:p>
        </p:txBody>
      </p:sp>
      <p:sp>
        <p:nvSpPr>
          <p:cNvPr id="241" name="Google Shape;241;g344c60f6e55_0_232"/>
          <p:cNvSpPr/>
          <p:nvPr/>
        </p:nvSpPr>
        <p:spPr>
          <a:xfrm>
            <a:off x="1965388" y="2621300"/>
            <a:ext cx="434400" cy="37734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g344c60f6e55_0_232"/>
          <p:cNvSpPr/>
          <p:nvPr/>
        </p:nvSpPr>
        <p:spPr>
          <a:xfrm>
            <a:off x="8008563" y="2621300"/>
            <a:ext cx="434400" cy="37734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3" name="Google Shape;243;g344c60f6e55_0_232"/>
          <p:cNvCxnSpPr/>
          <p:nvPr/>
        </p:nvCxnSpPr>
        <p:spPr>
          <a:xfrm flipH="1" rot="10800000">
            <a:off x="2335463" y="3143300"/>
            <a:ext cx="5760600" cy="11400"/>
          </a:xfrm>
          <a:prstGeom prst="straightConnector1">
            <a:avLst/>
          </a:prstGeom>
          <a:noFill/>
          <a:ln cap="flat" cmpd="sng" w="9525">
            <a:solidFill>
              <a:schemeClr val="dk2"/>
            </a:solidFill>
            <a:prstDash val="solid"/>
            <a:round/>
            <a:headEnd len="sm" w="sm" type="none"/>
            <a:tailEnd len="med" w="med" type="triangle"/>
          </a:ln>
        </p:spPr>
      </p:cxnSp>
      <p:sp>
        <p:nvSpPr>
          <p:cNvPr id="244" name="Google Shape;244;g344c60f6e55_0_232"/>
          <p:cNvSpPr txBox="1"/>
          <p:nvPr/>
        </p:nvSpPr>
        <p:spPr>
          <a:xfrm>
            <a:off x="3723288" y="2733325"/>
            <a:ext cx="3038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request 1 :login with username, password</a:t>
            </a:r>
            <a:endParaRPr b="0" i="0" sz="1200" u="none" cap="none" strike="noStrike">
              <a:solidFill>
                <a:schemeClr val="dk1"/>
              </a:solidFill>
              <a:latin typeface="Arial"/>
              <a:ea typeface="Arial"/>
              <a:cs typeface="Arial"/>
              <a:sym typeface="Arial"/>
            </a:endParaRPr>
          </a:p>
        </p:txBody>
      </p:sp>
      <p:sp>
        <p:nvSpPr>
          <p:cNvPr id="245" name="Google Shape;245;g344c60f6e55_0_232"/>
          <p:cNvSpPr txBox="1"/>
          <p:nvPr/>
        </p:nvSpPr>
        <p:spPr>
          <a:xfrm>
            <a:off x="8442977" y="3154700"/>
            <a:ext cx="2362200" cy="9234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Login successful</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create a session</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store username</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return session-id</a:t>
            </a:r>
            <a:endParaRPr b="0" i="0" sz="1200" u="none" cap="none" strike="noStrike">
              <a:solidFill>
                <a:schemeClr val="dk1"/>
              </a:solidFill>
              <a:latin typeface="Arial"/>
              <a:ea typeface="Arial"/>
              <a:cs typeface="Arial"/>
              <a:sym typeface="Arial"/>
            </a:endParaRPr>
          </a:p>
        </p:txBody>
      </p:sp>
      <p:cxnSp>
        <p:nvCxnSpPr>
          <p:cNvPr id="246" name="Google Shape;246;g344c60f6e55_0_232"/>
          <p:cNvCxnSpPr/>
          <p:nvPr/>
        </p:nvCxnSpPr>
        <p:spPr>
          <a:xfrm flipH="1">
            <a:off x="2324138" y="4145313"/>
            <a:ext cx="5760600" cy="3900"/>
          </a:xfrm>
          <a:prstGeom prst="straightConnector1">
            <a:avLst/>
          </a:prstGeom>
          <a:noFill/>
          <a:ln cap="flat" cmpd="sng" w="9525">
            <a:solidFill>
              <a:schemeClr val="dk2"/>
            </a:solidFill>
            <a:prstDash val="solid"/>
            <a:round/>
            <a:headEnd len="sm" w="sm" type="none"/>
            <a:tailEnd len="med" w="med" type="triangle"/>
          </a:ln>
        </p:spPr>
      </p:cxnSp>
      <p:sp>
        <p:nvSpPr>
          <p:cNvPr id="247" name="Google Shape;247;g344c60f6e55_0_232"/>
          <p:cNvSpPr txBox="1"/>
          <p:nvPr/>
        </p:nvSpPr>
        <p:spPr>
          <a:xfrm>
            <a:off x="3694788" y="3727400"/>
            <a:ext cx="3095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response 1 :set a cookie with session-id</a:t>
            </a:r>
            <a:endParaRPr b="0" i="0" sz="1200" u="none" cap="none" strike="noStrike">
              <a:solidFill>
                <a:schemeClr val="dk1"/>
              </a:solidFill>
              <a:latin typeface="Arial"/>
              <a:ea typeface="Arial"/>
              <a:cs typeface="Arial"/>
              <a:sym typeface="Arial"/>
            </a:endParaRPr>
          </a:p>
        </p:txBody>
      </p:sp>
      <p:cxnSp>
        <p:nvCxnSpPr>
          <p:cNvPr id="248" name="Google Shape;248;g344c60f6e55_0_232"/>
          <p:cNvCxnSpPr/>
          <p:nvPr/>
        </p:nvCxnSpPr>
        <p:spPr>
          <a:xfrm flipH="1" rot="10800000">
            <a:off x="2312588" y="5124600"/>
            <a:ext cx="5778000" cy="7500"/>
          </a:xfrm>
          <a:prstGeom prst="straightConnector1">
            <a:avLst/>
          </a:prstGeom>
          <a:noFill/>
          <a:ln cap="flat" cmpd="sng" w="9525">
            <a:solidFill>
              <a:schemeClr val="dk2"/>
            </a:solidFill>
            <a:prstDash val="solid"/>
            <a:round/>
            <a:headEnd len="sm" w="sm" type="none"/>
            <a:tailEnd len="med" w="med" type="triangle"/>
          </a:ln>
        </p:spPr>
      </p:cxnSp>
      <p:sp>
        <p:nvSpPr>
          <p:cNvPr id="249" name="Google Shape;249;g344c60f6e55_0_232"/>
          <p:cNvSpPr txBox="1"/>
          <p:nvPr/>
        </p:nvSpPr>
        <p:spPr>
          <a:xfrm>
            <a:off x="3694788" y="4669413"/>
            <a:ext cx="3095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request 2 : with the session-id cookie</a:t>
            </a:r>
            <a:endParaRPr b="0" i="0" sz="1200" u="none" cap="none" strike="noStrike">
              <a:solidFill>
                <a:schemeClr val="dk1"/>
              </a:solidFill>
              <a:latin typeface="Arial"/>
              <a:ea typeface="Arial"/>
              <a:cs typeface="Arial"/>
              <a:sym typeface="Arial"/>
            </a:endParaRPr>
          </a:p>
        </p:txBody>
      </p:sp>
      <p:sp>
        <p:nvSpPr>
          <p:cNvPr id="250" name="Google Shape;250;g344c60f6e55_0_232"/>
          <p:cNvSpPr txBox="1"/>
          <p:nvPr/>
        </p:nvSpPr>
        <p:spPr>
          <a:xfrm>
            <a:off x="8442963" y="5038725"/>
            <a:ext cx="2362200" cy="9234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Find the session with session-id</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check session validity</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check session has a username set</a:t>
            </a:r>
            <a:endParaRPr b="0" i="0" sz="1200" u="none" cap="none" strike="noStrike">
              <a:solidFill>
                <a:schemeClr val="dk1"/>
              </a:solidFill>
              <a:latin typeface="Arial"/>
              <a:ea typeface="Arial"/>
              <a:cs typeface="Arial"/>
              <a:sym typeface="Arial"/>
            </a:endParaRPr>
          </a:p>
        </p:txBody>
      </p:sp>
      <p:cxnSp>
        <p:nvCxnSpPr>
          <p:cNvPr id="251" name="Google Shape;251;g344c60f6e55_0_232"/>
          <p:cNvCxnSpPr/>
          <p:nvPr/>
        </p:nvCxnSpPr>
        <p:spPr>
          <a:xfrm flipH="1">
            <a:off x="2285825" y="5876700"/>
            <a:ext cx="5821800" cy="1800"/>
          </a:xfrm>
          <a:prstGeom prst="straightConnector1">
            <a:avLst/>
          </a:prstGeom>
          <a:noFill/>
          <a:ln cap="flat" cmpd="sng" w="9525">
            <a:solidFill>
              <a:schemeClr val="dk2"/>
            </a:solidFill>
            <a:prstDash val="solid"/>
            <a:round/>
            <a:headEnd len="sm" w="sm" type="none"/>
            <a:tailEnd len="med" w="med" type="triangle"/>
          </a:ln>
        </p:spPr>
      </p:cxnSp>
      <p:sp>
        <p:nvSpPr>
          <p:cNvPr id="252" name="Google Shape;252;g344c60f6e55_0_232"/>
          <p:cNvSpPr txBox="1"/>
          <p:nvPr/>
        </p:nvSpPr>
        <p:spPr>
          <a:xfrm>
            <a:off x="3884038" y="5517175"/>
            <a:ext cx="3095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response 2 :content for the matching user</a:t>
            </a:r>
            <a:endParaRPr b="0" i="0" sz="1200" u="none" cap="none" strike="noStrike">
              <a:solidFill>
                <a:schemeClr val="dk1"/>
              </a:solidFill>
              <a:latin typeface="Arial"/>
              <a:ea typeface="Arial"/>
              <a:cs typeface="Arial"/>
              <a:sym typeface="Arial"/>
            </a:endParaRPr>
          </a:p>
        </p:txBody>
      </p:sp>
      <p:sp>
        <p:nvSpPr>
          <p:cNvPr id="253" name="Google Shape;253;g344c60f6e55_0_232"/>
          <p:cNvSpPr/>
          <p:nvPr/>
        </p:nvSpPr>
        <p:spPr>
          <a:xfrm>
            <a:off x="1965388" y="4480100"/>
            <a:ext cx="6477600" cy="1035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g344c60f6e55_0_232"/>
          <p:cNvSpPr/>
          <p:nvPr/>
        </p:nvSpPr>
        <p:spPr>
          <a:xfrm>
            <a:off x="4392863" y="4366275"/>
            <a:ext cx="365742" cy="350676"/>
          </a:xfrm>
          <a:prstGeom prst="lightningBol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344c60f6e55_0_232"/>
          <p:cNvSpPr txBox="1"/>
          <p:nvPr/>
        </p:nvSpPr>
        <p:spPr>
          <a:xfrm>
            <a:off x="4196688" y="4166138"/>
            <a:ext cx="20916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HTTP is stateless</a:t>
            </a:r>
            <a:endParaRPr b="0" i="0" sz="1200" u="none" cap="none" strike="noStrike">
              <a:solidFill>
                <a:schemeClr val="dk1"/>
              </a:solidFill>
              <a:latin typeface="Arial"/>
              <a:ea typeface="Arial"/>
              <a:cs typeface="Arial"/>
              <a:sym typeface="Arial"/>
            </a:endParaRPr>
          </a:p>
        </p:txBody>
      </p:sp>
      <p:sp>
        <p:nvSpPr>
          <p:cNvPr id="256" name="Google Shape;256;g344c60f6e55_0_232"/>
          <p:cNvSpPr txBox="1"/>
          <p:nvPr/>
        </p:nvSpPr>
        <p:spPr>
          <a:xfrm>
            <a:off x="1386838" y="2252000"/>
            <a:ext cx="1591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HTTP client</a:t>
            </a:r>
            <a:endParaRPr b="0" i="0" sz="1200" u="none" cap="none" strike="noStrike">
              <a:solidFill>
                <a:schemeClr val="dk1"/>
              </a:solidFill>
              <a:latin typeface="Arial"/>
              <a:ea typeface="Arial"/>
              <a:cs typeface="Arial"/>
              <a:sym typeface="Arial"/>
            </a:endParaRPr>
          </a:p>
        </p:txBody>
      </p:sp>
      <p:sp>
        <p:nvSpPr>
          <p:cNvPr id="257" name="Google Shape;257;g344c60f6e55_0_232"/>
          <p:cNvSpPr txBox="1"/>
          <p:nvPr/>
        </p:nvSpPr>
        <p:spPr>
          <a:xfrm>
            <a:off x="7494813" y="2252000"/>
            <a:ext cx="14619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HTTP server</a:t>
            </a:r>
            <a:endParaRPr b="0" i="0" sz="1200" u="none" cap="none" strike="noStrike">
              <a:solidFill>
                <a:schemeClr val="dk1"/>
              </a:solidFill>
              <a:latin typeface="Arial"/>
              <a:ea typeface="Arial"/>
              <a:cs typeface="Arial"/>
              <a:sym typeface="Arial"/>
            </a:endParaRPr>
          </a:p>
        </p:txBody>
      </p:sp>
      <p:sp>
        <p:nvSpPr>
          <p:cNvPr id="258" name="Google Shape;258;g344c60f6e55_0_232"/>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44c60f6e55_0_316"/>
          <p:cNvSpPr txBox="1"/>
          <p:nvPr/>
        </p:nvSpPr>
        <p:spPr>
          <a:xfrm>
            <a:off x="217750" y="1497450"/>
            <a:ext cx="11694600" cy="51219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6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How it works:</a:t>
            </a:r>
            <a:endParaRPr sz="1600"/>
          </a:p>
          <a:p>
            <a:pPr indent="-330200" lvl="1" marL="914400" marR="0" rtl="0" algn="l">
              <a:lnSpc>
                <a:spcPct val="100000"/>
              </a:lnSpc>
              <a:spcBef>
                <a:spcPts val="6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client receives a session ID stored as a cookie.</a:t>
            </a:r>
            <a:endParaRPr sz="1600"/>
          </a:p>
          <a:p>
            <a:pPr indent="-330200" lvl="1" marL="914400" marR="0" rtl="0" algn="l">
              <a:lnSpc>
                <a:spcPct val="100000"/>
              </a:lnSpc>
              <a:spcBef>
                <a:spcPts val="6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server saves the actual session data linked to that session ID.</a:t>
            </a:r>
            <a:endParaRPr b="1" i="0" sz="1600" u="none" cap="none" strike="noStrike">
              <a:solidFill>
                <a:schemeClr val="dk1"/>
              </a:solidFill>
              <a:latin typeface="Arial"/>
              <a:ea typeface="Arial"/>
              <a:cs typeface="Arial"/>
              <a:sym typeface="Arial"/>
            </a:endParaRPr>
          </a:p>
          <a:p>
            <a:pPr indent="-330200" lvl="0" marL="457200" marR="0" rtl="0" algn="l">
              <a:lnSpc>
                <a:spcPct val="100000"/>
              </a:lnSpc>
              <a:spcBef>
                <a:spcPts val="6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Express does not provide built-in support for sessions.</a:t>
            </a:r>
            <a:endParaRPr sz="1600"/>
          </a:p>
          <a:p>
            <a:pPr indent="-330200" lvl="0" marL="457200" marR="0" rtl="0" algn="l">
              <a:lnSpc>
                <a:spcPct val="100000"/>
              </a:lnSpc>
              <a:spcBef>
                <a:spcPts val="60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The </a:t>
            </a:r>
            <a:r>
              <a:rPr b="1" i="0" lang="en-US" u="none" cap="none" strike="noStrike">
                <a:solidFill>
                  <a:srgbClr val="0000FF"/>
                </a:solidFill>
                <a:latin typeface="Roboto Mono"/>
                <a:ea typeface="Roboto Mono"/>
                <a:cs typeface="Roboto Mono"/>
                <a:sym typeface="Roboto Mono"/>
              </a:rPr>
              <a:t>express-session</a:t>
            </a:r>
            <a:r>
              <a:rPr b="0" i="0" lang="en-US" sz="1600" u="none" cap="none" strike="noStrike">
                <a:solidFill>
                  <a:schemeClr val="dk1"/>
                </a:solidFill>
                <a:latin typeface="Arial"/>
                <a:ea typeface="Arial"/>
                <a:cs typeface="Arial"/>
                <a:sym typeface="Arial"/>
              </a:rPr>
              <a:t> library is used to add session management to an Express application.</a:t>
            </a:r>
            <a:endParaRPr sz="1600"/>
          </a:p>
          <a:p>
            <a:pPr indent="-330200" lvl="0" marL="457200" marR="0" rtl="0" algn="l">
              <a:lnSpc>
                <a:spcPct val="100000"/>
              </a:lnSpc>
              <a:spcBef>
                <a:spcPts val="60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To install it, run: &gt; </a:t>
            </a:r>
            <a:r>
              <a:rPr b="1" i="0" lang="en-US" u="none" cap="none" strike="noStrike">
                <a:solidFill>
                  <a:srgbClr val="0000FF"/>
                </a:solidFill>
                <a:latin typeface="Roboto Mono"/>
                <a:ea typeface="Roboto Mono"/>
                <a:cs typeface="Roboto Mono"/>
                <a:sym typeface="Roboto Mono"/>
              </a:rPr>
              <a:t>npm install express-session</a:t>
            </a:r>
            <a:r>
              <a:rPr b="0" i="0" lang="en-US" u="none" cap="none" strike="noStrike">
                <a:solidFill>
                  <a:schemeClr val="dk1"/>
                </a:solidFill>
                <a:latin typeface="Arial"/>
                <a:ea typeface="Arial"/>
                <a:cs typeface="Arial"/>
                <a:sym typeface="Arial"/>
              </a:rPr>
              <a:t>.</a:t>
            </a:r>
            <a:endParaRPr/>
          </a:p>
          <a:p>
            <a:pPr indent="-330200" lvl="0" marL="457200" marR="0" rtl="0" algn="l">
              <a:lnSpc>
                <a:spcPct val="100000"/>
              </a:lnSpc>
              <a:spcBef>
                <a:spcPts val="60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To use it:</a:t>
            </a:r>
            <a:endParaRPr sz="1600"/>
          </a:p>
          <a:p>
            <a:pPr indent="-330200" lvl="1" marL="914400" marR="0" rtl="0" algn="l">
              <a:lnSpc>
                <a:spcPct val="100000"/>
              </a:lnSpc>
              <a:spcBef>
                <a:spcPts val="6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Attach it to the server as a middleware: </a:t>
            </a:r>
            <a:r>
              <a:rPr b="1" i="0" lang="en-US" u="none" cap="none" strike="noStrike">
                <a:solidFill>
                  <a:srgbClr val="0000FF"/>
                </a:solidFill>
                <a:latin typeface="Roboto Mono"/>
                <a:ea typeface="Roboto Mono"/>
                <a:cs typeface="Roboto Mono"/>
                <a:sym typeface="Roboto Mono"/>
              </a:rPr>
              <a:t>sever.use({sessionOptions})</a:t>
            </a:r>
            <a:endParaRPr/>
          </a:p>
          <a:p>
            <a:pPr indent="-330200" lvl="1" marL="914400" marR="0" rtl="0" algn="l">
              <a:lnSpc>
                <a:spcPct val="100000"/>
              </a:lnSpc>
              <a:spcBef>
                <a:spcPts val="6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Specify the session options.</a:t>
            </a:r>
            <a:endParaRPr b="1" i="0" sz="1600" u="none" cap="none" strike="noStrike">
              <a:solidFill>
                <a:schemeClr val="dk1"/>
              </a:solidFill>
              <a:latin typeface="Arial"/>
              <a:ea typeface="Arial"/>
              <a:cs typeface="Arial"/>
              <a:sym typeface="Arial"/>
            </a:endParaRPr>
          </a:p>
        </p:txBody>
      </p:sp>
      <p:sp>
        <p:nvSpPr>
          <p:cNvPr id="264" name="Google Shape;264;g344c60f6e55_0_316"/>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Sessions Management in Express</a:t>
            </a:r>
            <a:endParaRPr b="1" i="0" sz="2400" u="none" cap="none" strike="noStrike">
              <a:solidFill>
                <a:srgbClr val="11175E"/>
              </a:solidFill>
              <a:latin typeface="Arial"/>
              <a:ea typeface="Arial"/>
              <a:cs typeface="Arial"/>
              <a:sym typeface="Arial"/>
            </a:endParaRPr>
          </a:p>
        </p:txBody>
      </p:sp>
      <p:sp>
        <p:nvSpPr>
          <p:cNvPr id="265" name="Google Shape;265;g344c60f6e55_0_316"/>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74c8355501_0_0"/>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Session options</a:t>
            </a:r>
            <a:endParaRPr b="1" i="0" sz="2400" u="none" cap="none" strike="noStrike">
              <a:solidFill>
                <a:srgbClr val="11175E"/>
              </a:solidFill>
              <a:latin typeface="Arial"/>
              <a:ea typeface="Arial"/>
              <a:cs typeface="Arial"/>
              <a:sym typeface="Arial"/>
            </a:endParaRPr>
          </a:p>
        </p:txBody>
      </p:sp>
      <p:sp>
        <p:nvSpPr>
          <p:cNvPr id="271" name="Google Shape;271;g374c8355501_0_0"/>
          <p:cNvSpPr txBox="1"/>
          <p:nvPr/>
        </p:nvSpPr>
        <p:spPr>
          <a:xfrm>
            <a:off x="217750" y="1401525"/>
            <a:ext cx="11752200" cy="54564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0"/>
              </a:spcBef>
              <a:spcAft>
                <a:spcPts val="0"/>
              </a:spcAft>
              <a:buClr>
                <a:schemeClr val="dk1"/>
              </a:buClr>
              <a:buSzPts val="1600"/>
              <a:buFont typeface="Arial"/>
              <a:buChar char="●"/>
            </a:pPr>
            <a:r>
              <a:rPr b="1" i="0" lang="en-US" sz="1600" u="none" cap="none" strike="noStrike">
                <a:solidFill>
                  <a:srgbClr val="0000FF"/>
                </a:solidFill>
                <a:latin typeface="Roboto Mono"/>
                <a:ea typeface="Roboto Mono"/>
                <a:cs typeface="Roboto Mono"/>
                <a:sym typeface="Roboto Mono"/>
              </a:rPr>
              <a:t>secret</a:t>
            </a:r>
            <a:r>
              <a:rPr b="1" i="0" lang="en-US" sz="1600" u="none" cap="none" strike="noStrike">
                <a:solidFill>
                  <a:schemeClr val="dk1"/>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(required) - Used to sign the session ID cookie, preventing tampering.</a:t>
            </a:r>
            <a:endParaRPr sz="1600"/>
          </a:p>
          <a:p>
            <a:pPr indent="-330200" lvl="1" marL="914400" marR="0" rtl="0" algn="l">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a long, random, unpredictable string.</a:t>
            </a:r>
            <a:endParaRPr sz="1600"/>
          </a:p>
          <a:p>
            <a:pPr indent="-330200" lvl="1" marL="914400" marR="0" rtl="0" algn="l">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Store it securely (e.g., in environment variables).</a:t>
            </a:r>
            <a:endParaRPr sz="1600"/>
          </a:p>
          <a:p>
            <a:pPr indent="-330200" lvl="0" marL="457200" marR="0" rtl="0" algn="l">
              <a:lnSpc>
                <a:spcPct val="150000"/>
              </a:lnSpc>
              <a:spcBef>
                <a:spcPts val="0"/>
              </a:spcBef>
              <a:spcAft>
                <a:spcPts val="0"/>
              </a:spcAft>
              <a:buClr>
                <a:schemeClr val="dk1"/>
              </a:buClr>
              <a:buSzPts val="1600"/>
              <a:buFont typeface="Arial"/>
              <a:buChar char="●"/>
            </a:pPr>
            <a:r>
              <a:rPr b="1" i="0" lang="en-US" sz="1600" u="none" cap="none" strike="noStrike">
                <a:solidFill>
                  <a:srgbClr val="0000FF"/>
                </a:solidFill>
                <a:latin typeface="Roboto Mono"/>
                <a:ea typeface="Roboto Mono"/>
                <a:cs typeface="Roboto Mono"/>
                <a:sym typeface="Roboto Mono"/>
              </a:rPr>
              <a:t>resave</a:t>
            </a:r>
            <a:r>
              <a:rPr b="0" i="0" lang="en-US" sz="1600" u="none" cap="none" strike="noStrike">
                <a:solidFill>
                  <a:schemeClr val="dk1"/>
                </a:solidFill>
                <a:latin typeface="Arial"/>
                <a:ea typeface="Arial"/>
                <a:cs typeface="Arial"/>
                <a:sym typeface="Arial"/>
              </a:rPr>
              <a:t> - Forces session to be saved back to the store on every request, even if it wasn’t modified.</a:t>
            </a:r>
            <a:endParaRPr sz="1600"/>
          </a:p>
          <a:p>
            <a:pPr indent="-330200" lvl="1" marL="914400" marR="0" rtl="0" algn="l">
              <a:lnSpc>
                <a:spcPct val="150000"/>
              </a:lnSpc>
              <a:spcBef>
                <a:spcPts val="0"/>
              </a:spcBef>
              <a:spcAft>
                <a:spcPts val="0"/>
              </a:spcAft>
              <a:buClr>
                <a:schemeClr val="dk1"/>
              </a:buClr>
              <a:buSzPts val="1600"/>
              <a:buFont typeface="Arial"/>
              <a:buChar char="○"/>
            </a:pPr>
            <a:r>
              <a:rPr lang="en-US" sz="1600">
                <a:solidFill>
                  <a:schemeClr val="dk1"/>
                </a:solidFill>
              </a:rPr>
              <a:t>The default value is true. It is usually recommended to set it to false to avoid unnecessary writes.</a:t>
            </a:r>
            <a:endParaRPr sz="1600"/>
          </a:p>
          <a:p>
            <a:pPr indent="-330200" lvl="0" marL="457200" marR="0" rtl="0" algn="l">
              <a:lnSpc>
                <a:spcPct val="150000"/>
              </a:lnSpc>
              <a:spcBef>
                <a:spcPts val="0"/>
              </a:spcBef>
              <a:spcAft>
                <a:spcPts val="0"/>
              </a:spcAft>
              <a:buClr>
                <a:schemeClr val="dk1"/>
              </a:buClr>
              <a:buSzPts val="1600"/>
              <a:buFont typeface="Arial"/>
              <a:buChar char="●"/>
            </a:pPr>
            <a:r>
              <a:rPr b="1" i="0" lang="en-US" sz="1600" u="none" cap="none" strike="noStrike">
                <a:solidFill>
                  <a:srgbClr val="0000FF"/>
                </a:solidFill>
                <a:latin typeface="Roboto Mono"/>
                <a:ea typeface="Roboto Mono"/>
                <a:cs typeface="Roboto Mono"/>
                <a:sym typeface="Roboto Mono"/>
              </a:rPr>
              <a:t>saveUninitialized</a:t>
            </a:r>
            <a:r>
              <a:rPr b="0" i="0" lang="en-US" sz="1600" u="none" cap="none" strike="noStrike">
                <a:solidFill>
                  <a:schemeClr val="dk1"/>
                </a:solidFill>
                <a:latin typeface="Arial"/>
                <a:ea typeface="Arial"/>
                <a:cs typeface="Arial"/>
                <a:sym typeface="Arial"/>
              </a:rPr>
              <a:t> - Saves new but unmodified sessions to the store.</a:t>
            </a:r>
            <a:endParaRPr sz="1600"/>
          </a:p>
          <a:p>
            <a:pPr indent="-330200" lvl="1" marL="914400" marR="0" rtl="0" algn="l">
              <a:lnSpc>
                <a:spcPct val="150000"/>
              </a:lnSpc>
              <a:spcBef>
                <a:spcPts val="0"/>
              </a:spcBef>
              <a:spcAft>
                <a:spcPts val="0"/>
              </a:spcAft>
              <a:buClr>
                <a:schemeClr val="dk1"/>
              </a:buClr>
              <a:buSzPts val="1600"/>
              <a:buFont typeface="Arial"/>
              <a:buChar char="○"/>
            </a:pPr>
            <a:r>
              <a:rPr lang="en-US" sz="1600">
                <a:solidFill>
                  <a:schemeClr val="dk1"/>
                </a:solidFill>
              </a:rPr>
              <a:t>The default value is true. Choosing false is useful for implementing login sessions, reducing server storage usage.</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SzPts val="1600"/>
              <a:buChar char="●"/>
            </a:pPr>
            <a:r>
              <a:rPr b="0" i="0" lang="en-US" sz="1600" u="none" cap="none" strike="noStrike">
                <a:solidFill>
                  <a:schemeClr val="dk1"/>
                </a:solidFill>
                <a:latin typeface="Arial"/>
                <a:ea typeface="Arial"/>
                <a:cs typeface="Arial"/>
                <a:sym typeface="Arial"/>
              </a:rPr>
              <a:t>For complete list of available options refer to </a:t>
            </a:r>
            <a:r>
              <a:rPr b="1" i="0" lang="en-US" sz="1600" u="sng" cap="none" strike="noStrike">
                <a:solidFill>
                  <a:srgbClr val="0000FF"/>
                </a:solidFill>
                <a:latin typeface="Roboto Mono"/>
                <a:ea typeface="Roboto Mono"/>
                <a:cs typeface="Roboto Mono"/>
                <a:sym typeface="Roboto Mono"/>
                <a:hlinkClick r:id="rId3">
                  <a:extLst>
                    <a:ext uri="{A12FA001-AC4F-418D-AE19-62706E023703}">
                      <ahyp:hlinkClr val="tx"/>
                    </a:ext>
                  </a:extLst>
                </a:hlinkClick>
              </a:rPr>
              <a:t>https://expressjs.com/en/resources/middleware/session.html</a:t>
            </a:r>
            <a:endParaRPr b="1" i="0" sz="1600" u="none" cap="none" strike="noStrike">
              <a:solidFill>
                <a:srgbClr val="0000FF"/>
              </a:solidFill>
              <a:latin typeface="Roboto Mono"/>
              <a:ea typeface="Roboto Mono"/>
              <a:cs typeface="Roboto Mono"/>
              <a:sym typeface="Roboto Mono"/>
            </a:endParaRPr>
          </a:p>
          <a:p>
            <a:pPr indent="0" lvl="0" marL="457200" marR="0" rtl="0" algn="l">
              <a:lnSpc>
                <a:spcPct val="15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None/>
            </a:pPr>
            <a:r>
              <a:t/>
            </a:r>
            <a:endParaRPr b="0" i="0" sz="1600" u="none" cap="none" strike="noStrike">
              <a:solidFill>
                <a:schemeClr val="dk1"/>
              </a:solidFill>
              <a:latin typeface="Arial"/>
              <a:ea typeface="Arial"/>
              <a:cs typeface="Arial"/>
              <a:sym typeface="Arial"/>
            </a:endParaRPr>
          </a:p>
        </p:txBody>
      </p:sp>
      <p:sp>
        <p:nvSpPr>
          <p:cNvPr id="272" name="Google Shape;272;g374c8355501_0_0"/>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94c25f66fd_0_80"/>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Page Visit Counter with Sessions (Example 1)</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278" name="Google Shape;278;g394c25f66fd_0_80"/>
          <p:cNvSpPr txBox="1"/>
          <p:nvPr/>
        </p:nvSpPr>
        <p:spPr>
          <a:xfrm>
            <a:off x="228600" y="1497450"/>
            <a:ext cx="6927900" cy="51348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This example demonstrates a page counter implemented using sessions. It will store and display the number of times the page is visited.</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From the provided resources folder, use the VS Code terminal to navigate to the </a:t>
            </a:r>
            <a:r>
              <a:rPr b="1" i="0" lang="en-US" sz="1600" u="none" cap="none" strike="noStrike">
                <a:solidFill>
                  <a:srgbClr val="0000FF"/>
                </a:solidFill>
                <a:latin typeface="Arial"/>
                <a:ea typeface="Arial"/>
                <a:cs typeface="Arial"/>
                <a:sym typeface="Arial"/>
              </a:rPr>
              <a:t>example1</a:t>
            </a:r>
            <a:r>
              <a:rPr b="0" i="0" lang="en-US" sz="1600" u="none" cap="none" strike="noStrike">
                <a:solidFill>
                  <a:srgbClr val="000000"/>
                </a:solidFill>
                <a:latin typeface="Arial"/>
                <a:ea typeface="Arial"/>
                <a:cs typeface="Arial"/>
                <a:sym typeface="Arial"/>
              </a:rPr>
              <a:t> directory.</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Update the </a:t>
            </a:r>
            <a:r>
              <a:rPr b="1" i="0" lang="en-US" sz="1400" u="none" cap="none" strike="noStrike">
                <a:solidFill>
                  <a:srgbClr val="0000FF"/>
                </a:solidFill>
                <a:latin typeface="Roboto Mono"/>
                <a:ea typeface="Roboto Mono"/>
                <a:cs typeface="Roboto Mono"/>
                <a:sym typeface="Roboto Mono"/>
              </a:rPr>
              <a:t>SECRET </a:t>
            </a:r>
            <a:r>
              <a:rPr b="0" i="0" lang="en-US" sz="1600" u="none" cap="none" strike="noStrike">
                <a:solidFill>
                  <a:schemeClr val="dk1"/>
                </a:solidFill>
                <a:latin typeface="Arial"/>
                <a:ea typeface="Arial"/>
                <a:cs typeface="Arial"/>
                <a:sym typeface="Arial"/>
              </a:rPr>
              <a:t>variable in </a:t>
            </a:r>
            <a:r>
              <a:rPr b="1" i="0" lang="en-US" sz="1400" u="none" cap="none" strike="noStrike">
                <a:solidFill>
                  <a:srgbClr val="0000FF"/>
                </a:solidFill>
                <a:latin typeface="Roboto Mono"/>
                <a:ea typeface="Roboto Mono"/>
                <a:cs typeface="Roboto Mono"/>
                <a:sym typeface="Roboto Mono"/>
              </a:rPr>
              <a:t>config.env</a:t>
            </a:r>
            <a:r>
              <a:rPr b="0" i="0" lang="en-US" sz="1600" u="none" cap="none" strike="noStrike">
                <a:solidFill>
                  <a:srgbClr val="0000FF"/>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file with your desired SECRET string. (to improve the security)</a:t>
            </a:r>
            <a:endParaRPr b="0" i="0" sz="1600" u="none" cap="none" strike="noStrike">
              <a:solidFill>
                <a:srgbClr val="000000"/>
              </a:solidFill>
              <a:latin typeface="Arial"/>
              <a:ea typeface="Arial"/>
              <a:cs typeface="Arial"/>
              <a:sym typeface="Arial"/>
            </a:endParaRPr>
          </a:p>
          <a:p>
            <a:pPr indent="-317500" lvl="0" marL="457200" marR="0" rtl="0" algn="just">
              <a:lnSpc>
                <a:spcPct val="115000"/>
              </a:lnSpc>
              <a:spcBef>
                <a:spcPts val="0"/>
              </a:spcBef>
              <a:spcAft>
                <a:spcPts val="0"/>
              </a:spcAft>
              <a:buClr>
                <a:schemeClr val="dk1"/>
              </a:buClr>
              <a:buSzPts val="1400"/>
              <a:buFont typeface="Arial"/>
              <a:buChar char="●"/>
            </a:pPr>
            <a:r>
              <a:rPr b="0" i="0" lang="en-US" sz="1600" u="none" cap="none" strike="noStrike">
                <a:solidFill>
                  <a:schemeClr val="dk1"/>
                </a:solidFill>
                <a:latin typeface="Arial"/>
                <a:ea typeface="Arial"/>
                <a:cs typeface="Arial"/>
                <a:sym typeface="Arial"/>
              </a:rPr>
              <a:t>Install missing dependencies (if any) from package.json </a:t>
            </a:r>
            <a:endParaRPr b="0" i="0" sz="1600" u="none" cap="none" strike="noStrike">
              <a:solidFill>
                <a:schemeClr val="dk1"/>
              </a:solidFill>
              <a:latin typeface="Arial"/>
              <a:ea typeface="Arial"/>
              <a:cs typeface="Arial"/>
              <a:sym typeface="Arial"/>
            </a:endParaRPr>
          </a:p>
          <a:p>
            <a:pPr indent="0" lvl="0" marL="457200" marR="0" rtl="0" algn="just">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npm install</a:t>
            </a:r>
            <a:endParaRPr b="0" i="0" sz="1600" u="none" cap="none" strike="noStrike">
              <a:solidFill>
                <a:schemeClr val="dk1"/>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Enter the following command in the terminal to start the Express server:</a:t>
            </a:r>
            <a:endParaRPr b="0" i="0" sz="1600" u="none" cap="none" strike="noStrike">
              <a:solidFill>
                <a:srgbClr val="000000"/>
              </a:solidFill>
              <a:latin typeface="Arial"/>
              <a:ea typeface="Arial"/>
              <a:cs typeface="Arial"/>
              <a:sym typeface="Arial"/>
            </a:endParaRPr>
          </a:p>
          <a:p>
            <a:pPr indent="0" lvl="0" marL="457200" marR="0" rtl="0" algn="just">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nodemon server.js</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Next, open a browser (e.g., Chrome) and navigate to: </a:t>
            </a:r>
            <a:r>
              <a:rPr b="0" i="0" lang="en-US" sz="1400" u="sng" cap="none" strike="noStrike">
                <a:solidFill>
                  <a:srgbClr val="0000FF"/>
                </a:solidFill>
                <a:latin typeface="Roboto Mono"/>
                <a:ea typeface="Roboto Mono"/>
                <a:cs typeface="Roboto Mono"/>
                <a:sym typeface="Roboto Mono"/>
                <a:hlinkClick r:id="rId3">
                  <a:extLst>
                    <a:ext uri="{A12FA001-AC4F-418D-AE19-62706E023703}">
                      <ahyp:hlinkClr val="tx"/>
                    </a:ext>
                  </a:extLst>
                </a:hlinkClick>
              </a:rPr>
              <a:t>http://localhost:8000/</a:t>
            </a:r>
            <a:r>
              <a:rPr b="0" i="0" lang="en-US" sz="1600" u="none" cap="none" strike="noStrike">
                <a:solidFill>
                  <a:srgbClr val="000000"/>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The page will display output similar to the figure on the right.</a:t>
            </a:r>
            <a:endParaRPr b="0" i="0" sz="1600" u="none" cap="none" strike="noStrike">
              <a:solidFill>
                <a:schemeClr val="dk1"/>
              </a:solidFill>
              <a:latin typeface="Arial"/>
              <a:ea typeface="Arial"/>
              <a:cs typeface="Arial"/>
              <a:sym typeface="Arial"/>
            </a:endParaRPr>
          </a:p>
          <a:p>
            <a:pPr indent="-330200" lvl="0" marL="457200" marR="0" rtl="0" algn="just">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Now refresh the page to increase the visit count.</a:t>
            </a:r>
            <a:endParaRPr b="0" i="0" sz="1600" u="none" cap="none" strike="noStrike">
              <a:solidFill>
                <a:schemeClr val="dk1"/>
              </a:solidFill>
              <a:latin typeface="Arial"/>
              <a:ea typeface="Arial"/>
              <a:cs typeface="Arial"/>
              <a:sym typeface="Arial"/>
            </a:endParaRPr>
          </a:p>
          <a:p>
            <a:pPr indent="0" lvl="0" marL="0" marR="0" rtl="0" algn="just">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9" name="Google Shape;279;g394c25f66fd_0_80"/>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pic>
        <p:nvPicPr>
          <p:cNvPr id="280" name="Google Shape;280;g394c25f66fd_0_80"/>
          <p:cNvPicPr preferRelativeResize="0"/>
          <p:nvPr/>
        </p:nvPicPr>
        <p:blipFill rotWithShape="1">
          <a:blip r:embed="rId4">
            <a:alphaModFix/>
          </a:blip>
          <a:srcRect b="0" l="0" r="0" t="0"/>
          <a:stretch/>
        </p:blipFill>
        <p:spPr>
          <a:xfrm>
            <a:off x="7369800" y="3164175"/>
            <a:ext cx="4516450" cy="1534550"/>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94c25f66fd_0_161"/>
          <p:cNvSpPr txBox="1"/>
          <p:nvPr/>
        </p:nvSpPr>
        <p:spPr>
          <a:xfrm>
            <a:off x="228600" y="1556975"/>
            <a:ext cx="7314000" cy="44508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extLst>
                  <a:ext uri="http://customooxmlschemas.google.com/">
                    <go:slidesCustomData xmlns:go="http://customooxmlschemas.google.com/" textRoundtripDataId="5"/>
                  </a:ext>
                </a:extLst>
              </a:rPr>
              <a:t>const session = require('express-session');</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server.use(session({</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   secret: 'yourSecret',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   resave: false,</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   saveUninitialized: </a:t>
            </a:r>
            <a:r>
              <a:rPr lang="en-US">
                <a:solidFill>
                  <a:schemeClr val="dk1"/>
                </a:solidFill>
                <a:latin typeface="Roboto Mono"/>
                <a:ea typeface="Roboto Mono"/>
                <a:cs typeface="Roboto Mono"/>
                <a:sym typeface="Roboto Mono"/>
              </a:rPr>
              <a:t>false</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server.get('/', (req, res) =&gt; {</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  </a:t>
            </a:r>
            <a:r>
              <a:rPr b="0" i="0" lang="en-US" sz="1400" u="none" cap="none" strike="noStrike">
                <a:solidFill>
                  <a:schemeClr val="dk1"/>
                </a:solidFill>
                <a:latin typeface="Roboto Mono"/>
                <a:ea typeface="Roboto Mono"/>
                <a:cs typeface="Roboto Mono"/>
                <a:sym typeface="Roboto Mono"/>
                <a:extLst>
                  <a:ext uri="http://customooxmlschemas.google.com/">
                    <go:slidesCustomData xmlns:go="http://customooxmlschemas.google.com/" textRoundtripDataId="6"/>
                  </a:ext>
                </a:extLst>
              </a:rPr>
              <a:t> req.session.visit_count = req.session.visit_count + 1 || 1;</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p:txBody>
      </p:sp>
      <p:sp>
        <p:nvSpPr>
          <p:cNvPr id="286" name="Google Shape;286;g394c25f66fd_0_161"/>
          <p:cNvSpPr/>
          <p:nvPr/>
        </p:nvSpPr>
        <p:spPr>
          <a:xfrm>
            <a:off x="228600" y="2568600"/>
            <a:ext cx="3535200" cy="17196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cxnSp>
        <p:nvCxnSpPr>
          <p:cNvPr id="287" name="Google Shape;287;g394c25f66fd_0_161"/>
          <p:cNvCxnSpPr>
            <a:stCxn id="288" idx="1"/>
            <a:endCxn id="286" idx="3"/>
          </p:cNvCxnSpPr>
          <p:nvPr/>
        </p:nvCxnSpPr>
        <p:spPr>
          <a:xfrm rot="10800000">
            <a:off x="3763725" y="3428388"/>
            <a:ext cx="4059600" cy="600"/>
          </a:xfrm>
          <a:prstGeom prst="straightConnector1">
            <a:avLst/>
          </a:prstGeom>
          <a:noFill/>
          <a:ln cap="flat" cmpd="sng" w="19050">
            <a:solidFill>
              <a:srgbClr val="FF0000"/>
            </a:solidFill>
            <a:prstDash val="solid"/>
            <a:round/>
            <a:headEnd len="sm" w="sm" type="none"/>
            <a:tailEnd len="med" w="med" type="triangle"/>
          </a:ln>
        </p:spPr>
      </p:cxnSp>
      <p:sp>
        <p:nvSpPr>
          <p:cNvPr id="289" name="Google Shape;289;g394c25f66fd_0_161"/>
          <p:cNvSpPr txBox="1"/>
          <p:nvPr/>
        </p:nvSpPr>
        <p:spPr>
          <a:xfrm>
            <a:off x="7823400" y="1884050"/>
            <a:ext cx="3452100" cy="431100"/>
          </a:xfrm>
          <a:prstGeom prst="rect">
            <a:avLst/>
          </a:prstGeom>
          <a:solidFill>
            <a:srgbClr val="9FC5E8"/>
          </a:solid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Import the express-session library</a:t>
            </a:r>
            <a:endParaRPr b="0" i="0" sz="1600" u="none" cap="none" strike="noStrike">
              <a:solidFill>
                <a:srgbClr val="000000"/>
              </a:solidFill>
              <a:latin typeface="Arial"/>
              <a:ea typeface="Arial"/>
              <a:cs typeface="Arial"/>
              <a:sym typeface="Arial"/>
            </a:endParaRPr>
          </a:p>
        </p:txBody>
      </p:sp>
      <p:sp>
        <p:nvSpPr>
          <p:cNvPr id="290" name="Google Shape;290;g394c25f66fd_0_161"/>
          <p:cNvSpPr txBox="1"/>
          <p:nvPr/>
        </p:nvSpPr>
        <p:spPr>
          <a:xfrm>
            <a:off x="3147600" y="6092700"/>
            <a:ext cx="1297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Roboto Mono"/>
                <a:ea typeface="Roboto Mono"/>
                <a:cs typeface="Roboto Mono"/>
                <a:sym typeface="Roboto Mono"/>
              </a:rPr>
              <a:t>server.js</a:t>
            </a:r>
            <a:endParaRPr b="1" i="0" sz="1400" u="sng" cap="none" strike="noStrike">
              <a:solidFill>
                <a:srgbClr val="000000"/>
              </a:solidFill>
              <a:latin typeface="Roboto Mono"/>
              <a:ea typeface="Roboto Mono"/>
              <a:cs typeface="Roboto Mono"/>
              <a:sym typeface="Roboto Mono"/>
            </a:endParaRPr>
          </a:p>
        </p:txBody>
      </p:sp>
      <p:sp>
        <p:nvSpPr>
          <p:cNvPr id="291" name="Google Shape;291;g394c25f66fd_0_161"/>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Page Visit Counter with Sessions (Example 1)</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292" name="Google Shape;292;g394c25f66fd_0_161"/>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
        <p:nvSpPr>
          <p:cNvPr id="293" name="Google Shape;293;g394c25f66fd_0_161"/>
          <p:cNvSpPr/>
          <p:nvPr/>
        </p:nvSpPr>
        <p:spPr>
          <a:xfrm>
            <a:off x="228600" y="1866650"/>
            <a:ext cx="4825200" cy="4659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sp>
        <p:nvSpPr>
          <p:cNvPr id="294" name="Google Shape;294;g394c25f66fd_0_161"/>
          <p:cNvSpPr/>
          <p:nvPr/>
        </p:nvSpPr>
        <p:spPr>
          <a:xfrm>
            <a:off x="340800" y="4786400"/>
            <a:ext cx="6910800" cy="3507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sp>
        <p:nvSpPr>
          <p:cNvPr id="288" name="Google Shape;288;g394c25f66fd_0_161"/>
          <p:cNvSpPr txBox="1"/>
          <p:nvPr/>
        </p:nvSpPr>
        <p:spPr>
          <a:xfrm>
            <a:off x="7823325" y="3213438"/>
            <a:ext cx="3003600" cy="431100"/>
          </a:xfrm>
          <a:prstGeom prst="rect">
            <a:avLst/>
          </a:prstGeom>
          <a:solidFill>
            <a:srgbClr val="F4CCCC"/>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Initialize the session</a:t>
            </a:r>
            <a:endParaRPr b="0" i="0" sz="1600" u="none" cap="none" strike="noStrike">
              <a:solidFill>
                <a:srgbClr val="000000"/>
              </a:solidFill>
              <a:latin typeface="Arial"/>
              <a:ea typeface="Arial"/>
              <a:cs typeface="Arial"/>
              <a:sym typeface="Arial"/>
            </a:endParaRPr>
          </a:p>
        </p:txBody>
      </p:sp>
      <p:sp>
        <p:nvSpPr>
          <p:cNvPr id="295" name="Google Shape;295;g394c25f66fd_0_161"/>
          <p:cNvSpPr txBox="1"/>
          <p:nvPr/>
        </p:nvSpPr>
        <p:spPr>
          <a:xfrm>
            <a:off x="7823325" y="4376100"/>
            <a:ext cx="3747600" cy="1169700"/>
          </a:xfrm>
          <a:prstGeom prst="rect">
            <a:avLst/>
          </a:prstGeom>
          <a:solidFill>
            <a:srgbClr val="F9CB9C"/>
          </a:solidFill>
          <a:ln cap="flat" cmpd="sng" w="952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Update the </a:t>
            </a:r>
            <a:r>
              <a:rPr b="0" i="1" lang="en-US" sz="1600" u="none" cap="none" strike="noStrike">
                <a:solidFill>
                  <a:srgbClr val="000000"/>
                </a:solidFill>
                <a:latin typeface="Arial"/>
                <a:ea typeface="Arial"/>
                <a:cs typeface="Arial"/>
                <a:sym typeface="Arial"/>
                <a:extLst>
                  <a:ext uri="http://customooxmlschemas.google.com/">
                    <go:slidesCustomData xmlns:go="http://customooxmlschemas.google.com/" textRoundtripDataId="7"/>
                  </a:ext>
                </a:extLst>
              </a:rPr>
              <a:t>visit_count</a:t>
            </a:r>
            <a:r>
              <a:rPr b="0" i="0" lang="en-US" sz="1600" u="none" cap="none" strike="noStrike">
                <a:solidFill>
                  <a:srgbClr val="000000"/>
                </a:solidFill>
                <a:latin typeface="Arial"/>
                <a:ea typeface="Arial"/>
                <a:cs typeface="Arial"/>
                <a:sym typeface="Arial"/>
              </a:rPr>
              <a:t> stored inside session. </a:t>
            </a:r>
            <a:r>
              <a:rPr b="0" i="1" lang="en-US" sz="1600" u="none" cap="none" strike="noStrike">
                <a:solidFill>
                  <a:schemeClr val="dk1"/>
                </a:solidFill>
                <a:latin typeface="Arial"/>
                <a:ea typeface="Arial"/>
                <a:cs typeface="Arial"/>
                <a:sym typeface="Arial"/>
                <a:extLst>
                  <a:ext uri="http://customooxmlschemas.google.com/">
                    <go:slidesCustomData xmlns:go="http://customooxmlschemas.google.com/" textRoundtripDataId="8"/>
                  </a:ext>
                </a:extLst>
              </a:rPr>
              <a:t>visit_count</a:t>
            </a:r>
            <a:r>
              <a:rPr b="0" i="0" lang="en-US" sz="1600" u="none" cap="none" strike="noStrike">
                <a:solidFill>
                  <a:schemeClr val="dk1"/>
                </a:solidFill>
                <a:latin typeface="Arial"/>
                <a:ea typeface="Arial"/>
                <a:cs typeface="Arial"/>
                <a:sym typeface="Arial"/>
              </a:rPr>
              <a:t> here is name of the variable we chose to store the number of page visits.</a:t>
            </a:r>
            <a:endParaRPr b="0" i="0" sz="1600" u="none" cap="none" strike="noStrike">
              <a:solidFill>
                <a:srgbClr val="000000"/>
              </a:solidFill>
              <a:latin typeface="Arial"/>
              <a:ea typeface="Arial"/>
              <a:cs typeface="Arial"/>
              <a:sym typeface="Arial"/>
            </a:endParaRPr>
          </a:p>
        </p:txBody>
      </p:sp>
      <p:cxnSp>
        <p:nvCxnSpPr>
          <p:cNvPr id="296" name="Google Shape;296;g394c25f66fd_0_161"/>
          <p:cNvCxnSpPr/>
          <p:nvPr/>
        </p:nvCxnSpPr>
        <p:spPr>
          <a:xfrm rot="10800000">
            <a:off x="7251600" y="4961450"/>
            <a:ext cx="571800" cy="600"/>
          </a:xfrm>
          <a:prstGeom prst="straightConnector1">
            <a:avLst/>
          </a:prstGeom>
          <a:noFill/>
          <a:ln cap="flat" cmpd="sng" w="19050">
            <a:solidFill>
              <a:srgbClr val="FF9900"/>
            </a:solidFill>
            <a:prstDash val="solid"/>
            <a:round/>
            <a:headEnd len="sm" w="sm" type="none"/>
            <a:tailEnd len="med" w="med" type="triangle"/>
          </a:ln>
        </p:spPr>
      </p:cxnSp>
      <p:cxnSp>
        <p:nvCxnSpPr>
          <p:cNvPr id="297" name="Google Shape;297;g394c25f66fd_0_161"/>
          <p:cNvCxnSpPr>
            <a:stCxn id="289" idx="1"/>
            <a:endCxn id="293" idx="3"/>
          </p:cNvCxnSpPr>
          <p:nvPr/>
        </p:nvCxnSpPr>
        <p:spPr>
          <a:xfrm rot="10800000">
            <a:off x="5053800" y="2099600"/>
            <a:ext cx="2769600" cy="0"/>
          </a:xfrm>
          <a:prstGeom prst="straightConnector1">
            <a:avLst/>
          </a:prstGeom>
          <a:noFill/>
          <a:ln cap="flat" cmpd="sng" w="19050">
            <a:solidFill>
              <a:srgbClr val="0000FF"/>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94c25f66fd_0_340"/>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Add a Page Visit Counter to GET /stats</a:t>
            </a:r>
            <a:r>
              <a:rPr b="1" i="0" lang="en-US" sz="2400" u="none" cap="none" strike="noStrike">
                <a:solidFill>
                  <a:srgbClr val="11175E"/>
                </a:solidFill>
                <a:latin typeface="Arial"/>
                <a:ea typeface="Arial"/>
                <a:cs typeface="Arial"/>
                <a:sym typeface="Arial"/>
              </a:rPr>
              <a:t> (Exercise 1)</a:t>
            </a:r>
            <a:endParaRPr b="1" i="0" sz="2400" u="none" cap="none" strike="noStrike">
              <a:solidFill>
                <a:srgbClr val="11175E"/>
              </a:solidFill>
              <a:latin typeface="Arial"/>
              <a:ea typeface="Arial"/>
              <a:cs typeface="Arial"/>
              <a:sym typeface="Arial"/>
            </a:endParaRPr>
          </a:p>
        </p:txBody>
      </p:sp>
      <p:sp>
        <p:nvSpPr>
          <p:cNvPr id="303" name="Google Shape;303;g394c25f66fd_0_340"/>
          <p:cNvSpPr txBox="1"/>
          <p:nvPr/>
        </p:nvSpPr>
        <p:spPr>
          <a:xfrm>
            <a:off x="228725" y="1485900"/>
            <a:ext cx="11731500" cy="5372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rgbClr val="000000"/>
                </a:solidFill>
                <a:latin typeface="Arial"/>
                <a:ea typeface="Arial"/>
                <a:cs typeface="Arial"/>
                <a:sym typeface="Arial"/>
              </a:rPr>
              <a:t>Exercise 1 - Implementing a Page Visit Counter</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You have joined a development team working on a web-based application. One of the features of this app is to show the number of page visits. This will show users how many time that page being visited. The expected browser output (see Figure 1) is outlined below.</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600" u="sng" cap="none" strike="noStrike">
                <a:solidFill>
                  <a:schemeClr val="dk1"/>
                </a:solidFill>
                <a:latin typeface="Arial"/>
                <a:ea typeface="Arial"/>
                <a:cs typeface="Arial"/>
                <a:sym typeface="Arial"/>
              </a:rPr>
              <a:t>Expected Browser Output</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304" name="Google Shape;304;g394c25f66fd_0_340"/>
          <p:cNvSpPr txBox="1"/>
          <p:nvPr/>
        </p:nvSpPr>
        <p:spPr>
          <a:xfrm>
            <a:off x="5623450" y="5674550"/>
            <a:ext cx="980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Arial"/>
                <a:ea typeface="Arial"/>
                <a:cs typeface="Arial"/>
                <a:sym typeface="Arial"/>
              </a:rPr>
              <a:t>Figure 1</a:t>
            </a:r>
            <a:endParaRPr b="1" i="0" sz="1400" u="sng" cap="none" strike="noStrike">
              <a:solidFill>
                <a:srgbClr val="000000"/>
              </a:solidFill>
              <a:latin typeface="Arial"/>
              <a:ea typeface="Arial"/>
              <a:cs typeface="Arial"/>
              <a:sym typeface="Arial"/>
            </a:endParaRPr>
          </a:p>
        </p:txBody>
      </p:sp>
      <p:sp>
        <p:nvSpPr>
          <p:cNvPr id="305" name="Google Shape;305;g394c25f66fd_0_340"/>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pic>
        <p:nvPicPr>
          <p:cNvPr id="306" name="Google Shape;306;g394c25f66fd_0_340"/>
          <p:cNvPicPr preferRelativeResize="0"/>
          <p:nvPr/>
        </p:nvPicPr>
        <p:blipFill rotWithShape="1">
          <a:blip r:embed="rId3">
            <a:alphaModFix/>
          </a:blip>
          <a:srcRect b="0" l="0" r="0" t="0"/>
          <a:stretch/>
        </p:blipFill>
        <p:spPr>
          <a:xfrm>
            <a:off x="3246375" y="3902775"/>
            <a:ext cx="5695950" cy="1771650"/>
          </a:xfrm>
          <a:prstGeom prst="rect">
            <a:avLst/>
          </a:prstGeom>
          <a:noFill/>
          <a:ln>
            <a:noFill/>
          </a:ln>
        </p:spPr>
      </p:pic>
      <p:sp>
        <p:nvSpPr>
          <p:cNvPr id="307" name="Google Shape;307;g394c25f66fd_0_340"/>
          <p:cNvSpPr/>
          <p:nvPr/>
        </p:nvSpPr>
        <p:spPr>
          <a:xfrm>
            <a:off x="3196750" y="3835551"/>
            <a:ext cx="5834100" cy="1839000"/>
          </a:xfrm>
          <a:prstGeom prst="rect">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94c25f66fd_0_350"/>
          <p:cNvSpPr/>
          <p:nvPr/>
        </p:nvSpPr>
        <p:spPr>
          <a:xfrm>
            <a:off x="228725"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Add a Page Visit Counter to GET /stats</a:t>
            </a:r>
            <a:r>
              <a:rPr b="1" i="0" lang="en-US" sz="2400" u="none" cap="none" strike="noStrike">
                <a:solidFill>
                  <a:srgbClr val="11175E"/>
                </a:solidFill>
                <a:latin typeface="Arial"/>
                <a:ea typeface="Arial"/>
                <a:cs typeface="Arial"/>
                <a:sym typeface="Arial"/>
              </a:rPr>
              <a:t> (Exercise 1)</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313" name="Google Shape;313;g394c25f66fd_0_350"/>
          <p:cNvSpPr txBox="1"/>
          <p:nvPr/>
        </p:nvSpPr>
        <p:spPr>
          <a:xfrm>
            <a:off x="228600" y="1485900"/>
            <a:ext cx="11731500" cy="5148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Exercise 1 - Implementing a Page Visit Counter</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Review the requirements below and follow the task instructions step by step to complete the exercise.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chemeClr val="dk1"/>
                </a:solidFill>
                <a:latin typeface="Arial"/>
                <a:ea typeface="Arial"/>
                <a:cs typeface="Arial"/>
                <a:sym typeface="Arial"/>
              </a:rPr>
              <a:t>Requirements: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Upon visiting the /stats, the application should display the number of page visits.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Each time the page is refreshed, the number should increase by 1.</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600" u="sng" cap="none" strike="noStrike">
                <a:solidFill>
                  <a:schemeClr val="dk1"/>
                </a:solidFill>
                <a:latin typeface="Arial"/>
                <a:ea typeface="Arial"/>
                <a:cs typeface="Arial"/>
                <a:sym typeface="Arial"/>
              </a:rPr>
              <a:t>Tasks:</a:t>
            </a:r>
            <a:endParaRPr b="1" i="0" sz="1600" u="sng" cap="none" strike="noStrike">
              <a:solidFill>
                <a:schemeClr val="dk1"/>
              </a:solidFill>
              <a:latin typeface="Arial"/>
              <a:ea typeface="Arial"/>
              <a:cs typeface="Arial"/>
              <a:sym typeface="Arial"/>
            </a:endParaRPr>
          </a:p>
          <a:p>
            <a:pPr indent="-330200" lvl="0" marL="457200" marR="0" rtl="0" algn="just">
              <a:lnSpc>
                <a:spcPct val="115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Update the </a:t>
            </a:r>
            <a:r>
              <a:rPr b="1" i="0" lang="en-US" sz="1400" u="none" cap="none" strike="noStrike">
                <a:solidFill>
                  <a:srgbClr val="0000FF"/>
                </a:solidFill>
                <a:latin typeface="Roboto Mono"/>
                <a:ea typeface="Roboto Mono"/>
                <a:cs typeface="Roboto Mono"/>
                <a:sym typeface="Roboto Mono"/>
              </a:rPr>
              <a:t>SECRET </a:t>
            </a:r>
            <a:r>
              <a:rPr b="0" i="0" lang="en-US" sz="1600" u="none" cap="none" strike="noStrike">
                <a:solidFill>
                  <a:schemeClr val="dk1"/>
                </a:solidFill>
                <a:latin typeface="Arial"/>
                <a:ea typeface="Arial"/>
                <a:cs typeface="Arial"/>
                <a:sym typeface="Arial"/>
              </a:rPr>
              <a:t>variable in </a:t>
            </a:r>
            <a:r>
              <a:rPr b="1" i="0" lang="en-US" sz="1400" u="none" cap="none" strike="noStrike">
                <a:solidFill>
                  <a:srgbClr val="0000FF"/>
                </a:solidFill>
                <a:latin typeface="Roboto Mono"/>
                <a:ea typeface="Roboto Mono"/>
                <a:cs typeface="Roboto Mono"/>
                <a:sym typeface="Roboto Mono"/>
              </a:rPr>
              <a:t>config.env</a:t>
            </a:r>
            <a:r>
              <a:rPr b="0" i="0" lang="en-US" sz="1600" u="none" cap="none" strike="noStrike">
                <a:solidFill>
                  <a:srgbClr val="0000FF"/>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file with your desired SECRET string.</a:t>
            </a:r>
            <a:endParaRPr b="0" i="0" sz="16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rabicPeriod"/>
            </a:pPr>
            <a:r>
              <a:rPr b="0" i="0" lang="en-US" sz="1600" u="none" cap="none" strike="noStrike">
                <a:solidFill>
                  <a:schemeClr val="dk1"/>
                </a:solidFill>
                <a:latin typeface="Arial"/>
                <a:ea typeface="Arial"/>
                <a:cs typeface="Arial"/>
                <a:sym typeface="Arial"/>
              </a:rPr>
              <a:t>Install missing dependencies (if any) from package.json.</a:t>
            </a:r>
            <a:endParaRPr b="0" i="0" sz="16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npm install</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Modify the provided </a:t>
            </a:r>
            <a:r>
              <a:rPr b="1" i="0" lang="en-US" sz="1400" u="none" cap="none" strike="noStrike">
                <a:solidFill>
                  <a:srgbClr val="0000FF"/>
                </a:solidFill>
                <a:latin typeface="Roboto Mono"/>
                <a:ea typeface="Roboto Mono"/>
                <a:cs typeface="Roboto Mono"/>
                <a:sym typeface="Roboto Mono"/>
              </a:rPr>
              <a:t>server.js</a:t>
            </a:r>
            <a:r>
              <a:rPr b="0" i="0" lang="en-US" sz="1600" u="none" cap="none" strike="noStrike">
                <a:solidFill>
                  <a:schemeClr val="dk1"/>
                </a:solidFill>
                <a:latin typeface="Arial"/>
                <a:ea typeface="Arial"/>
                <a:cs typeface="Arial"/>
                <a:sym typeface="Arial"/>
              </a:rPr>
              <a:t> file to:</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Import </a:t>
            </a:r>
            <a:r>
              <a:rPr b="1" i="0" lang="en-US" sz="1400" u="none" cap="none" strike="noStrike">
                <a:solidFill>
                  <a:srgbClr val="0000FF"/>
                </a:solidFill>
                <a:latin typeface="Roboto Mono"/>
                <a:ea typeface="Roboto Mono"/>
                <a:cs typeface="Roboto Mono"/>
                <a:sym typeface="Roboto Mono"/>
              </a:rPr>
              <a:t>express-session </a:t>
            </a:r>
            <a:r>
              <a:rPr b="0" i="0" lang="en-US" sz="1600" u="none" cap="none" strike="noStrike">
                <a:solidFill>
                  <a:schemeClr val="dk1"/>
                </a:solidFill>
                <a:latin typeface="Arial"/>
                <a:ea typeface="Arial"/>
                <a:cs typeface="Arial"/>
                <a:sym typeface="Arial"/>
              </a:rPr>
              <a:t>library.</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Initialize session using the </a:t>
            </a:r>
            <a:r>
              <a:rPr b="1" i="0" lang="en-US" sz="1400" u="none" cap="none" strike="noStrike">
                <a:solidFill>
                  <a:srgbClr val="0000FF"/>
                </a:solidFill>
                <a:latin typeface="Roboto Mono"/>
                <a:ea typeface="Roboto Mono"/>
                <a:cs typeface="Roboto Mono"/>
                <a:sym typeface="Roboto Mono"/>
              </a:rPr>
              <a:t>SECRET</a:t>
            </a:r>
            <a:r>
              <a:rPr b="0" i="0" lang="en-US" sz="1600" u="none" cap="none" strike="noStrike">
                <a:solidFill>
                  <a:schemeClr val="dk1"/>
                </a:solidFill>
                <a:latin typeface="Arial"/>
                <a:ea typeface="Arial"/>
                <a:cs typeface="Arial"/>
                <a:sym typeface="Arial"/>
              </a:rPr>
              <a:t> from </a:t>
            </a:r>
            <a:r>
              <a:rPr b="1" i="0" lang="en-US" sz="1400" u="none" cap="none" strike="noStrike">
                <a:solidFill>
                  <a:srgbClr val="0000FF"/>
                </a:solidFill>
                <a:latin typeface="Roboto Mono"/>
                <a:ea typeface="Roboto Mono"/>
                <a:cs typeface="Roboto Mono"/>
                <a:sym typeface="Roboto Mono"/>
              </a:rPr>
              <a:t>config.env.</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Modify the provided </a:t>
            </a:r>
            <a:r>
              <a:rPr b="1" i="0" lang="en-US" sz="1400" u="none" cap="none" strike="noStrike">
                <a:solidFill>
                  <a:srgbClr val="0000FF"/>
                </a:solidFill>
                <a:latin typeface="Roboto Mono"/>
                <a:ea typeface="Roboto Mono"/>
                <a:cs typeface="Roboto Mono"/>
                <a:sym typeface="Roboto Mono"/>
              </a:rPr>
              <a:t>stats</a:t>
            </a:r>
            <a:r>
              <a:rPr b="0" i="0" lang="en-US" sz="1600" u="none" cap="none" strike="noStrike">
                <a:solidFill>
                  <a:schemeClr val="dk1"/>
                </a:solidFill>
                <a:latin typeface="Arial"/>
                <a:ea typeface="Arial"/>
                <a:cs typeface="Arial"/>
                <a:sym typeface="Arial"/>
              </a:rPr>
              <a:t> function in </a:t>
            </a:r>
            <a:r>
              <a:rPr b="1" i="0" lang="en-US" sz="1400" u="none" cap="none" strike="noStrike">
                <a:solidFill>
                  <a:srgbClr val="0000FF"/>
                </a:solidFill>
                <a:latin typeface="Roboto Mono"/>
                <a:ea typeface="Roboto Mono"/>
                <a:cs typeface="Roboto Mono"/>
                <a:sym typeface="Roboto Mono"/>
              </a:rPr>
              <a:t>users-controllers.js</a:t>
            </a:r>
            <a:r>
              <a:rPr b="0" i="0" lang="en-US" sz="1600" u="none" cap="none" strike="noStrike">
                <a:solidFill>
                  <a:schemeClr val="dk1"/>
                </a:solidFill>
                <a:latin typeface="Arial"/>
                <a:ea typeface="Arial"/>
                <a:cs typeface="Arial"/>
                <a:sym typeface="Arial"/>
              </a:rPr>
              <a:t> file to:</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Initialize/increment the visit count and store it inside a session variable.</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Show the number of visits in the webpage.</a:t>
            </a:r>
            <a:endParaRPr b="0" i="0" sz="1600" u="none" cap="none" strike="noStrike">
              <a:solidFill>
                <a:schemeClr val="dk1"/>
              </a:solidFill>
              <a:latin typeface="Arial"/>
              <a:ea typeface="Arial"/>
              <a:cs typeface="Arial"/>
              <a:sym typeface="Arial"/>
            </a:endParaRPr>
          </a:p>
        </p:txBody>
      </p:sp>
      <p:sp>
        <p:nvSpPr>
          <p:cNvPr id="314" name="Google Shape;314;g394c25f66fd_0_350"/>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44c60f6e55_0_461"/>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Disconnect the Session from Client Side (browser)</a:t>
            </a:r>
            <a:endParaRPr b="1" i="0" sz="2400" u="none" cap="none" strike="noStrike">
              <a:solidFill>
                <a:srgbClr val="11175E"/>
              </a:solidFill>
              <a:latin typeface="Arial"/>
              <a:ea typeface="Arial"/>
              <a:cs typeface="Arial"/>
              <a:sym typeface="Arial"/>
            </a:endParaRPr>
          </a:p>
        </p:txBody>
      </p:sp>
      <p:sp>
        <p:nvSpPr>
          <p:cNvPr id="320" name="Google Shape;320;g344c60f6e55_0_461"/>
          <p:cNvSpPr txBox="1"/>
          <p:nvPr/>
        </p:nvSpPr>
        <p:spPr>
          <a:xfrm>
            <a:off x="378275" y="1513075"/>
            <a:ext cx="8380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i -&gt; Cookie and site data -&gt; Manage on-device site data</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330200" lvl="0" marL="45720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This will delete the session cookies (among other things) stored in the browser</a:t>
            </a:r>
            <a:endParaRPr b="0" i="0" sz="1600" u="none" cap="none" strike="noStrike">
              <a:solidFill>
                <a:schemeClr val="dk1"/>
              </a:solidFill>
              <a:latin typeface="Arial"/>
              <a:ea typeface="Arial"/>
              <a:cs typeface="Arial"/>
              <a:sym typeface="Arial"/>
            </a:endParaRPr>
          </a:p>
        </p:txBody>
      </p:sp>
      <p:pic>
        <p:nvPicPr>
          <p:cNvPr id="321" name="Google Shape;321;g344c60f6e55_0_461"/>
          <p:cNvPicPr preferRelativeResize="0"/>
          <p:nvPr/>
        </p:nvPicPr>
        <p:blipFill rotWithShape="1">
          <a:blip r:embed="rId3">
            <a:alphaModFix/>
          </a:blip>
          <a:srcRect b="0" l="0" r="0" t="0"/>
          <a:stretch/>
        </p:blipFill>
        <p:spPr>
          <a:xfrm>
            <a:off x="3121550" y="2547300"/>
            <a:ext cx="5329699" cy="3335726"/>
          </a:xfrm>
          <a:prstGeom prst="rect">
            <a:avLst/>
          </a:prstGeom>
          <a:noFill/>
          <a:ln>
            <a:noFill/>
          </a:ln>
        </p:spPr>
      </p:pic>
      <p:sp>
        <p:nvSpPr>
          <p:cNvPr id="322" name="Google Shape;322;g344c60f6e55_0_461"/>
          <p:cNvSpPr/>
          <p:nvPr/>
        </p:nvSpPr>
        <p:spPr>
          <a:xfrm>
            <a:off x="4167900" y="2600250"/>
            <a:ext cx="315600" cy="2961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344c60f6e55_0_461"/>
          <p:cNvSpPr/>
          <p:nvPr/>
        </p:nvSpPr>
        <p:spPr>
          <a:xfrm>
            <a:off x="7101475" y="4589300"/>
            <a:ext cx="363600" cy="3507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344c60f6e55_0_461"/>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94c25f66fd_0_440"/>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Destroy Session from Server Side (Example 2)</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330" name="Google Shape;330;g394c25f66fd_0_440"/>
          <p:cNvSpPr txBox="1"/>
          <p:nvPr/>
        </p:nvSpPr>
        <p:spPr>
          <a:xfrm>
            <a:off x="228600" y="1497450"/>
            <a:ext cx="5989200" cy="51348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50000"/>
              </a:lnSpc>
              <a:spcBef>
                <a:spcPts val="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This example demonstrates how to delete a session from the code on the server side.</a:t>
            </a:r>
            <a:endParaRPr b="0" i="0" sz="1600" u="none" cap="none" strike="noStrike">
              <a:solidFill>
                <a:srgbClr val="000000"/>
              </a:solidFill>
              <a:latin typeface="Arial"/>
              <a:ea typeface="Arial"/>
              <a:cs typeface="Arial"/>
              <a:sym typeface="Arial"/>
            </a:endParaRPr>
          </a:p>
          <a:p>
            <a:pPr indent="-330200" lvl="0" marL="457200" marR="0" rtl="0" algn="just">
              <a:lnSpc>
                <a:spcPct val="15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From the provided resources folder, use the VS Code terminal to navigate to the </a:t>
            </a:r>
            <a:r>
              <a:rPr b="1" i="0" lang="en-US" sz="1600" u="none" cap="none" strike="noStrike">
                <a:solidFill>
                  <a:srgbClr val="0000FF"/>
                </a:solidFill>
                <a:latin typeface="Arial"/>
                <a:ea typeface="Arial"/>
                <a:cs typeface="Arial"/>
                <a:sym typeface="Arial"/>
              </a:rPr>
              <a:t>example2</a:t>
            </a:r>
            <a:r>
              <a:rPr b="0" i="0" lang="en-US" sz="1600" u="none" cap="none" strike="noStrike">
                <a:solidFill>
                  <a:srgbClr val="000000"/>
                </a:solidFill>
                <a:latin typeface="Arial"/>
                <a:ea typeface="Arial"/>
                <a:cs typeface="Arial"/>
                <a:sym typeface="Arial"/>
              </a:rPr>
              <a:t> directory.</a:t>
            </a:r>
            <a:endParaRPr b="0" i="0" sz="1600" u="none" cap="none" strike="noStrike">
              <a:solidFill>
                <a:srgbClr val="000000"/>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Install missing dependencies (if any) from package.json. </a:t>
            </a:r>
            <a:endParaRPr b="0" i="0" sz="1600" u="none" cap="none" strike="noStrike">
              <a:solidFill>
                <a:schemeClr val="dk1"/>
              </a:solidFill>
              <a:latin typeface="Arial"/>
              <a:ea typeface="Arial"/>
              <a:cs typeface="Arial"/>
              <a:sym typeface="Arial"/>
            </a:endParaRPr>
          </a:p>
          <a:p>
            <a:pPr indent="-330200" lvl="1" marL="914400" marR="0" rtl="0" algn="l">
              <a:lnSpc>
                <a:spcPct val="150000"/>
              </a:lnSpc>
              <a:spcBef>
                <a:spcPts val="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&gt; </a:t>
            </a:r>
            <a:r>
              <a:rPr b="1" i="0" lang="en-US" u="none" cap="none" strike="noStrike">
                <a:solidFill>
                  <a:srgbClr val="0000FF"/>
                </a:solidFill>
                <a:latin typeface="Roboto Mono"/>
                <a:ea typeface="Roboto Mono"/>
                <a:cs typeface="Roboto Mono"/>
                <a:sym typeface="Roboto Mono"/>
              </a:rPr>
              <a:t>npm install</a:t>
            </a:r>
            <a:endParaRPr b="0" i="0" u="none" cap="none" strike="noStrike">
              <a:solidFill>
                <a:srgbClr val="0000FF"/>
              </a:solidFill>
              <a:latin typeface="Arial"/>
              <a:ea typeface="Arial"/>
              <a:cs typeface="Arial"/>
              <a:sym typeface="Arial"/>
            </a:endParaRPr>
          </a:p>
          <a:p>
            <a:pPr indent="-330200" lvl="0" marL="457200" marR="0" rtl="0" algn="just">
              <a:lnSpc>
                <a:spcPct val="15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Enter the following command in the terminal to start the Express server:</a:t>
            </a:r>
            <a:endParaRPr b="0" i="0" sz="1600" u="none" cap="none" strike="noStrike">
              <a:solidFill>
                <a:srgbClr val="000000"/>
              </a:solidFill>
              <a:latin typeface="Arial"/>
              <a:ea typeface="Arial"/>
              <a:cs typeface="Arial"/>
              <a:sym typeface="Arial"/>
            </a:endParaRPr>
          </a:p>
          <a:p>
            <a:pPr indent="-330200" lvl="1" marL="914400" marR="0" rtl="0" algn="just">
              <a:lnSpc>
                <a:spcPct val="15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&gt; </a:t>
            </a:r>
            <a:r>
              <a:rPr b="1" i="0" lang="en-US" u="none" cap="none" strike="noStrike">
                <a:solidFill>
                  <a:srgbClr val="0000FF"/>
                </a:solidFill>
                <a:latin typeface="Roboto Mono"/>
                <a:ea typeface="Roboto Mono"/>
                <a:cs typeface="Roboto Mono"/>
                <a:sym typeface="Roboto Mono"/>
              </a:rPr>
              <a:t>nodemon server.js</a:t>
            </a:r>
            <a:endParaRPr b="0" i="0" u="none" cap="none" strike="noStrike">
              <a:solidFill>
                <a:srgbClr val="000000"/>
              </a:solidFill>
              <a:latin typeface="Arial"/>
              <a:ea typeface="Arial"/>
              <a:cs typeface="Arial"/>
              <a:sym typeface="Arial"/>
            </a:endParaRPr>
          </a:p>
          <a:p>
            <a:pPr indent="-330200" lvl="0" marL="457200" marR="0" rtl="0" algn="just">
              <a:lnSpc>
                <a:spcPct val="15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Next, open a browser (e.g., Chrome) and navigate to: </a:t>
            </a:r>
            <a:r>
              <a:rPr b="0" i="0" lang="en-US" sz="1600" u="sng" cap="none" strike="noStrike">
                <a:solidFill>
                  <a:srgbClr val="0000FF"/>
                </a:solidFill>
                <a:latin typeface="Roboto Mono"/>
                <a:ea typeface="Roboto Mono"/>
                <a:cs typeface="Roboto Mono"/>
                <a:sym typeface="Roboto Mono"/>
                <a:hlinkClick r:id="rId3">
                  <a:extLst>
                    <a:ext uri="{A12FA001-AC4F-418D-AE19-62706E023703}">
                      <ahyp:hlinkClr val="tx"/>
                    </a:ext>
                  </a:extLst>
                </a:hlinkClick>
              </a:rPr>
              <a:t>http://localhost:8000/</a:t>
            </a:r>
            <a:r>
              <a:rPr b="0" i="0" lang="en-US" sz="1600" u="none" cap="none" strike="noStrike">
                <a:solidFill>
                  <a:srgbClr val="000000"/>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The page will display output similar to the figure on the right.</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Refresh the page to increase visit counter.</a:t>
            </a:r>
            <a:endParaRPr b="0" i="0" sz="1600" u="none" cap="none" strike="noStrike">
              <a:solidFill>
                <a:schemeClr val="dk1"/>
              </a:solidFill>
              <a:latin typeface="Arial"/>
              <a:ea typeface="Arial"/>
              <a:cs typeface="Arial"/>
              <a:sym typeface="Arial"/>
            </a:endParaRPr>
          </a:p>
          <a:p>
            <a:pPr indent="-330200" lvl="0" marL="457200" marR="0" rtl="0" algn="l">
              <a:lnSpc>
                <a:spcPct val="15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Click on reset to reset the page count.</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1" name="Google Shape;331;g394c25f66fd_0_440"/>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pic>
        <p:nvPicPr>
          <p:cNvPr id="332" name="Google Shape;332;g394c25f66fd_0_440"/>
          <p:cNvPicPr preferRelativeResize="0"/>
          <p:nvPr/>
        </p:nvPicPr>
        <p:blipFill rotWithShape="1">
          <a:blip r:embed="rId4">
            <a:alphaModFix/>
          </a:blip>
          <a:srcRect b="0" l="0" r="0" t="0"/>
          <a:stretch/>
        </p:blipFill>
        <p:spPr>
          <a:xfrm>
            <a:off x="6686475" y="2598325"/>
            <a:ext cx="4816550" cy="2174150"/>
          </a:xfrm>
          <a:prstGeom prst="rect">
            <a:avLst/>
          </a:prstGeom>
          <a:noFill/>
          <a:ln cap="flat" cmpd="sng" w="9525">
            <a:solidFill>
              <a:srgbClr val="4A86E8"/>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94c25f66fd_0_448"/>
          <p:cNvSpPr txBox="1"/>
          <p:nvPr/>
        </p:nvSpPr>
        <p:spPr>
          <a:xfrm>
            <a:off x="228600" y="1556975"/>
            <a:ext cx="7314000" cy="25461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server.get('/reset', (req, res) =&gt; {</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   req.session.destroy(() =&gt; {</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       res.redirect('/');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   });</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Mono"/>
              <a:ea typeface="Roboto Mono"/>
              <a:cs typeface="Roboto Mono"/>
              <a:sym typeface="Roboto Mono"/>
            </a:endParaRPr>
          </a:p>
        </p:txBody>
      </p:sp>
      <p:sp>
        <p:nvSpPr>
          <p:cNvPr id="338" name="Google Shape;338;g394c25f66fd_0_448"/>
          <p:cNvSpPr txBox="1"/>
          <p:nvPr/>
        </p:nvSpPr>
        <p:spPr>
          <a:xfrm>
            <a:off x="7755550" y="2258350"/>
            <a:ext cx="3452100" cy="923400"/>
          </a:xfrm>
          <a:prstGeom prst="rect">
            <a:avLst/>
          </a:prstGeom>
          <a:solidFill>
            <a:srgbClr val="9FC5E8"/>
          </a:solid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Destroy the session (delete all the variables and data inside the session) and redirect to /</a:t>
            </a:r>
            <a:endParaRPr b="0" i="0" sz="1600" u="none" cap="none" strike="noStrike">
              <a:solidFill>
                <a:srgbClr val="000000"/>
              </a:solidFill>
              <a:latin typeface="Arial"/>
              <a:ea typeface="Arial"/>
              <a:cs typeface="Arial"/>
              <a:sym typeface="Arial"/>
            </a:endParaRPr>
          </a:p>
        </p:txBody>
      </p:sp>
      <p:sp>
        <p:nvSpPr>
          <p:cNvPr id="339" name="Google Shape;339;g394c25f66fd_0_448"/>
          <p:cNvSpPr txBox="1"/>
          <p:nvPr/>
        </p:nvSpPr>
        <p:spPr>
          <a:xfrm>
            <a:off x="3237000" y="4103075"/>
            <a:ext cx="1297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Roboto Mono"/>
                <a:ea typeface="Roboto Mono"/>
                <a:cs typeface="Roboto Mono"/>
                <a:sym typeface="Roboto Mono"/>
              </a:rPr>
              <a:t>server.js</a:t>
            </a:r>
            <a:endParaRPr b="1" i="0" sz="1400" u="sng" cap="none" strike="noStrike">
              <a:solidFill>
                <a:srgbClr val="000000"/>
              </a:solidFill>
              <a:latin typeface="Roboto Mono"/>
              <a:ea typeface="Roboto Mono"/>
              <a:cs typeface="Roboto Mono"/>
              <a:sym typeface="Roboto Mono"/>
            </a:endParaRPr>
          </a:p>
        </p:txBody>
      </p:sp>
      <p:sp>
        <p:nvSpPr>
          <p:cNvPr id="340" name="Google Shape;340;g394c25f66fd_0_448"/>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Destroy Session from Server Side (Example 2)</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341" name="Google Shape;341;g394c25f66fd_0_448"/>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
        <p:nvSpPr>
          <p:cNvPr id="342" name="Google Shape;342;g394c25f66fd_0_448"/>
          <p:cNvSpPr/>
          <p:nvPr/>
        </p:nvSpPr>
        <p:spPr>
          <a:xfrm>
            <a:off x="485000" y="2258350"/>
            <a:ext cx="3452100" cy="9234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cxnSp>
        <p:nvCxnSpPr>
          <p:cNvPr id="343" name="Google Shape;343;g394c25f66fd_0_448"/>
          <p:cNvCxnSpPr>
            <a:stCxn id="338" idx="1"/>
            <a:endCxn id="342" idx="3"/>
          </p:cNvCxnSpPr>
          <p:nvPr/>
        </p:nvCxnSpPr>
        <p:spPr>
          <a:xfrm rot="10800000">
            <a:off x="3937150" y="2720050"/>
            <a:ext cx="3818400" cy="0"/>
          </a:xfrm>
          <a:prstGeom prst="straightConnector1">
            <a:avLst/>
          </a:prstGeom>
          <a:noFill/>
          <a:ln cap="flat" cmpd="sng" w="19050">
            <a:solidFill>
              <a:srgbClr val="0000FF"/>
            </a:solidFill>
            <a:prstDash val="solid"/>
            <a:round/>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44c60f6e55_0_359"/>
          <p:cNvSpPr txBox="1"/>
          <p:nvPr/>
        </p:nvSpPr>
        <p:spPr>
          <a:xfrm>
            <a:off x="217750" y="1497450"/>
            <a:ext cx="11694600" cy="5121900"/>
          </a:xfrm>
          <a:prstGeom prst="rect">
            <a:avLst/>
          </a:prstGeom>
          <a:noFill/>
          <a:ln>
            <a:noFill/>
          </a:ln>
        </p:spPr>
        <p:txBody>
          <a:bodyPr anchorCtr="0" anchor="t" bIns="91425" lIns="91425" spcFirstLastPara="1" rIns="91425" wrap="square" tIns="91425">
            <a:noAutofit/>
          </a:bodyPr>
          <a:lstStyle/>
          <a:p>
            <a:pPr indent="0" lvl="0" marL="457200" marR="0" rtl="0" algn="just">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349" name="Google Shape;349;g344c60f6e55_0_359"/>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Authentication vs Authorization</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000000"/>
              </a:solidFill>
              <a:latin typeface="Arial"/>
              <a:ea typeface="Arial"/>
              <a:cs typeface="Arial"/>
              <a:sym typeface="Arial"/>
            </a:endParaRPr>
          </a:p>
        </p:txBody>
      </p:sp>
      <p:graphicFrame>
        <p:nvGraphicFramePr>
          <p:cNvPr id="350" name="Google Shape;350;g344c60f6e55_0_359"/>
          <p:cNvGraphicFramePr/>
          <p:nvPr/>
        </p:nvGraphicFramePr>
        <p:xfrm>
          <a:off x="952500" y="2304413"/>
          <a:ext cx="3000000" cy="3000000"/>
        </p:xfrm>
        <a:graphic>
          <a:graphicData uri="http://schemas.openxmlformats.org/drawingml/2006/table">
            <a:tbl>
              <a:tblPr>
                <a:noFill/>
                <a:tableStyleId>{DDBB78C3-EA8A-407A-A430-AD8ECAB5547F}</a:tableStyleId>
              </a:tblPr>
              <a:tblGrid>
                <a:gridCol w="1886825"/>
                <a:gridCol w="3955550"/>
                <a:gridCol w="4387475"/>
              </a:tblGrid>
              <a:tr h="203200">
                <a:tc>
                  <a:txBody>
                    <a:bodyPr/>
                    <a:lstStyle/>
                    <a:p>
                      <a:pPr indent="0" lvl="0" marL="0" marR="0" rtl="0" algn="l">
                        <a:lnSpc>
                          <a:spcPct val="115000"/>
                        </a:lnSpc>
                        <a:spcBef>
                          <a:spcPts val="0"/>
                        </a:spcBef>
                        <a:spcAft>
                          <a:spcPts val="0"/>
                        </a:spcAft>
                        <a:buClr>
                          <a:srgbClr val="000000"/>
                        </a:buClr>
                        <a:buSzPts val="1600"/>
                        <a:buFont typeface="Arial"/>
                        <a:buNone/>
                      </a:pPr>
                      <a:r>
                        <a:rPr b="1" lang="en-US" sz="1600" u="none" cap="none" strike="noStrike">
                          <a:solidFill>
                            <a:schemeClr val="dk1"/>
                          </a:solidFill>
                        </a:rPr>
                        <a:t>Aspect</a:t>
                      </a:r>
                      <a:endParaRPr sz="1600" u="none" cap="none" strike="noStrike"/>
                    </a:p>
                  </a:txBody>
                  <a:tcPr marT="91425" marB="91425" marR="91425" marL="91425">
                    <a:solidFill>
                      <a:schemeClr val="lt2"/>
                    </a:solidFill>
                  </a:tcPr>
                </a:tc>
                <a:tc>
                  <a:txBody>
                    <a:bodyPr/>
                    <a:lstStyle/>
                    <a:p>
                      <a:pPr indent="0" lvl="0" marL="0" marR="0" rtl="0" algn="ctr">
                        <a:lnSpc>
                          <a:spcPct val="115000"/>
                        </a:lnSpc>
                        <a:spcBef>
                          <a:spcPts val="0"/>
                        </a:spcBef>
                        <a:spcAft>
                          <a:spcPts val="0"/>
                        </a:spcAft>
                        <a:buClr>
                          <a:schemeClr val="dk1"/>
                        </a:buClr>
                        <a:buSzPts val="1100"/>
                        <a:buFont typeface="Arial"/>
                        <a:buNone/>
                      </a:pPr>
                      <a:r>
                        <a:rPr b="1" lang="en-US" sz="1600" u="none" cap="none" strike="noStrike">
                          <a:solidFill>
                            <a:schemeClr val="dk1"/>
                          </a:solidFill>
                        </a:rPr>
                        <a:t>Authentication</a:t>
                      </a:r>
                      <a:endParaRPr sz="1600" u="none" cap="none" strike="noStrike"/>
                    </a:p>
                  </a:txBody>
                  <a:tcPr marT="91425" marB="91425" marR="91425" marL="91425">
                    <a:solidFill>
                      <a:schemeClr val="lt2"/>
                    </a:solidFill>
                  </a:tcPr>
                </a:tc>
                <a:tc>
                  <a:txBody>
                    <a:bodyPr/>
                    <a:lstStyle/>
                    <a:p>
                      <a:pPr indent="0" lvl="0" marL="0" marR="0" rtl="0" algn="ctr">
                        <a:lnSpc>
                          <a:spcPct val="115000"/>
                        </a:lnSpc>
                        <a:spcBef>
                          <a:spcPts val="0"/>
                        </a:spcBef>
                        <a:spcAft>
                          <a:spcPts val="0"/>
                        </a:spcAft>
                        <a:buClr>
                          <a:schemeClr val="dk1"/>
                        </a:buClr>
                        <a:buSzPts val="1100"/>
                        <a:buFont typeface="Arial"/>
                        <a:buNone/>
                      </a:pPr>
                      <a:r>
                        <a:rPr b="1" lang="en-US" sz="1600" u="none" cap="none" strike="noStrike">
                          <a:solidFill>
                            <a:schemeClr val="dk1"/>
                          </a:solidFill>
                        </a:rPr>
                        <a:t>Authorization</a:t>
                      </a:r>
                      <a:endParaRPr sz="1600" u="none" cap="none" strike="noStrike"/>
                    </a:p>
                  </a:txBody>
                  <a:tcPr marT="91425" marB="91425" marR="91425" marL="91425">
                    <a:solidFill>
                      <a:schemeClr val="lt2"/>
                    </a:solidFill>
                  </a:tcPr>
                </a:tc>
              </a:tr>
              <a:tr h="571200">
                <a:tc>
                  <a:txBody>
                    <a:bodyPr/>
                    <a:lstStyle/>
                    <a:p>
                      <a:pPr indent="0" lvl="0" marL="0" marR="0" rtl="0" algn="l">
                        <a:lnSpc>
                          <a:spcPct val="115000"/>
                        </a:lnSpc>
                        <a:spcBef>
                          <a:spcPts val="0"/>
                        </a:spcBef>
                        <a:spcAft>
                          <a:spcPts val="0"/>
                        </a:spcAft>
                        <a:buClr>
                          <a:schemeClr val="dk1"/>
                        </a:buClr>
                        <a:buSzPts val="1100"/>
                        <a:buFont typeface="Arial"/>
                        <a:buNone/>
                      </a:pPr>
                      <a:r>
                        <a:rPr b="1" lang="en-US" sz="1600" u="none" cap="none" strike="noStrike">
                          <a:solidFill>
                            <a:schemeClr val="dk1"/>
                          </a:solidFill>
                        </a:rPr>
                        <a:t>Purpose</a:t>
                      </a:r>
                      <a:endParaRPr sz="1600" u="none" cap="none" strike="noStrike"/>
                    </a:p>
                  </a:txBody>
                  <a:tcPr marT="91425" marB="91425" marR="91425" marL="91425">
                    <a:solidFill>
                      <a:schemeClr val="lt2"/>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n-US" sz="1600" u="none" cap="none" strike="noStrike">
                          <a:solidFill>
                            <a:schemeClr val="dk1"/>
                          </a:solidFill>
                        </a:rPr>
                        <a:t>Verify who the user is </a:t>
                      </a:r>
                      <a:endParaRPr sz="1600" u="none" cap="none" strike="noStrike"/>
                    </a:p>
                  </a:txBody>
                  <a:tcPr marT="91425" marB="91425" marR="91425" marL="91425"/>
                </a:tc>
                <a:tc>
                  <a:txBody>
                    <a:bodyPr/>
                    <a:lstStyle/>
                    <a:p>
                      <a:pPr indent="0" lvl="0" marL="0" marR="0" rtl="0" algn="l">
                        <a:lnSpc>
                          <a:spcPct val="150000"/>
                        </a:lnSpc>
                        <a:spcBef>
                          <a:spcPts val="0"/>
                        </a:spcBef>
                        <a:spcAft>
                          <a:spcPts val="0"/>
                        </a:spcAft>
                        <a:buClr>
                          <a:srgbClr val="000000"/>
                        </a:buClr>
                        <a:buSzPts val="1600"/>
                        <a:buFont typeface="Arial"/>
                        <a:buNone/>
                      </a:pPr>
                      <a:r>
                        <a:rPr lang="en-US" sz="1600" u="none" cap="none" strike="noStrike">
                          <a:solidFill>
                            <a:schemeClr val="dk1"/>
                          </a:solidFill>
                        </a:rPr>
                        <a:t>Determining what the user is allowed to do </a:t>
                      </a:r>
                      <a:endParaRPr sz="1600" u="none" cap="none" strike="noStrike"/>
                    </a:p>
                  </a:txBody>
                  <a:tcPr marT="91425" marB="91425" marR="91425" marL="91425"/>
                </a:tc>
              </a:tr>
              <a:tr h="265425">
                <a:tc>
                  <a:txBody>
                    <a:bodyPr/>
                    <a:lstStyle/>
                    <a:p>
                      <a:pPr indent="0" lvl="0" marL="0" marR="0" rtl="0" algn="l">
                        <a:lnSpc>
                          <a:spcPct val="115000"/>
                        </a:lnSpc>
                        <a:spcBef>
                          <a:spcPts val="0"/>
                        </a:spcBef>
                        <a:spcAft>
                          <a:spcPts val="0"/>
                        </a:spcAft>
                        <a:buClr>
                          <a:schemeClr val="dk1"/>
                        </a:buClr>
                        <a:buSzPts val="1100"/>
                        <a:buFont typeface="Arial"/>
                        <a:buNone/>
                      </a:pPr>
                      <a:r>
                        <a:rPr b="1" lang="en-US" sz="1600" u="none" cap="none" strike="noStrike">
                          <a:solidFill>
                            <a:schemeClr val="dk1"/>
                          </a:solidFill>
                        </a:rPr>
                        <a:t>Example</a:t>
                      </a:r>
                      <a:endParaRPr sz="1600" u="none" cap="none" strike="noStrike"/>
                    </a:p>
                  </a:txBody>
                  <a:tcPr marT="91425" marB="91425" marR="91425" marL="91425">
                    <a:solidFill>
                      <a:schemeClr val="lt2"/>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n-US" sz="1600" u="none" cap="none" strike="noStrike">
                          <a:solidFill>
                            <a:schemeClr val="dk1"/>
                          </a:solidFill>
                        </a:rPr>
                        <a:t>Login using username and password</a:t>
                      </a:r>
                      <a:endParaRPr sz="1600" u="none" cap="none" strike="noStrike"/>
                    </a:p>
                  </a:txBody>
                  <a:tcPr marT="91425" marB="91425" marR="91425" marL="91425"/>
                </a:tc>
                <a:tc>
                  <a:txBody>
                    <a:bodyPr/>
                    <a:lstStyle/>
                    <a:p>
                      <a:pPr indent="0" lvl="0" marL="0" marR="0" rtl="0" algn="l">
                        <a:lnSpc>
                          <a:spcPct val="115000"/>
                        </a:lnSpc>
                        <a:spcBef>
                          <a:spcPts val="0"/>
                        </a:spcBef>
                        <a:spcAft>
                          <a:spcPts val="0"/>
                        </a:spcAft>
                        <a:buClr>
                          <a:srgbClr val="000000"/>
                        </a:buClr>
                        <a:buSzPts val="1600"/>
                        <a:buFont typeface="Arial"/>
                        <a:buNone/>
                      </a:pPr>
                      <a:r>
                        <a:rPr lang="en-US" sz="1600" u="none" cap="none" strike="noStrike">
                          <a:solidFill>
                            <a:schemeClr val="dk1"/>
                          </a:solidFill>
                        </a:rPr>
                        <a:t>Admin allowed to visit admin-profile page</a:t>
                      </a:r>
                      <a:endParaRPr sz="1600" u="none" cap="none" strike="noStrike"/>
                    </a:p>
                  </a:txBody>
                  <a:tcPr marT="91425" marB="91425" marR="91425" marL="91425"/>
                </a:tc>
              </a:tr>
              <a:tr h="265425">
                <a:tc>
                  <a:txBody>
                    <a:bodyPr/>
                    <a:lstStyle/>
                    <a:p>
                      <a:pPr indent="0" lvl="0" marL="0" marR="0" rtl="0" algn="l">
                        <a:lnSpc>
                          <a:spcPct val="115000"/>
                        </a:lnSpc>
                        <a:spcBef>
                          <a:spcPts val="0"/>
                        </a:spcBef>
                        <a:spcAft>
                          <a:spcPts val="0"/>
                        </a:spcAft>
                        <a:buClr>
                          <a:schemeClr val="dk1"/>
                        </a:buClr>
                        <a:buSzPts val="1100"/>
                        <a:buFont typeface="Arial"/>
                        <a:buNone/>
                      </a:pPr>
                      <a:r>
                        <a:rPr b="1" lang="en-US" sz="1600" u="none" cap="none" strike="noStrike">
                          <a:solidFill>
                            <a:schemeClr val="dk1"/>
                          </a:solidFill>
                        </a:rPr>
                        <a:t>Analogy</a:t>
                      </a:r>
                      <a:endParaRPr sz="1600" u="none" cap="none" strike="noStrike"/>
                    </a:p>
                  </a:txBody>
                  <a:tcPr marT="91425" marB="91425" marR="91425" marL="91425">
                    <a:solidFill>
                      <a:schemeClr val="lt2"/>
                    </a:solidFill>
                  </a:tcPr>
                </a:tc>
                <a:tc>
                  <a:txBody>
                    <a:bodyPr/>
                    <a:lstStyle/>
                    <a:p>
                      <a:pPr indent="0" lvl="0" marL="0" marR="0" rtl="0" algn="l">
                        <a:lnSpc>
                          <a:spcPct val="115000"/>
                        </a:lnSpc>
                        <a:spcBef>
                          <a:spcPts val="0"/>
                        </a:spcBef>
                        <a:spcAft>
                          <a:spcPts val="0"/>
                        </a:spcAft>
                        <a:buClr>
                          <a:schemeClr val="dk1"/>
                        </a:buClr>
                        <a:buSzPts val="1100"/>
                        <a:buFont typeface="Arial"/>
                        <a:buNone/>
                      </a:pPr>
                      <a:r>
                        <a:rPr lang="en-US" sz="1600" u="none" cap="none" strike="noStrike">
                          <a:solidFill>
                            <a:schemeClr val="dk1"/>
                          </a:solidFill>
                        </a:rPr>
                        <a:t>Showing ID card at building entrance</a:t>
                      </a:r>
                      <a:endParaRPr sz="1600" u="none" cap="none" strike="noStrike"/>
                    </a:p>
                  </a:txBody>
                  <a:tcPr marT="91425" marB="91425" marR="91425" marL="91425"/>
                </a:tc>
                <a:tc>
                  <a:txBody>
                    <a:bodyPr/>
                    <a:lstStyle/>
                    <a:p>
                      <a:pPr indent="0" lvl="0" marL="0" marR="0" rtl="0" algn="l">
                        <a:lnSpc>
                          <a:spcPct val="115000"/>
                        </a:lnSpc>
                        <a:spcBef>
                          <a:spcPts val="0"/>
                        </a:spcBef>
                        <a:spcAft>
                          <a:spcPts val="0"/>
                        </a:spcAft>
                        <a:buClr>
                          <a:schemeClr val="dk1"/>
                        </a:buClr>
                        <a:buSzPts val="1100"/>
                        <a:buFont typeface="Arial"/>
                        <a:buNone/>
                      </a:pPr>
                      <a:r>
                        <a:rPr lang="en-US" sz="1600" u="none" cap="none" strike="noStrike">
                          <a:solidFill>
                            <a:schemeClr val="dk1"/>
                          </a:solidFill>
                        </a:rPr>
                        <a:t>Access to specific restricted rooms</a:t>
                      </a:r>
                      <a:endParaRPr sz="1600" u="none" cap="none" strike="noStrike"/>
                    </a:p>
                  </a:txBody>
                  <a:tcPr marT="91425" marB="91425" marR="91425" marL="91425"/>
                </a:tc>
              </a:tr>
            </a:tbl>
          </a:graphicData>
        </a:graphic>
      </p:graphicFrame>
      <p:sp>
        <p:nvSpPr>
          <p:cNvPr id="351" name="Google Shape;351;g344c60f6e55_0_359"/>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94c25f66fd_0_465"/>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Retrieve Data from a Form and Save in MongoDB (RECAP, Example 3)</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357" name="Google Shape;357;g394c25f66fd_0_465"/>
          <p:cNvSpPr txBox="1"/>
          <p:nvPr/>
        </p:nvSpPr>
        <p:spPr>
          <a:xfrm>
            <a:off x="228600" y="1497450"/>
            <a:ext cx="6648900" cy="51348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This example is to remind you how to use forms and MongoDB.</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From the provided resources folder, use the VS Code terminal to navigate to the </a:t>
            </a:r>
            <a:r>
              <a:rPr b="1" i="0" lang="en-US" sz="1600" u="none" cap="none" strike="noStrike">
                <a:solidFill>
                  <a:srgbClr val="0000FF"/>
                </a:solidFill>
                <a:latin typeface="Arial"/>
                <a:ea typeface="Arial"/>
                <a:cs typeface="Arial"/>
                <a:sym typeface="Arial"/>
              </a:rPr>
              <a:t>example3</a:t>
            </a:r>
            <a:r>
              <a:rPr b="0" i="0" lang="en-US" sz="1600" u="none" cap="none" strike="noStrike">
                <a:solidFill>
                  <a:srgbClr val="000000"/>
                </a:solidFill>
                <a:latin typeface="Arial"/>
                <a:ea typeface="Arial"/>
                <a:cs typeface="Arial"/>
                <a:sym typeface="Arial"/>
              </a:rPr>
              <a:t> directory.</a:t>
            </a:r>
            <a:endParaRPr b="0" i="0" sz="1600" u="none" cap="none" strike="noStrike">
              <a:solidFill>
                <a:srgbClr val="000000"/>
              </a:solidFill>
              <a:latin typeface="Arial"/>
              <a:ea typeface="Arial"/>
              <a:cs typeface="Arial"/>
              <a:sym typeface="Arial"/>
            </a:endParaRPr>
          </a:p>
          <a:p>
            <a:pPr indent="-317500" lvl="0" marL="457200" marR="0" rtl="0" algn="just">
              <a:lnSpc>
                <a:spcPct val="115000"/>
              </a:lnSpc>
              <a:spcBef>
                <a:spcPts val="0"/>
              </a:spcBef>
              <a:spcAft>
                <a:spcPts val="0"/>
              </a:spcAft>
              <a:buClr>
                <a:srgbClr val="000000"/>
              </a:buClr>
              <a:buSzPts val="1400"/>
              <a:buFont typeface="Arial"/>
              <a:buChar char="●"/>
            </a:pPr>
            <a:r>
              <a:rPr b="0" i="0" lang="en-US" sz="1600" u="none" cap="none" strike="noStrike">
                <a:solidFill>
                  <a:schemeClr val="dk1"/>
                </a:solidFill>
                <a:latin typeface="Arial"/>
                <a:ea typeface="Arial"/>
                <a:cs typeface="Arial"/>
                <a:sym typeface="Arial"/>
              </a:rPr>
              <a:t>Update the </a:t>
            </a:r>
            <a:r>
              <a:rPr b="1" i="0" lang="en-US" sz="1400" u="none" cap="none" strike="noStrike">
                <a:solidFill>
                  <a:srgbClr val="0000FF"/>
                </a:solidFill>
                <a:latin typeface="Roboto Mono"/>
                <a:ea typeface="Roboto Mono"/>
                <a:cs typeface="Roboto Mono"/>
                <a:sym typeface="Roboto Mono"/>
              </a:rPr>
              <a:t>DB </a:t>
            </a:r>
            <a:r>
              <a:rPr b="0" i="0" lang="en-US" sz="1600" u="none" cap="none" strike="noStrike">
                <a:solidFill>
                  <a:schemeClr val="dk1"/>
                </a:solidFill>
                <a:latin typeface="Arial"/>
                <a:ea typeface="Arial"/>
                <a:cs typeface="Arial"/>
                <a:sym typeface="Arial"/>
              </a:rPr>
              <a:t>variable in </a:t>
            </a:r>
            <a:r>
              <a:rPr b="1" i="0" lang="en-US" sz="1400" u="none" cap="none" strike="noStrike">
                <a:solidFill>
                  <a:srgbClr val="0000FF"/>
                </a:solidFill>
                <a:latin typeface="Roboto Mono"/>
                <a:ea typeface="Roboto Mono"/>
                <a:cs typeface="Roboto Mono"/>
                <a:sym typeface="Roboto Mono"/>
              </a:rPr>
              <a:t>config.env</a:t>
            </a:r>
            <a:r>
              <a:rPr b="0" i="0" lang="en-US" sz="1600" u="none" cap="none" strike="noStrike">
                <a:solidFill>
                  <a:srgbClr val="0000FF"/>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file with your MongoDB String.</a:t>
            </a:r>
            <a:endParaRPr b="0" i="0" sz="1600" u="none" cap="none" strike="noStrike">
              <a:solidFill>
                <a:srgbClr val="000000"/>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Install missing dependencies (if any) from package.json.</a:t>
            </a:r>
            <a:endParaRPr b="0" i="0" sz="1600" u="none" cap="none" strike="noStrike">
              <a:solidFill>
                <a:schemeClr val="dk1"/>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npm install</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Enter the following command in the terminal to start the Express server:</a:t>
            </a:r>
            <a:endParaRPr b="0" i="0" sz="1600" u="none" cap="none" strike="noStrike">
              <a:solidFill>
                <a:srgbClr val="000000"/>
              </a:solidFill>
              <a:latin typeface="Arial"/>
              <a:ea typeface="Arial"/>
              <a:cs typeface="Arial"/>
              <a:sym typeface="Arial"/>
            </a:endParaRPr>
          </a:p>
          <a:p>
            <a:pPr indent="0" lvl="0" marL="914400" marR="0" rtl="0" algn="just">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nodemon server.js</a:t>
            </a:r>
            <a:endParaRPr b="0" i="0" sz="1600" u="none" cap="none" strike="noStrike">
              <a:solidFill>
                <a:srgbClr val="000000"/>
              </a:solidFill>
              <a:latin typeface="Arial"/>
              <a:ea typeface="Arial"/>
              <a:cs typeface="Arial"/>
              <a:sym typeface="Arial"/>
            </a:endParaRPr>
          </a:p>
          <a:p>
            <a:pPr indent="-317500" lvl="0" marL="457200" marR="0" rtl="0" algn="just">
              <a:lnSpc>
                <a:spcPct val="115000"/>
              </a:lnSpc>
              <a:spcBef>
                <a:spcPts val="0"/>
              </a:spcBef>
              <a:spcAft>
                <a:spcPts val="0"/>
              </a:spcAft>
              <a:buClr>
                <a:srgbClr val="000000"/>
              </a:buClr>
              <a:buSzPts val="1400"/>
              <a:buFont typeface="Arial"/>
              <a:buChar char="●"/>
            </a:pPr>
            <a:r>
              <a:rPr b="0" i="0" lang="en-US" sz="1600" u="none" cap="none" strike="noStrike">
                <a:solidFill>
                  <a:srgbClr val="000000"/>
                </a:solidFill>
                <a:latin typeface="Arial"/>
                <a:ea typeface="Arial"/>
                <a:cs typeface="Arial"/>
                <a:sym typeface="Arial"/>
              </a:rPr>
              <a:t>Next, open a browser (e.g., Chrome) and navigate to: </a:t>
            </a:r>
            <a:r>
              <a:rPr b="0" i="0" lang="en-US" sz="1400" u="sng" cap="none" strike="noStrike">
                <a:solidFill>
                  <a:srgbClr val="0000FF"/>
                </a:solidFill>
                <a:latin typeface="Roboto Mono"/>
                <a:ea typeface="Roboto Mono"/>
                <a:cs typeface="Roboto Mono"/>
                <a:sym typeface="Roboto Mono"/>
                <a:hlinkClick r:id="rId3">
                  <a:extLst>
                    <a:ext uri="{A12FA001-AC4F-418D-AE19-62706E023703}">
                      <ahyp:hlinkClr val="tx"/>
                    </a:ext>
                  </a:extLst>
                </a:hlinkClick>
              </a:rPr>
              <a:t>http://localhost:8000/</a:t>
            </a:r>
            <a:r>
              <a:rPr b="0" i="0" lang="en-US"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Enter a text to the text box and click on submit.</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You should see an output similar to Figure 2 on the terminal.</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8" name="Google Shape;358;g394c25f66fd_0_465"/>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pic>
        <p:nvPicPr>
          <p:cNvPr id="359" name="Google Shape;359;g394c25f66fd_0_465"/>
          <p:cNvPicPr preferRelativeResize="0"/>
          <p:nvPr/>
        </p:nvPicPr>
        <p:blipFill rotWithShape="1">
          <a:blip r:embed="rId4">
            <a:alphaModFix/>
          </a:blip>
          <a:srcRect b="0" l="0" r="0" t="0"/>
          <a:stretch/>
        </p:blipFill>
        <p:spPr>
          <a:xfrm>
            <a:off x="8230863" y="1663575"/>
            <a:ext cx="2546025" cy="1697375"/>
          </a:xfrm>
          <a:prstGeom prst="rect">
            <a:avLst/>
          </a:prstGeom>
          <a:noFill/>
          <a:ln>
            <a:noFill/>
          </a:ln>
        </p:spPr>
      </p:pic>
      <p:sp>
        <p:nvSpPr>
          <p:cNvPr id="360" name="Google Shape;360;g394c25f66fd_0_465"/>
          <p:cNvSpPr/>
          <p:nvPr/>
        </p:nvSpPr>
        <p:spPr>
          <a:xfrm>
            <a:off x="8230875" y="1582325"/>
            <a:ext cx="2546100" cy="1707300"/>
          </a:xfrm>
          <a:prstGeom prst="rect">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394c25f66fd_0_465"/>
          <p:cNvSpPr txBox="1"/>
          <p:nvPr/>
        </p:nvSpPr>
        <p:spPr>
          <a:xfrm>
            <a:off x="9013525" y="3360950"/>
            <a:ext cx="980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Arial"/>
                <a:ea typeface="Arial"/>
                <a:cs typeface="Arial"/>
                <a:sym typeface="Arial"/>
              </a:rPr>
              <a:t>Figure 1</a:t>
            </a:r>
            <a:endParaRPr b="1" i="0" sz="1400" u="sng" cap="none" strike="noStrike">
              <a:solidFill>
                <a:srgbClr val="000000"/>
              </a:solidFill>
              <a:latin typeface="Arial"/>
              <a:ea typeface="Arial"/>
              <a:cs typeface="Arial"/>
              <a:sym typeface="Arial"/>
            </a:endParaRPr>
          </a:p>
        </p:txBody>
      </p:sp>
      <p:sp>
        <p:nvSpPr>
          <p:cNvPr id="362" name="Google Shape;362;g394c25f66fd_0_465"/>
          <p:cNvSpPr txBox="1"/>
          <p:nvPr/>
        </p:nvSpPr>
        <p:spPr>
          <a:xfrm>
            <a:off x="9013525" y="5792875"/>
            <a:ext cx="980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Arial"/>
                <a:ea typeface="Arial"/>
                <a:cs typeface="Arial"/>
                <a:sym typeface="Arial"/>
              </a:rPr>
              <a:t>Figure 2</a:t>
            </a:r>
            <a:endParaRPr b="1" i="0" sz="1400" u="sng" cap="none" strike="noStrike">
              <a:solidFill>
                <a:srgbClr val="000000"/>
              </a:solidFill>
              <a:latin typeface="Arial"/>
              <a:ea typeface="Arial"/>
              <a:cs typeface="Arial"/>
              <a:sym typeface="Arial"/>
            </a:endParaRPr>
          </a:p>
        </p:txBody>
      </p:sp>
      <p:pic>
        <p:nvPicPr>
          <p:cNvPr id="363" name="Google Shape;363;g394c25f66fd_0_465"/>
          <p:cNvPicPr preferRelativeResize="0"/>
          <p:nvPr/>
        </p:nvPicPr>
        <p:blipFill rotWithShape="1">
          <a:blip r:embed="rId5">
            <a:alphaModFix/>
          </a:blip>
          <a:srcRect b="0" l="0" r="0" t="0"/>
          <a:stretch/>
        </p:blipFill>
        <p:spPr>
          <a:xfrm>
            <a:off x="7486288" y="4653975"/>
            <a:ext cx="4035275" cy="1178000"/>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94c25f66fd_0_473"/>
          <p:cNvSpPr txBox="1"/>
          <p:nvPr/>
        </p:nvSpPr>
        <p:spPr>
          <a:xfrm>
            <a:off x="228600" y="3096400"/>
            <a:ext cx="7314000" cy="28305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US" sz="1200" u="none" cap="none" strike="noStrike">
                <a:solidFill>
                  <a:srgbClr val="3B3B3B"/>
                </a:solidFill>
                <a:highlight>
                  <a:schemeClr val="lt1"/>
                </a:highlight>
                <a:latin typeface="Roboto Mono"/>
                <a:ea typeface="Roboto Mono"/>
                <a:cs typeface="Roboto Mono"/>
                <a:sym typeface="Roboto Mono"/>
              </a:rPr>
              <a:t>...</a:t>
            </a:r>
            <a:endParaRPr b="0" i="0" sz="1200" u="none" cap="none" strike="noStrike">
              <a:solidFill>
                <a:srgbClr val="3B3B3B"/>
              </a:solidFill>
              <a:highlight>
                <a:schemeClr val="lt1"/>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200" u="none" cap="none" strike="noStrike">
                <a:solidFill>
                  <a:srgbClr val="830091"/>
                </a:solidFill>
                <a:highlight>
                  <a:srgbClr val="FFFFFF"/>
                </a:highlight>
                <a:latin typeface="Roboto Mono"/>
                <a:ea typeface="Roboto Mono"/>
                <a:cs typeface="Roboto Mono"/>
                <a:sym typeface="Roboto Mono"/>
              </a:rPr>
              <a:t>console</a:t>
            </a:r>
            <a:r>
              <a:rPr b="0" i="0" lang="en-US" sz="1200" u="none" cap="none" strike="noStrike">
                <a:solidFill>
                  <a:srgbClr val="080808"/>
                </a:solidFill>
                <a:highlight>
                  <a:srgbClr val="FFFFFF"/>
                </a:highlight>
                <a:latin typeface="Roboto Mono"/>
                <a:ea typeface="Roboto Mono"/>
                <a:cs typeface="Roboto Mono"/>
                <a:sym typeface="Roboto Mono"/>
              </a:rPr>
              <a:t>.</a:t>
            </a:r>
            <a:r>
              <a:rPr b="0" i="0" lang="en-US" sz="1200" u="none" cap="none" strike="noStrike">
                <a:solidFill>
                  <a:srgbClr val="914C07"/>
                </a:solidFill>
                <a:highlight>
                  <a:srgbClr val="FFFFFF"/>
                </a:highlight>
                <a:latin typeface="Roboto Mono"/>
                <a:ea typeface="Roboto Mono"/>
                <a:cs typeface="Roboto Mono"/>
                <a:sym typeface="Roboto Mono"/>
              </a:rPr>
              <a:t>log</a:t>
            </a:r>
            <a:r>
              <a:rPr b="0" i="0" lang="en-US" sz="1200" u="none" cap="none" strike="noStrike">
                <a:solidFill>
                  <a:srgbClr val="080808"/>
                </a:solidFill>
                <a:highlight>
                  <a:srgbClr val="FFFFFF"/>
                </a:highlight>
                <a:latin typeface="Roboto Mono"/>
                <a:ea typeface="Roboto Mono"/>
                <a:cs typeface="Roboto Mono"/>
                <a:sym typeface="Roboto Mono"/>
              </a:rPr>
              <a:t>(</a:t>
            </a:r>
            <a:r>
              <a:rPr b="0" i="0" lang="en-US" sz="1200" u="none" cap="none" strike="noStrike">
                <a:solidFill>
                  <a:srgbClr val="067D17"/>
                </a:solidFill>
                <a:highlight>
                  <a:srgbClr val="FFFFFF"/>
                </a:highlight>
                <a:latin typeface="Roboto Mono"/>
                <a:ea typeface="Roboto Mono"/>
                <a:cs typeface="Roboto Mono"/>
                <a:sym typeface="Roboto Mono"/>
              </a:rPr>
              <a:t>'user input :' </a:t>
            </a:r>
            <a:r>
              <a:rPr b="0" i="0" lang="en-US" sz="1200" u="none" cap="none" strike="noStrike">
                <a:solidFill>
                  <a:srgbClr val="080808"/>
                </a:solidFill>
                <a:highlight>
                  <a:srgbClr val="FFFFFF"/>
                </a:highlight>
                <a:latin typeface="Roboto Mono"/>
                <a:ea typeface="Roboto Mono"/>
                <a:cs typeface="Roboto Mono"/>
                <a:sym typeface="Roboto Mono"/>
              </a:rPr>
              <a:t>+ req.</a:t>
            </a:r>
            <a:r>
              <a:rPr b="0" i="0" lang="en-US" sz="1200" u="none" cap="none" strike="noStrike">
                <a:solidFill>
                  <a:srgbClr val="871094"/>
                </a:solidFill>
                <a:highlight>
                  <a:srgbClr val="FFFFFF"/>
                </a:highlight>
                <a:latin typeface="Roboto Mono"/>
                <a:ea typeface="Roboto Mono"/>
                <a:cs typeface="Roboto Mono"/>
                <a:sym typeface="Roboto Mono"/>
              </a:rPr>
              <a:t>body</a:t>
            </a:r>
            <a:r>
              <a:rPr b="0" i="0" lang="en-US" sz="1200" u="none" cap="none" strike="noStrike">
                <a:solidFill>
                  <a:srgbClr val="080808"/>
                </a:solidFill>
                <a:highlight>
                  <a:srgbClr val="FFFFFF"/>
                </a:highlight>
                <a:latin typeface="Roboto Mono"/>
                <a:ea typeface="Roboto Mono"/>
                <a:cs typeface="Roboto Mono"/>
                <a:sym typeface="Roboto Mono"/>
              </a:rPr>
              <a:t>.</a:t>
            </a:r>
            <a:r>
              <a:rPr b="0" i="0" lang="en-US" sz="1200" u="none" cap="none" strike="noStrike">
                <a:solidFill>
                  <a:srgbClr val="871094"/>
                </a:solidFill>
                <a:highlight>
                  <a:srgbClr val="FFFFFF"/>
                </a:highlight>
                <a:latin typeface="Roboto Mono"/>
                <a:ea typeface="Roboto Mono"/>
                <a:cs typeface="Roboto Mono"/>
                <a:sym typeface="Roboto Mono"/>
              </a:rPr>
              <a:t>message</a:t>
            </a:r>
            <a:r>
              <a:rPr b="0" i="0" lang="en-US" sz="1200" u="none" cap="none" strike="noStrike">
                <a:solidFill>
                  <a:srgbClr val="080808"/>
                </a:solidFill>
                <a:highlight>
                  <a:srgbClr val="FFFFFF"/>
                </a:highlight>
                <a:latin typeface="Roboto Mono"/>
                <a:ea typeface="Roboto Mono"/>
                <a:cs typeface="Roboto Mono"/>
                <a:sym typeface="Roboto Mono"/>
              </a:rPr>
              <a:t>);</a:t>
            </a:r>
            <a:endParaRPr b="0" i="0" sz="1200" u="none" cap="none" strike="noStrike">
              <a:solidFill>
                <a:srgbClr val="080808"/>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200" u="none" cap="none" strike="noStrike">
                <a:solidFill>
                  <a:srgbClr val="0033B3"/>
                </a:solidFill>
                <a:highlight>
                  <a:srgbClr val="FFFFFF"/>
                </a:highlight>
                <a:latin typeface="Roboto Mono"/>
                <a:ea typeface="Roboto Mono"/>
                <a:cs typeface="Roboto Mono"/>
                <a:sym typeface="Roboto Mono"/>
              </a:rPr>
              <a:t>try </a:t>
            </a:r>
            <a:r>
              <a:rPr b="0" i="0" lang="en-US" sz="1200" u="none" cap="none" strike="noStrike">
                <a:solidFill>
                  <a:srgbClr val="080808"/>
                </a:solidFill>
                <a:highlight>
                  <a:srgbClr val="FFFFFF"/>
                </a:highlight>
                <a:latin typeface="Roboto Mono"/>
                <a:ea typeface="Roboto Mono"/>
                <a:cs typeface="Roboto Mono"/>
                <a:sym typeface="Roboto Mono"/>
              </a:rPr>
              <a:t>{</a:t>
            </a:r>
            <a:endParaRPr b="0" i="0" sz="1200" u="none" cap="none" strike="noStrike">
              <a:solidFill>
                <a:srgbClr val="080808"/>
              </a:solidFill>
              <a:highlight>
                <a:srgbClr val="FFFFFF"/>
              </a:highlight>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US" sz="1200">
                <a:solidFill>
                  <a:srgbClr val="0000FF"/>
                </a:solidFill>
                <a:highlight>
                  <a:srgbClr val="FFFFFF"/>
                </a:highlight>
                <a:latin typeface="Roboto Mono"/>
                <a:ea typeface="Roboto Mono"/>
                <a:cs typeface="Roboto Mono"/>
                <a:sym typeface="Roboto Mono"/>
              </a:rPr>
              <a:t>   const</a:t>
            </a:r>
            <a:r>
              <a:rPr lang="en-US" sz="1200">
                <a:solidFill>
                  <a:srgbClr val="3B3B3B"/>
                </a:solidFill>
                <a:highlight>
                  <a:srgbClr val="FFFFFF"/>
                </a:highlight>
                <a:latin typeface="Roboto Mono"/>
                <a:ea typeface="Roboto Mono"/>
                <a:cs typeface="Roboto Mono"/>
                <a:sym typeface="Roboto Mono"/>
              </a:rPr>
              <a:t> </a:t>
            </a:r>
            <a:r>
              <a:rPr lang="en-US" sz="1200">
                <a:solidFill>
                  <a:srgbClr val="0070C1"/>
                </a:solidFill>
                <a:highlight>
                  <a:srgbClr val="FFFFFF"/>
                </a:highlight>
                <a:latin typeface="Roboto Mono"/>
                <a:ea typeface="Roboto Mono"/>
                <a:cs typeface="Roboto Mono"/>
                <a:sym typeface="Roboto Mono"/>
              </a:rPr>
              <a:t>message</a:t>
            </a:r>
            <a:r>
              <a:rPr lang="en-US" sz="1200">
                <a:solidFill>
                  <a:srgbClr val="3B3B3B"/>
                </a:solidFill>
                <a:highlight>
                  <a:srgbClr val="FFFFFF"/>
                </a:highlight>
                <a:latin typeface="Roboto Mono"/>
                <a:ea typeface="Roboto Mono"/>
                <a:cs typeface="Roboto Mono"/>
                <a:sym typeface="Roboto Mono"/>
              </a:rPr>
              <a:t> </a:t>
            </a:r>
            <a:r>
              <a:rPr lang="en-US" sz="1200">
                <a:solidFill>
                  <a:schemeClr val="dk1"/>
                </a:solidFill>
                <a:highlight>
                  <a:srgbClr val="FFFFFF"/>
                </a:highlight>
                <a:latin typeface="Roboto Mono"/>
                <a:ea typeface="Roboto Mono"/>
                <a:cs typeface="Roboto Mono"/>
                <a:sym typeface="Roboto Mono"/>
              </a:rPr>
              <a:t>=</a:t>
            </a:r>
            <a:r>
              <a:rPr lang="en-US" sz="1200">
                <a:solidFill>
                  <a:srgbClr val="3B3B3B"/>
                </a:solidFill>
                <a:highlight>
                  <a:srgbClr val="FFFFFF"/>
                </a:highlight>
                <a:latin typeface="Roboto Mono"/>
                <a:ea typeface="Roboto Mono"/>
                <a:cs typeface="Roboto Mono"/>
                <a:sym typeface="Roboto Mono"/>
              </a:rPr>
              <a:t> {</a:t>
            </a:r>
            <a:endParaRPr sz="1200">
              <a:solidFill>
                <a:srgbClr val="3B3B3B"/>
              </a:solidFill>
              <a:highlight>
                <a:srgbClr val="FFFFFF"/>
              </a:highlight>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US" sz="1200">
                <a:solidFill>
                  <a:srgbClr val="001080"/>
                </a:solidFill>
                <a:highlight>
                  <a:srgbClr val="FFFFFF"/>
                </a:highlight>
                <a:latin typeface="Roboto Mono"/>
                <a:ea typeface="Roboto Mono"/>
                <a:cs typeface="Roboto Mono"/>
                <a:sym typeface="Roboto Mono"/>
              </a:rPr>
              <a:t>       message:</a:t>
            </a:r>
            <a:r>
              <a:rPr lang="en-US" sz="1200">
                <a:solidFill>
                  <a:srgbClr val="3B3B3B"/>
                </a:solidFill>
                <a:highlight>
                  <a:srgbClr val="FFFFFF"/>
                </a:highlight>
                <a:latin typeface="Roboto Mono"/>
                <a:ea typeface="Roboto Mono"/>
                <a:cs typeface="Roboto Mono"/>
                <a:sym typeface="Roboto Mono"/>
              </a:rPr>
              <a:t> </a:t>
            </a:r>
            <a:r>
              <a:rPr lang="en-US" sz="1200">
                <a:solidFill>
                  <a:srgbClr val="001080"/>
                </a:solidFill>
                <a:highlight>
                  <a:srgbClr val="FFFFFF"/>
                </a:highlight>
                <a:latin typeface="Roboto Mono"/>
                <a:ea typeface="Roboto Mono"/>
                <a:cs typeface="Roboto Mono"/>
                <a:sym typeface="Roboto Mono"/>
              </a:rPr>
              <a:t>req</a:t>
            </a:r>
            <a:r>
              <a:rPr lang="en-US" sz="1200">
                <a:solidFill>
                  <a:srgbClr val="3B3B3B"/>
                </a:solidFill>
                <a:highlight>
                  <a:srgbClr val="FFFFFF"/>
                </a:highlight>
                <a:latin typeface="Roboto Mono"/>
                <a:ea typeface="Roboto Mono"/>
                <a:cs typeface="Roboto Mono"/>
                <a:sym typeface="Roboto Mono"/>
              </a:rPr>
              <a:t>.</a:t>
            </a:r>
            <a:r>
              <a:rPr lang="en-US" sz="1200">
                <a:solidFill>
                  <a:srgbClr val="001080"/>
                </a:solidFill>
                <a:highlight>
                  <a:srgbClr val="FFFFFF"/>
                </a:highlight>
                <a:latin typeface="Roboto Mono"/>
                <a:ea typeface="Roboto Mono"/>
                <a:cs typeface="Roboto Mono"/>
                <a:sym typeface="Roboto Mono"/>
              </a:rPr>
              <a:t>body</a:t>
            </a:r>
            <a:r>
              <a:rPr lang="en-US" sz="1200">
                <a:solidFill>
                  <a:srgbClr val="3B3B3B"/>
                </a:solidFill>
                <a:highlight>
                  <a:srgbClr val="FFFFFF"/>
                </a:highlight>
                <a:latin typeface="Roboto Mono"/>
                <a:ea typeface="Roboto Mono"/>
                <a:cs typeface="Roboto Mono"/>
                <a:sym typeface="Roboto Mono"/>
              </a:rPr>
              <a:t>.</a:t>
            </a:r>
            <a:r>
              <a:rPr lang="en-US" sz="1200">
                <a:solidFill>
                  <a:srgbClr val="001080"/>
                </a:solidFill>
                <a:highlight>
                  <a:srgbClr val="FFFFFF"/>
                </a:highlight>
                <a:latin typeface="Roboto Mono"/>
                <a:ea typeface="Roboto Mono"/>
                <a:cs typeface="Roboto Mono"/>
                <a:sym typeface="Roboto Mono"/>
              </a:rPr>
              <a:t>message</a:t>
            </a:r>
            <a:r>
              <a:rPr lang="en-US" sz="1200">
                <a:solidFill>
                  <a:srgbClr val="3B3B3B"/>
                </a:solidFill>
                <a:highlight>
                  <a:srgbClr val="FFFFFF"/>
                </a:highlight>
                <a:latin typeface="Roboto Mono"/>
                <a:ea typeface="Roboto Mono"/>
                <a:cs typeface="Roboto Mono"/>
                <a:sym typeface="Roboto Mono"/>
              </a:rPr>
              <a:t>,</a:t>
            </a:r>
            <a:endParaRPr sz="1200">
              <a:solidFill>
                <a:srgbClr val="3B3B3B"/>
              </a:solidFill>
              <a:highlight>
                <a:srgbClr val="FFFFFF"/>
              </a:highlight>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US" sz="1200">
                <a:solidFill>
                  <a:srgbClr val="3B3B3B"/>
                </a:solidFill>
                <a:highlight>
                  <a:srgbClr val="FFFFFF"/>
                </a:highlight>
                <a:latin typeface="Roboto Mono"/>
                <a:ea typeface="Roboto Mono"/>
                <a:cs typeface="Roboto Mono"/>
                <a:sym typeface="Roboto Mono"/>
              </a:rPr>
              <a:t>   };</a:t>
            </a:r>
            <a:endParaRPr sz="1200">
              <a:solidFill>
                <a:srgbClr val="3B3B3B"/>
              </a:solidFill>
              <a:highlight>
                <a:srgbClr val="FFFFFF"/>
              </a:highlight>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lang="en-US" sz="1200">
                <a:solidFill>
                  <a:srgbClr val="AF00DB"/>
                </a:solidFill>
                <a:highlight>
                  <a:srgbClr val="FFFFFF"/>
                </a:highlight>
                <a:latin typeface="Roboto Mono"/>
                <a:ea typeface="Roboto Mono"/>
                <a:cs typeface="Roboto Mono"/>
                <a:sym typeface="Roboto Mono"/>
              </a:rPr>
              <a:t>   await</a:t>
            </a:r>
            <a:r>
              <a:rPr lang="en-US" sz="1200">
                <a:solidFill>
                  <a:srgbClr val="3B3B3B"/>
                </a:solidFill>
                <a:highlight>
                  <a:srgbClr val="FFFFFF"/>
                </a:highlight>
                <a:latin typeface="Roboto Mono"/>
                <a:ea typeface="Roboto Mono"/>
                <a:cs typeface="Roboto Mono"/>
                <a:sym typeface="Roboto Mono"/>
              </a:rPr>
              <a:t> </a:t>
            </a:r>
            <a:r>
              <a:rPr lang="en-US" sz="1200">
                <a:solidFill>
                  <a:srgbClr val="001080"/>
                </a:solidFill>
                <a:highlight>
                  <a:srgbClr val="FFFFFF"/>
                </a:highlight>
                <a:latin typeface="Roboto Mono"/>
                <a:ea typeface="Roboto Mono"/>
                <a:cs typeface="Roboto Mono"/>
                <a:sym typeface="Roboto Mono"/>
              </a:rPr>
              <a:t>Message</a:t>
            </a:r>
            <a:r>
              <a:rPr lang="en-US" sz="1200">
                <a:solidFill>
                  <a:srgbClr val="3B3B3B"/>
                </a:solidFill>
                <a:highlight>
                  <a:srgbClr val="FFFFFF"/>
                </a:highlight>
                <a:latin typeface="Roboto Mono"/>
                <a:ea typeface="Roboto Mono"/>
                <a:cs typeface="Roboto Mono"/>
                <a:sym typeface="Roboto Mono"/>
              </a:rPr>
              <a:t>.</a:t>
            </a:r>
            <a:r>
              <a:rPr lang="en-US" sz="1200">
                <a:solidFill>
                  <a:srgbClr val="795E26"/>
                </a:solidFill>
                <a:highlight>
                  <a:srgbClr val="FFFFFF"/>
                </a:highlight>
                <a:latin typeface="Roboto Mono"/>
                <a:ea typeface="Roboto Mono"/>
                <a:cs typeface="Roboto Mono"/>
                <a:sym typeface="Roboto Mono"/>
              </a:rPr>
              <a:t>addMessage</a:t>
            </a:r>
            <a:r>
              <a:rPr lang="en-US" sz="1200">
                <a:solidFill>
                  <a:srgbClr val="3B3B3B"/>
                </a:solidFill>
                <a:highlight>
                  <a:srgbClr val="FFFFFF"/>
                </a:highlight>
                <a:latin typeface="Roboto Mono"/>
                <a:ea typeface="Roboto Mono"/>
                <a:cs typeface="Roboto Mono"/>
                <a:sym typeface="Roboto Mono"/>
              </a:rPr>
              <a:t>(</a:t>
            </a:r>
            <a:r>
              <a:rPr lang="en-US" sz="1200">
                <a:solidFill>
                  <a:srgbClr val="0070C1"/>
                </a:solidFill>
                <a:highlight>
                  <a:srgbClr val="FFFFFF"/>
                </a:highlight>
                <a:latin typeface="Roboto Mono"/>
                <a:ea typeface="Roboto Mono"/>
                <a:cs typeface="Roboto Mono"/>
                <a:sym typeface="Roboto Mono"/>
              </a:rPr>
              <a:t>message</a:t>
            </a:r>
            <a:r>
              <a:rPr lang="en-US" sz="1200">
                <a:solidFill>
                  <a:srgbClr val="3B3B3B"/>
                </a:solidFill>
                <a:highlight>
                  <a:srgbClr val="FFFFFF"/>
                </a:highlight>
                <a:latin typeface="Roboto Mono"/>
                <a:ea typeface="Roboto Mono"/>
                <a:cs typeface="Roboto Mono"/>
                <a:sym typeface="Roboto Mono"/>
              </a:rPr>
              <a:t>);</a:t>
            </a:r>
            <a:endParaRPr sz="1200">
              <a:solidFill>
                <a:srgbClr val="080808"/>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200" u="none" cap="none" strike="noStrike">
                <a:solidFill>
                  <a:srgbClr val="080808"/>
                </a:solidFill>
                <a:highlight>
                  <a:srgbClr val="FFFFFF"/>
                </a:highlight>
                <a:latin typeface="Roboto Mono"/>
                <a:ea typeface="Roboto Mono"/>
                <a:cs typeface="Roboto Mono"/>
                <a:sym typeface="Roboto Mono"/>
              </a:rPr>
              <a:t>   </a:t>
            </a:r>
            <a:r>
              <a:rPr b="0" i="0" lang="en-US" sz="1200" u="none" cap="none" strike="noStrike">
                <a:solidFill>
                  <a:srgbClr val="830091"/>
                </a:solidFill>
                <a:highlight>
                  <a:srgbClr val="FFFFFF"/>
                </a:highlight>
                <a:latin typeface="Roboto Mono"/>
                <a:ea typeface="Roboto Mono"/>
                <a:cs typeface="Roboto Mono"/>
                <a:sym typeface="Roboto Mono"/>
              </a:rPr>
              <a:t>console</a:t>
            </a:r>
            <a:r>
              <a:rPr b="0" i="0" lang="en-US" sz="1200" u="none" cap="none" strike="noStrike">
                <a:solidFill>
                  <a:srgbClr val="080808"/>
                </a:solidFill>
                <a:highlight>
                  <a:srgbClr val="FFFFFF"/>
                </a:highlight>
                <a:latin typeface="Roboto Mono"/>
                <a:ea typeface="Roboto Mono"/>
                <a:cs typeface="Roboto Mono"/>
                <a:sym typeface="Roboto Mono"/>
              </a:rPr>
              <a:t>.</a:t>
            </a:r>
            <a:r>
              <a:rPr b="0" i="0" lang="en-US" sz="1200" u="none" cap="none" strike="noStrike">
                <a:solidFill>
                  <a:srgbClr val="914C07"/>
                </a:solidFill>
                <a:highlight>
                  <a:srgbClr val="FFFFFF"/>
                </a:highlight>
                <a:latin typeface="Roboto Mono"/>
                <a:ea typeface="Roboto Mono"/>
                <a:cs typeface="Roboto Mono"/>
                <a:sym typeface="Roboto Mono"/>
              </a:rPr>
              <a:t>log</a:t>
            </a:r>
            <a:r>
              <a:rPr b="0" i="0" lang="en-US" sz="1200" u="none" cap="none" strike="noStrike">
                <a:solidFill>
                  <a:srgbClr val="080808"/>
                </a:solidFill>
                <a:highlight>
                  <a:srgbClr val="FFFFFF"/>
                </a:highlight>
                <a:latin typeface="Roboto Mono"/>
                <a:ea typeface="Roboto Mono"/>
                <a:cs typeface="Roboto Mono"/>
                <a:sym typeface="Roboto Mono"/>
              </a:rPr>
              <a:t>(</a:t>
            </a:r>
            <a:r>
              <a:rPr b="0" i="0" lang="en-US" sz="1200" u="none" cap="none" strike="noStrike">
                <a:solidFill>
                  <a:srgbClr val="067D17"/>
                </a:solidFill>
                <a:highlight>
                  <a:srgbClr val="FFFFFF"/>
                </a:highlight>
                <a:latin typeface="Roboto Mono"/>
                <a:ea typeface="Roboto Mono"/>
                <a:cs typeface="Roboto Mono"/>
                <a:sym typeface="Roboto Mono"/>
              </a:rPr>
              <a:t>'message saved to mongodb'</a:t>
            </a:r>
            <a:r>
              <a:rPr b="0" i="0" lang="en-US" sz="1200" u="none" cap="none" strike="noStrike">
                <a:solidFill>
                  <a:srgbClr val="080808"/>
                </a:solidFill>
                <a:highlight>
                  <a:srgbClr val="FFFFFF"/>
                </a:highlight>
                <a:latin typeface="Roboto Mono"/>
                <a:ea typeface="Roboto Mono"/>
                <a:cs typeface="Roboto Mono"/>
                <a:sym typeface="Roboto Mono"/>
              </a:rPr>
              <a:t>);</a:t>
            </a:r>
            <a:endParaRPr b="0" i="0" sz="1200" u="none" cap="none" strike="noStrike">
              <a:solidFill>
                <a:srgbClr val="080808"/>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200" u="none" cap="none" strike="noStrike">
                <a:solidFill>
                  <a:srgbClr val="3B3B3B"/>
                </a:solidFill>
                <a:highlight>
                  <a:schemeClr val="lt1"/>
                </a:highlight>
                <a:latin typeface="Roboto Mono"/>
                <a:ea typeface="Roboto Mono"/>
                <a:cs typeface="Roboto Mono"/>
                <a:sym typeface="Roboto Mono"/>
              </a:rPr>
              <a:t>...</a:t>
            </a:r>
            <a:endParaRPr b="0" i="0" sz="1200" u="none" cap="none" strike="noStrike">
              <a:solidFill>
                <a:schemeClr val="dk1"/>
              </a:solidFill>
              <a:latin typeface="Roboto Mono"/>
              <a:ea typeface="Roboto Mono"/>
              <a:cs typeface="Roboto Mono"/>
              <a:sym typeface="Roboto Mono"/>
            </a:endParaRPr>
          </a:p>
          <a:p>
            <a:pPr indent="0" lvl="0" marL="0" marR="0" rtl="0" algn="ctr">
              <a:lnSpc>
                <a:spcPct val="150000"/>
              </a:lnSpc>
              <a:spcBef>
                <a:spcPts val="0"/>
              </a:spcBef>
              <a:spcAft>
                <a:spcPts val="0"/>
              </a:spcAft>
              <a:buClr>
                <a:schemeClr val="dk1"/>
              </a:buClr>
              <a:buSzPts val="1100"/>
              <a:buFont typeface="Arial"/>
              <a:buNone/>
            </a:pPr>
            <a:r>
              <a:t/>
            </a:r>
            <a:endParaRPr b="0" i="0" sz="1200" u="none" cap="none" strike="noStrike">
              <a:solidFill>
                <a:schemeClr val="dk1"/>
              </a:solidFill>
              <a:highlight>
                <a:srgbClr val="00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t/>
            </a:r>
            <a:endParaRPr b="0" i="0" sz="1200" u="none" cap="none" strike="noStrike">
              <a:solidFill>
                <a:schemeClr val="dk1"/>
              </a:solidFill>
              <a:latin typeface="Roboto Mono"/>
              <a:ea typeface="Roboto Mono"/>
              <a:cs typeface="Roboto Mono"/>
              <a:sym typeface="Roboto Mono"/>
            </a:endParaRPr>
          </a:p>
        </p:txBody>
      </p:sp>
      <p:sp>
        <p:nvSpPr>
          <p:cNvPr id="369" name="Google Shape;369;g394c25f66fd_0_473"/>
          <p:cNvSpPr txBox="1"/>
          <p:nvPr/>
        </p:nvSpPr>
        <p:spPr>
          <a:xfrm>
            <a:off x="228600" y="1556975"/>
            <a:ext cx="7314000" cy="11202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400"/>
              <a:buFont typeface="Arial"/>
              <a:buNone/>
            </a:pPr>
            <a:r>
              <a:rPr b="0" i="0" lang="en-US" sz="1200" u="none" cap="none" strike="noStrike">
                <a:solidFill>
                  <a:schemeClr val="dk1"/>
                </a:solidFill>
                <a:latin typeface="Roboto Mono"/>
                <a:ea typeface="Roboto Mono"/>
                <a:cs typeface="Roboto Mono"/>
                <a:sym typeface="Roboto Mono"/>
              </a:rPr>
              <a:t>&lt;form action="/" method="POST"&gt;</a:t>
            </a:r>
            <a:endParaRPr b="0" i="0" sz="12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Roboto Mono"/>
                <a:ea typeface="Roboto Mono"/>
                <a:cs typeface="Roboto Mono"/>
                <a:sym typeface="Roboto Mono"/>
              </a:rPr>
              <a:t>...</a:t>
            </a:r>
            <a:endParaRPr b="0" i="0" sz="12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rPr b="0" i="0" lang="en-US" sz="1200" u="none" cap="none" strike="noStrike">
                <a:solidFill>
                  <a:schemeClr val="dk1"/>
                </a:solidFill>
                <a:latin typeface="Roboto Mono"/>
                <a:ea typeface="Roboto Mono"/>
                <a:cs typeface="Roboto Mono"/>
                <a:sym typeface="Roboto Mono"/>
              </a:rPr>
              <a:t> &lt;input name="message" placeholder="Message" required &gt; &lt;br&gt;&lt;br&gt;</a:t>
            </a:r>
            <a:endParaRPr b="0" i="0" sz="12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200" u="none" cap="none" strike="noStrike">
                <a:solidFill>
                  <a:schemeClr val="dk1"/>
                </a:solidFill>
                <a:latin typeface="Roboto Mono"/>
                <a:ea typeface="Roboto Mono"/>
                <a:cs typeface="Roboto Mono"/>
                <a:sym typeface="Roboto Mono"/>
              </a:rPr>
              <a:t>...</a:t>
            </a:r>
            <a:endParaRPr b="0" i="0" sz="1200" u="none" cap="none" strike="noStrike">
              <a:solidFill>
                <a:schemeClr val="dk1"/>
              </a:solidFill>
              <a:latin typeface="Roboto Mono"/>
              <a:ea typeface="Roboto Mono"/>
              <a:cs typeface="Roboto Mono"/>
              <a:sym typeface="Roboto Mono"/>
            </a:endParaRPr>
          </a:p>
          <a:p>
            <a:pPr indent="0" lvl="0" marL="0" marR="0" rtl="0" algn="ctr">
              <a:lnSpc>
                <a:spcPct val="150000"/>
              </a:lnSpc>
              <a:spcBef>
                <a:spcPts val="0"/>
              </a:spcBef>
              <a:spcAft>
                <a:spcPts val="0"/>
              </a:spcAft>
              <a:buClr>
                <a:schemeClr val="dk1"/>
              </a:buClr>
              <a:buSzPts val="1100"/>
              <a:buFont typeface="Arial"/>
              <a:buNone/>
            </a:pPr>
            <a:r>
              <a:t/>
            </a:r>
            <a:endParaRPr b="0" i="0" sz="1200" u="none" cap="none" strike="noStrike">
              <a:solidFill>
                <a:schemeClr val="dk1"/>
              </a:solidFill>
              <a:highlight>
                <a:srgbClr val="00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Mono"/>
              <a:ea typeface="Roboto Mono"/>
              <a:cs typeface="Roboto Mono"/>
              <a:sym typeface="Roboto Mono"/>
            </a:endParaRPr>
          </a:p>
        </p:txBody>
      </p:sp>
      <p:sp>
        <p:nvSpPr>
          <p:cNvPr id="370" name="Google Shape;370;g394c25f66fd_0_473"/>
          <p:cNvSpPr/>
          <p:nvPr/>
        </p:nvSpPr>
        <p:spPr>
          <a:xfrm>
            <a:off x="228600" y="3390050"/>
            <a:ext cx="4456500" cy="3507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cxnSp>
        <p:nvCxnSpPr>
          <p:cNvPr id="371" name="Google Shape;371;g394c25f66fd_0_473"/>
          <p:cNvCxnSpPr>
            <a:stCxn id="372" idx="1"/>
            <a:endCxn id="370" idx="3"/>
          </p:cNvCxnSpPr>
          <p:nvPr/>
        </p:nvCxnSpPr>
        <p:spPr>
          <a:xfrm rot="10800000">
            <a:off x="4685025" y="3565400"/>
            <a:ext cx="3138300" cy="0"/>
          </a:xfrm>
          <a:prstGeom prst="straightConnector1">
            <a:avLst/>
          </a:prstGeom>
          <a:noFill/>
          <a:ln cap="flat" cmpd="sng" w="19050">
            <a:solidFill>
              <a:srgbClr val="FF0000"/>
            </a:solidFill>
            <a:prstDash val="solid"/>
            <a:round/>
            <a:headEnd len="sm" w="sm" type="none"/>
            <a:tailEnd len="med" w="med" type="triangle"/>
          </a:ln>
        </p:spPr>
      </p:cxnSp>
      <p:sp>
        <p:nvSpPr>
          <p:cNvPr id="373" name="Google Shape;373;g394c25f66fd_0_473"/>
          <p:cNvSpPr txBox="1"/>
          <p:nvPr/>
        </p:nvSpPr>
        <p:spPr>
          <a:xfrm>
            <a:off x="7823325" y="1915813"/>
            <a:ext cx="3452100" cy="677100"/>
          </a:xfrm>
          <a:prstGeom prst="rect">
            <a:avLst/>
          </a:prstGeom>
          <a:solidFill>
            <a:srgbClr val="9FC5E8"/>
          </a:solid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Input field to get a text input from user</a:t>
            </a:r>
            <a:endParaRPr b="0" i="0" sz="1600" u="none" cap="none" strike="noStrike">
              <a:solidFill>
                <a:srgbClr val="000000"/>
              </a:solidFill>
              <a:latin typeface="Arial"/>
              <a:ea typeface="Arial"/>
              <a:cs typeface="Arial"/>
              <a:sym typeface="Arial"/>
            </a:endParaRPr>
          </a:p>
        </p:txBody>
      </p:sp>
      <p:sp>
        <p:nvSpPr>
          <p:cNvPr id="374" name="Google Shape;374;g394c25f66fd_0_473"/>
          <p:cNvSpPr txBox="1"/>
          <p:nvPr/>
        </p:nvSpPr>
        <p:spPr>
          <a:xfrm>
            <a:off x="3237000" y="2677175"/>
            <a:ext cx="1297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Roboto Mono"/>
                <a:ea typeface="Roboto Mono"/>
                <a:cs typeface="Roboto Mono"/>
                <a:sym typeface="Roboto Mono"/>
              </a:rPr>
              <a:t>home.ejs</a:t>
            </a:r>
            <a:endParaRPr b="1" i="0" sz="1400" u="sng" cap="none" strike="noStrike">
              <a:solidFill>
                <a:srgbClr val="000000"/>
              </a:solidFill>
              <a:latin typeface="Roboto Mono"/>
              <a:ea typeface="Roboto Mono"/>
              <a:cs typeface="Roboto Mono"/>
              <a:sym typeface="Roboto Mono"/>
            </a:endParaRPr>
          </a:p>
        </p:txBody>
      </p:sp>
      <p:sp>
        <p:nvSpPr>
          <p:cNvPr id="375" name="Google Shape;375;g394c25f66fd_0_473"/>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Retrieve Data from a Form and Save in MongoDB (RECAP, Example 3)</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376" name="Google Shape;376;g394c25f66fd_0_473"/>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
        <p:nvSpPr>
          <p:cNvPr id="377" name="Google Shape;377;g394c25f66fd_0_473"/>
          <p:cNvSpPr/>
          <p:nvPr/>
        </p:nvSpPr>
        <p:spPr>
          <a:xfrm>
            <a:off x="407400" y="2095500"/>
            <a:ext cx="4986000" cy="4311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sp>
        <p:nvSpPr>
          <p:cNvPr id="378" name="Google Shape;378;g394c25f66fd_0_473"/>
          <p:cNvSpPr/>
          <p:nvPr/>
        </p:nvSpPr>
        <p:spPr>
          <a:xfrm>
            <a:off x="407400" y="3971250"/>
            <a:ext cx="3452100" cy="11202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sp>
        <p:nvSpPr>
          <p:cNvPr id="372" name="Google Shape;372;g394c25f66fd_0_473"/>
          <p:cNvSpPr txBox="1"/>
          <p:nvPr/>
        </p:nvSpPr>
        <p:spPr>
          <a:xfrm>
            <a:off x="7823325" y="3349850"/>
            <a:ext cx="3452100" cy="431100"/>
          </a:xfrm>
          <a:prstGeom prst="rect">
            <a:avLst/>
          </a:prstGeom>
          <a:solidFill>
            <a:srgbClr val="F4CCCC"/>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Print the user input to the console</a:t>
            </a:r>
            <a:endParaRPr b="0" i="0" sz="1600" u="none" cap="none" strike="noStrike">
              <a:solidFill>
                <a:srgbClr val="000000"/>
              </a:solidFill>
              <a:latin typeface="Arial"/>
              <a:ea typeface="Arial"/>
              <a:cs typeface="Arial"/>
              <a:sym typeface="Arial"/>
            </a:endParaRPr>
          </a:p>
        </p:txBody>
      </p:sp>
      <p:sp>
        <p:nvSpPr>
          <p:cNvPr id="379" name="Google Shape;379;g394c25f66fd_0_473"/>
          <p:cNvSpPr txBox="1"/>
          <p:nvPr/>
        </p:nvSpPr>
        <p:spPr>
          <a:xfrm>
            <a:off x="7823325" y="4296100"/>
            <a:ext cx="3747600" cy="431100"/>
          </a:xfrm>
          <a:prstGeom prst="rect">
            <a:avLst/>
          </a:prstGeom>
          <a:solidFill>
            <a:srgbClr val="F9CB9C"/>
          </a:solidFill>
          <a:ln cap="flat" cmpd="sng" w="952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Save the user input to the MongoDB</a:t>
            </a:r>
            <a:endParaRPr b="0" i="0" sz="1600" u="none" cap="none" strike="noStrike">
              <a:solidFill>
                <a:srgbClr val="000000"/>
              </a:solidFill>
              <a:latin typeface="Arial"/>
              <a:ea typeface="Arial"/>
              <a:cs typeface="Arial"/>
              <a:sym typeface="Arial"/>
            </a:endParaRPr>
          </a:p>
        </p:txBody>
      </p:sp>
      <p:cxnSp>
        <p:nvCxnSpPr>
          <p:cNvPr id="380" name="Google Shape;380;g394c25f66fd_0_473"/>
          <p:cNvCxnSpPr>
            <a:stCxn id="379" idx="1"/>
            <a:endCxn id="378" idx="3"/>
          </p:cNvCxnSpPr>
          <p:nvPr/>
        </p:nvCxnSpPr>
        <p:spPr>
          <a:xfrm flipH="1">
            <a:off x="3859425" y="4511650"/>
            <a:ext cx="3963900" cy="19800"/>
          </a:xfrm>
          <a:prstGeom prst="straightConnector1">
            <a:avLst/>
          </a:prstGeom>
          <a:noFill/>
          <a:ln cap="flat" cmpd="sng" w="19050">
            <a:solidFill>
              <a:srgbClr val="FF9900"/>
            </a:solidFill>
            <a:prstDash val="solid"/>
            <a:round/>
            <a:headEnd len="sm" w="sm" type="none"/>
            <a:tailEnd len="med" w="med" type="triangle"/>
          </a:ln>
        </p:spPr>
      </p:cxnSp>
      <p:cxnSp>
        <p:nvCxnSpPr>
          <p:cNvPr id="381" name="Google Shape;381;g394c25f66fd_0_473"/>
          <p:cNvCxnSpPr/>
          <p:nvPr/>
        </p:nvCxnSpPr>
        <p:spPr>
          <a:xfrm rot="10800000">
            <a:off x="5393400" y="2167525"/>
            <a:ext cx="2361900" cy="0"/>
          </a:xfrm>
          <a:prstGeom prst="straightConnector1">
            <a:avLst/>
          </a:prstGeom>
          <a:noFill/>
          <a:ln cap="flat" cmpd="sng" w="19050">
            <a:solidFill>
              <a:srgbClr val="0000FF"/>
            </a:solidFill>
            <a:prstDash val="solid"/>
            <a:round/>
            <a:headEnd len="sm" w="sm" type="none"/>
            <a:tailEnd len="med" w="med" type="triangle"/>
          </a:ln>
        </p:spPr>
      </p:cxnSp>
      <p:sp>
        <p:nvSpPr>
          <p:cNvPr id="382" name="Google Shape;382;g394c25f66fd_0_473"/>
          <p:cNvSpPr txBox="1"/>
          <p:nvPr/>
        </p:nvSpPr>
        <p:spPr>
          <a:xfrm>
            <a:off x="2517750" y="5985350"/>
            <a:ext cx="2735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Roboto Mono"/>
                <a:ea typeface="Roboto Mono"/>
                <a:cs typeface="Roboto Mono"/>
                <a:sym typeface="Roboto Mono"/>
              </a:rPr>
              <a:t>messages-controller.ejs</a:t>
            </a:r>
            <a:endParaRPr b="1" i="0" sz="1400" u="sng" cap="none" strike="noStrike">
              <a:solidFill>
                <a:srgbClr val="000000"/>
              </a:solidFill>
              <a:latin typeface="Roboto Mono"/>
              <a:ea typeface="Roboto Mono"/>
              <a:cs typeface="Roboto Mono"/>
              <a:sym typeface="Roboto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44e8dc70ee_0_3"/>
          <p:cNvSpPr txBox="1"/>
          <p:nvPr/>
        </p:nvSpPr>
        <p:spPr>
          <a:xfrm>
            <a:off x="217750" y="1497450"/>
            <a:ext cx="11694600" cy="6111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Sessions </a:t>
            </a:r>
            <a:r>
              <a:rPr b="0" i="0" lang="en-US" sz="1600" u="none" cap="none" strike="noStrike">
                <a:solidFill>
                  <a:schemeClr val="dk1"/>
                </a:solidFill>
                <a:latin typeface="Arial"/>
                <a:ea typeface="Arial"/>
                <a:cs typeface="Arial"/>
                <a:sym typeface="Arial"/>
              </a:rPr>
              <a:t>can be used to keep the user logged in state throughout multiple request response cycles.</a:t>
            </a:r>
            <a:endParaRPr b="0" i="0" sz="1600" u="none" cap="none" strike="noStrike">
              <a:solidFill>
                <a:schemeClr val="dk1"/>
              </a:solidFill>
              <a:latin typeface="Arial"/>
              <a:ea typeface="Arial"/>
              <a:cs typeface="Arial"/>
              <a:sym typeface="Arial"/>
            </a:endParaRPr>
          </a:p>
        </p:txBody>
      </p:sp>
      <p:sp>
        <p:nvSpPr>
          <p:cNvPr id="388" name="Google Shape;388;g344e8dc70ee_0_3"/>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Revisiting Sessions</a:t>
            </a:r>
            <a:endParaRPr b="1" i="0" sz="2400" u="none" cap="none" strike="noStrike">
              <a:solidFill>
                <a:srgbClr val="11175E"/>
              </a:solidFill>
              <a:latin typeface="Arial"/>
              <a:ea typeface="Arial"/>
              <a:cs typeface="Arial"/>
              <a:sym typeface="Arial"/>
            </a:endParaRPr>
          </a:p>
        </p:txBody>
      </p:sp>
      <p:sp>
        <p:nvSpPr>
          <p:cNvPr id="389" name="Google Shape;389;g344e8dc70ee_0_3"/>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
        <p:nvSpPr>
          <p:cNvPr id="390" name="Google Shape;390;g344e8dc70ee_0_3"/>
          <p:cNvSpPr/>
          <p:nvPr/>
        </p:nvSpPr>
        <p:spPr>
          <a:xfrm>
            <a:off x="1241100" y="1988550"/>
            <a:ext cx="9709800" cy="4630800"/>
          </a:xfrm>
          <a:prstGeom prst="rect">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344e8dc70ee_0_3"/>
          <p:cNvSpPr/>
          <p:nvPr/>
        </p:nvSpPr>
        <p:spPr>
          <a:xfrm>
            <a:off x="1965388" y="2621300"/>
            <a:ext cx="434400" cy="37734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g344e8dc70ee_0_3"/>
          <p:cNvSpPr/>
          <p:nvPr/>
        </p:nvSpPr>
        <p:spPr>
          <a:xfrm>
            <a:off x="8008563" y="2621300"/>
            <a:ext cx="434400" cy="37734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93" name="Google Shape;393;g344e8dc70ee_0_3"/>
          <p:cNvCxnSpPr/>
          <p:nvPr/>
        </p:nvCxnSpPr>
        <p:spPr>
          <a:xfrm flipH="1" rot="10800000">
            <a:off x="2335463" y="3143300"/>
            <a:ext cx="5760600" cy="11400"/>
          </a:xfrm>
          <a:prstGeom prst="straightConnector1">
            <a:avLst/>
          </a:prstGeom>
          <a:noFill/>
          <a:ln cap="flat" cmpd="sng" w="9525">
            <a:solidFill>
              <a:schemeClr val="dk2"/>
            </a:solidFill>
            <a:prstDash val="solid"/>
            <a:round/>
            <a:headEnd len="sm" w="sm" type="none"/>
            <a:tailEnd len="med" w="med" type="triangle"/>
          </a:ln>
        </p:spPr>
      </p:cxnSp>
      <p:sp>
        <p:nvSpPr>
          <p:cNvPr id="394" name="Google Shape;394;g344e8dc70ee_0_3"/>
          <p:cNvSpPr txBox="1"/>
          <p:nvPr/>
        </p:nvSpPr>
        <p:spPr>
          <a:xfrm>
            <a:off x="3723288" y="2733325"/>
            <a:ext cx="3038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request 1 :login with username, password</a:t>
            </a:r>
            <a:endParaRPr b="0" i="0" sz="1200" u="none" cap="none" strike="noStrike">
              <a:solidFill>
                <a:schemeClr val="dk1"/>
              </a:solidFill>
              <a:latin typeface="Arial"/>
              <a:ea typeface="Arial"/>
              <a:cs typeface="Arial"/>
              <a:sym typeface="Arial"/>
            </a:endParaRPr>
          </a:p>
        </p:txBody>
      </p:sp>
      <p:sp>
        <p:nvSpPr>
          <p:cNvPr id="395" name="Google Shape;395;g344e8dc70ee_0_3"/>
          <p:cNvSpPr txBox="1"/>
          <p:nvPr/>
        </p:nvSpPr>
        <p:spPr>
          <a:xfrm>
            <a:off x="8442977" y="3154700"/>
            <a:ext cx="2362200" cy="9234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Login successful</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create a session</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store username</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return session-id</a:t>
            </a:r>
            <a:endParaRPr b="0" i="0" sz="1200" u="none" cap="none" strike="noStrike">
              <a:solidFill>
                <a:schemeClr val="dk1"/>
              </a:solidFill>
              <a:latin typeface="Arial"/>
              <a:ea typeface="Arial"/>
              <a:cs typeface="Arial"/>
              <a:sym typeface="Arial"/>
            </a:endParaRPr>
          </a:p>
        </p:txBody>
      </p:sp>
      <p:cxnSp>
        <p:nvCxnSpPr>
          <p:cNvPr id="396" name="Google Shape;396;g344e8dc70ee_0_3"/>
          <p:cNvCxnSpPr/>
          <p:nvPr/>
        </p:nvCxnSpPr>
        <p:spPr>
          <a:xfrm flipH="1">
            <a:off x="2324138" y="4145313"/>
            <a:ext cx="5760600" cy="3900"/>
          </a:xfrm>
          <a:prstGeom prst="straightConnector1">
            <a:avLst/>
          </a:prstGeom>
          <a:noFill/>
          <a:ln cap="flat" cmpd="sng" w="9525">
            <a:solidFill>
              <a:schemeClr val="dk2"/>
            </a:solidFill>
            <a:prstDash val="solid"/>
            <a:round/>
            <a:headEnd len="sm" w="sm" type="none"/>
            <a:tailEnd len="med" w="med" type="triangle"/>
          </a:ln>
        </p:spPr>
      </p:cxnSp>
      <p:sp>
        <p:nvSpPr>
          <p:cNvPr id="397" name="Google Shape;397;g344e8dc70ee_0_3"/>
          <p:cNvSpPr txBox="1"/>
          <p:nvPr/>
        </p:nvSpPr>
        <p:spPr>
          <a:xfrm>
            <a:off x="3694788" y="3727400"/>
            <a:ext cx="3095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response 1 :set a cookie with session-id</a:t>
            </a:r>
            <a:endParaRPr b="0" i="0" sz="1200" u="none" cap="none" strike="noStrike">
              <a:solidFill>
                <a:schemeClr val="dk1"/>
              </a:solidFill>
              <a:latin typeface="Arial"/>
              <a:ea typeface="Arial"/>
              <a:cs typeface="Arial"/>
              <a:sym typeface="Arial"/>
            </a:endParaRPr>
          </a:p>
        </p:txBody>
      </p:sp>
      <p:cxnSp>
        <p:nvCxnSpPr>
          <p:cNvPr id="398" name="Google Shape;398;g344e8dc70ee_0_3"/>
          <p:cNvCxnSpPr/>
          <p:nvPr/>
        </p:nvCxnSpPr>
        <p:spPr>
          <a:xfrm flipH="1" rot="10800000">
            <a:off x="2312588" y="5124600"/>
            <a:ext cx="5778000" cy="7500"/>
          </a:xfrm>
          <a:prstGeom prst="straightConnector1">
            <a:avLst/>
          </a:prstGeom>
          <a:noFill/>
          <a:ln cap="flat" cmpd="sng" w="9525">
            <a:solidFill>
              <a:schemeClr val="dk2"/>
            </a:solidFill>
            <a:prstDash val="solid"/>
            <a:round/>
            <a:headEnd len="sm" w="sm" type="none"/>
            <a:tailEnd len="med" w="med" type="triangle"/>
          </a:ln>
        </p:spPr>
      </p:cxnSp>
      <p:sp>
        <p:nvSpPr>
          <p:cNvPr id="399" name="Google Shape;399;g344e8dc70ee_0_3"/>
          <p:cNvSpPr txBox="1"/>
          <p:nvPr/>
        </p:nvSpPr>
        <p:spPr>
          <a:xfrm>
            <a:off x="3694788" y="4669413"/>
            <a:ext cx="3095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request 2 : with the session-id cookie</a:t>
            </a:r>
            <a:endParaRPr b="0" i="0" sz="1200" u="none" cap="none" strike="noStrike">
              <a:solidFill>
                <a:schemeClr val="dk1"/>
              </a:solidFill>
              <a:latin typeface="Arial"/>
              <a:ea typeface="Arial"/>
              <a:cs typeface="Arial"/>
              <a:sym typeface="Arial"/>
            </a:endParaRPr>
          </a:p>
        </p:txBody>
      </p:sp>
      <p:sp>
        <p:nvSpPr>
          <p:cNvPr id="400" name="Google Shape;400;g344e8dc70ee_0_3"/>
          <p:cNvSpPr txBox="1"/>
          <p:nvPr/>
        </p:nvSpPr>
        <p:spPr>
          <a:xfrm>
            <a:off x="8442963" y="5038725"/>
            <a:ext cx="2362200" cy="9234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Find the session with session-id</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check session validity</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check session has a username set</a:t>
            </a:r>
            <a:endParaRPr b="0" i="0" sz="1200" u="none" cap="none" strike="noStrike">
              <a:solidFill>
                <a:schemeClr val="dk1"/>
              </a:solidFill>
              <a:latin typeface="Arial"/>
              <a:ea typeface="Arial"/>
              <a:cs typeface="Arial"/>
              <a:sym typeface="Arial"/>
            </a:endParaRPr>
          </a:p>
        </p:txBody>
      </p:sp>
      <p:cxnSp>
        <p:nvCxnSpPr>
          <p:cNvPr id="401" name="Google Shape;401;g344e8dc70ee_0_3"/>
          <p:cNvCxnSpPr/>
          <p:nvPr/>
        </p:nvCxnSpPr>
        <p:spPr>
          <a:xfrm flipH="1">
            <a:off x="2285825" y="5876700"/>
            <a:ext cx="5821800" cy="1800"/>
          </a:xfrm>
          <a:prstGeom prst="straightConnector1">
            <a:avLst/>
          </a:prstGeom>
          <a:noFill/>
          <a:ln cap="flat" cmpd="sng" w="9525">
            <a:solidFill>
              <a:schemeClr val="dk2"/>
            </a:solidFill>
            <a:prstDash val="solid"/>
            <a:round/>
            <a:headEnd len="sm" w="sm" type="none"/>
            <a:tailEnd len="med" w="med" type="triangle"/>
          </a:ln>
        </p:spPr>
      </p:cxnSp>
      <p:sp>
        <p:nvSpPr>
          <p:cNvPr id="402" name="Google Shape;402;g344e8dc70ee_0_3"/>
          <p:cNvSpPr txBox="1"/>
          <p:nvPr/>
        </p:nvSpPr>
        <p:spPr>
          <a:xfrm>
            <a:off x="3884038" y="5517175"/>
            <a:ext cx="3095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response 2 :content for the matching user</a:t>
            </a:r>
            <a:endParaRPr b="0" i="0" sz="1200" u="none" cap="none" strike="noStrike">
              <a:solidFill>
                <a:schemeClr val="dk1"/>
              </a:solidFill>
              <a:latin typeface="Arial"/>
              <a:ea typeface="Arial"/>
              <a:cs typeface="Arial"/>
              <a:sym typeface="Arial"/>
            </a:endParaRPr>
          </a:p>
        </p:txBody>
      </p:sp>
      <p:sp>
        <p:nvSpPr>
          <p:cNvPr id="403" name="Google Shape;403;g344e8dc70ee_0_3"/>
          <p:cNvSpPr/>
          <p:nvPr/>
        </p:nvSpPr>
        <p:spPr>
          <a:xfrm>
            <a:off x="1965388" y="4480100"/>
            <a:ext cx="6477600" cy="1035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g344e8dc70ee_0_3"/>
          <p:cNvSpPr/>
          <p:nvPr/>
        </p:nvSpPr>
        <p:spPr>
          <a:xfrm>
            <a:off x="4392863" y="4366275"/>
            <a:ext cx="365742" cy="350676"/>
          </a:xfrm>
          <a:prstGeom prst="lightningBol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g344e8dc70ee_0_3"/>
          <p:cNvSpPr txBox="1"/>
          <p:nvPr/>
        </p:nvSpPr>
        <p:spPr>
          <a:xfrm>
            <a:off x="4196688" y="4166138"/>
            <a:ext cx="20916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HTTP is stateless</a:t>
            </a:r>
            <a:endParaRPr b="0" i="0" sz="1200" u="none" cap="none" strike="noStrike">
              <a:solidFill>
                <a:schemeClr val="dk1"/>
              </a:solidFill>
              <a:latin typeface="Arial"/>
              <a:ea typeface="Arial"/>
              <a:cs typeface="Arial"/>
              <a:sym typeface="Arial"/>
            </a:endParaRPr>
          </a:p>
        </p:txBody>
      </p:sp>
      <p:sp>
        <p:nvSpPr>
          <p:cNvPr id="406" name="Google Shape;406;g344e8dc70ee_0_3"/>
          <p:cNvSpPr txBox="1"/>
          <p:nvPr/>
        </p:nvSpPr>
        <p:spPr>
          <a:xfrm>
            <a:off x="1386838" y="2252000"/>
            <a:ext cx="15915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HTTP client</a:t>
            </a:r>
            <a:endParaRPr b="0" i="0" sz="1200" u="none" cap="none" strike="noStrike">
              <a:solidFill>
                <a:schemeClr val="dk1"/>
              </a:solidFill>
              <a:latin typeface="Arial"/>
              <a:ea typeface="Arial"/>
              <a:cs typeface="Arial"/>
              <a:sym typeface="Arial"/>
            </a:endParaRPr>
          </a:p>
        </p:txBody>
      </p:sp>
      <p:sp>
        <p:nvSpPr>
          <p:cNvPr id="407" name="Google Shape;407;g344e8dc70ee_0_3"/>
          <p:cNvSpPr txBox="1"/>
          <p:nvPr/>
        </p:nvSpPr>
        <p:spPr>
          <a:xfrm>
            <a:off x="7494813" y="2252000"/>
            <a:ext cx="14619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HTTP server</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394c25f66fd_0_520"/>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Implement User Registration</a:t>
            </a:r>
            <a:r>
              <a:rPr b="1" i="0" lang="en-US" sz="2400" u="none" cap="none" strike="noStrike">
                <a:solidFill>
                  <a:srgbClr val="11175E"/>
                </a:solidFill>
                <a:latin typeface="Arial"/>
                <a:ea typeface="Arial"/>
                <a:cs typeface="Arial"/>
                <a:sym typeface="Arial"/>
              </a:rPr>
              <a:t> (Exercise 2)</a:t>
            </a:r>
            <a:endParaRPr b="1" i="0" sz="2400" u="none" cap="none" strike="noStrike">
              <a:solidFill>
                <a:srgbClr val="11175E"/>
              </a:solidFill>
              <a:latin typeface="Arial"/>
              <a:ea typeface="Arial"/>
              <a:cs typeface="Arial"/>
              <a:sym typeface="Arial"/>
            </a:endParaRPr>
          </a:p>
        </p:txBody>
      </p:sp>
      <p:sp>
        <p:nvSpPr>
          <p:cNvPr id="413" name="Google Shape;413;g394c25f66fd_0_520"/>
          <p:cNvSpPr txBox="1"/>
          <p:nvPr/>
        </p:nvSpPr>
        <p:spPr>
          <a:xfrm>
            <a:off x="228725" y="1485900"/>
            <a:ext cx="11731500" cy="5372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rgbClr val="000000"/>
                </a:solidFill>
                <a:latin typeface="Arial"/>
                <a:ea typeface="Arial"/>
                <a:cs typeface="Arial"/>
                <a:sym typeface="Arial"/>
              </a:rPr>
              <a:t>Exercise 2 - Implementing User Registration</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In this exercise you’ll add the user registration feature to the website. If the registration is successful user should get redirected to login page. Otherwise user should get redirected back to registration page.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600" u="sng" cap="none" strike="noStrike">
                <a:solidFill>
                  <a:schemeClr val="dk1"/>
                </a:solidFill>
                <a:latin typeface="Arial"/>
                <a:ea typeface="Arial"/>
                <a:cs typeface="Arial"/>
                <a:sym typeface="Arial"/>
              </a:rPr>
              <a:t>Expected Browser Output</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414" name="Google Shape;414;g394c25f66fd_0_520"/>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pic>
        <p:nvPicPr>
          <p:cNvPr id="415" name="Google Shape;415;g394c25f66fd_0_520"/>
          <p:cNvPicPr preferRelativeResize="0"/>
          <p:nvPr/>
        </p:nvPicPr>
        <p:blipFill rotWithShape="1">
          <a:blip r:embed="rId3">
            <a:alphaModFix/>
          </a:blip>
          <a:srcRect b="0" l="0" r="0" t="0"/>
          <a:stretch/>
        </p:blipFill>
        <p:spPr>
          <a:xfrm>
            <a:off x="1202825" y="3319325"/>
            <a:ext cx="4130576" cy="3072610"/>
          </a:xfrm>
          <a:prstGeom prst="rect">
            <a:avLst/>
          </a:prstGeom>
          <a:noFill/>
          <a:ln cap="flat" cmpd="sng" w="9525">
            <a:solidFill>
              <a:srgbClr val="4A86E8"/>
            </a:solidFill>
            <a:prstDash val="solid"/>
            <a:round/>
            <a:headEnd len="sm" w="sm" type="none"/>
            <a:tailEnd len="sm" w="sm" type="none"/>
          </a:ln>
        </p:spPr>
      </p:pic>
      <p:pic>
        <p:nvPicPr>
          <p:cNvPr id="416" name="Google Shape;416;g394c25f66fd_0_520"/>
          <p:cNvPicPr preferRelativeResize="0"/>
          <p:nvPr/>
        </p:nvPicPr>
        <p:blipFill rotWithShape="1">
          <a:blip r:embed="rId4">
            <a:alphaModFix/>
          </a:blip>
          <a:srcRect b="0" l="0" r="0" t="0"/>
          <a:stretch/>
        </p:blipFill>
        <p:spPr>
          <a:xfrm>
            <a:off x="6510296" y="5280775"/>
            <a:ext cx="4130579" cy="1111150"/>
          </a:xfrm>
          <a:prstGeom prst="rect">
            <a:avLst/>
          </a:prstGeom>
          <a:noFill/>
          <a:ln cap="flat" cmpd="sng" w="9525">
            <a:solidFill>
              <a:srgbClr val="4A86E8"/>
            </a:solidFill>
            <a:prstDash val="solid"/>
            <a:round/>
            <a:headEnd len="sm" w="sm" type="none"/>
            <a:tailEnd len="sm" w="sm" type="none"/>
          </a:ln>
        </p:spPr>
      </p:pic>
      <p:cxnSp>
        <p:nvCxnSpPr>
          <p:cNvPr id="417" name="Google Shape;417;g394c25f66fd_0_520"/>
          <p:cNvCxnSpPr>
            <a:endCxn id="416" idx="1"/>
          </p:cNvCxnSpPr>
          <p:nvPr/>
        </p:nvCxnSpPr>
        <p:spPr>
          <a:xfrm flipH="1" rot="10800000">
            <a:off x="5344796" y="5836350"/>
            <a:ext cx="1165500" cy="4200"/>
          </a:xfrm>
          <a:prstGeom prst="straightConnector1">
            <a:avLst/>
          </a:prstGeom>
          <a:noFill/>
          <a:ln cap="flat" cmpd="sng" w="9525">
            <a:solidFill>
              <a:schemeClr val="dk2"/>
            </a:solidFill>
            <a:prstDash val="solid"/>
            <a:round/>
            <a:headEnd len="sm" w="sm" type="none"/>
            <a:tailEnd len="med" w="med" type="triangle"/>
          </a:ln>
        </p:spPr>
      </p:cxnSp>
      <p:pic>
        <p:nvPicPr>
          <p:cNvPr id="418" name="Google Shape;418;g394c25f66fd_0_520"/>
          <p:cNvPicPr preferRelativeResize="0"/>
          <p:nvPr/>
        </p:nvPicPr>
        <p:blipFill rotWithShape="1">
          <a:blip r:embed="rId3">
            <a:alphaModFix/>
          </a:blip>
          <a:srcRect b="0" l="0" r="0" t="0"/>
          <a:stretch/>
        </p:blipFill>
        <p:spPr>
          <a:xfrm>
            <a:off x="7174675" y="2746025"/>
            <a:ext cx="2801825" cy="2084199"/>
          </a:xfrm>
          <a:prstGeom prst="rect">
            <a:avLst/>
          </a:prstGeom>
          <a:noFill/>
          <a:ln cap="flat" cmpd="sng" w="9525">
            <a:solidFill>
              <a:srgbClr val="4A86E8"/>
            </a:solidFill>
            <a:prstDash val="solid"/>
            <a:round/>
            <a:headEnd len="sm" w="sm" type="none"/>
            <a:tailEnd len="sm" w="sm" type="none"/>
          </a:ln>
        </p:spPr>
      </p:pic>
      <p:cxnSp>
        <p:nvCxnSpPr>
          <p:cNvPr id="419" name="Google Shape;419;g394c25f66fd_0_520"/>
          <p:cNvCxnSpPr>
            <a:endCxn id="418" idx="1"/>
          </p:cNvCxnSpPr>
          <p:nvPr/>
        </p:nvCxnSpPr>
        <p:spPr>
          <a:xfrm flipH="1" rot="10800000">
            <a:off x="5325475" y="3788125"/>
            <a:ext cx="1849200" cy="14400"/>
          </a:xfrm>
          <a:prstGeom prst="straightConnector1">
            <a:avLst/>
          </a:prstGeom>
          <a:noFill/>
          <a:ln cap="flat" cmpd="sng" w="9525">
            <a:solidFill>
              <a:schemeClr val="dk2"/>
            </a:solidFill>
            <a:prstDash val="solid"/>
            <a:round/>
            <a:headEnd len="sm" w="sm" type="none"/>
            <a:tailEnd len="med" w="med" type="triangle"/>
          </a:ln>
        </p:spPr>
      </p:cxnSp>
      <p:sp>
        <p:nvSpPr>
          <p:cNvPr id="420" name="Google Shape;420;g394c25f66fd_0_520"/>
          <p:cNvSpPr txBox="1"/>
          <p:nvPr/>
        </p:nvSpPr>
        <p:spPr>
          <a:xfrm>
            <a:off x="5294775" y="5433075"/>
            <a:ext cx="116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Mono"/>
                <a:ea typeface="Roboto Mono"/>
                <a:cs typeface="Roboto Mono"/>
                <a:sym typeface="Roboto Mono"/>
              </a:rPr>
              <a:t>success</a:t>
            </a:r>
            <a:endParaRPr b="0" i="0" sz="1400" u="none" cap="none" strike="noStrike">
              <a:solidFill>
                <a:srgbClr val="000000"/>
              </a:solidFill>
              <a:latin typeface="Roboto Mono"/>
              <a:ea typeface="Roboto Mono"/>
              <a:cs typeface="Roboto Mono"/>
              <a:sym typeface="Roboto Mono"/>
            </a:endParaRPr>
          </a:p>
        </p:txBody>
      </p:sp>
      <p:sp>
        <p:nvSpPr>
          <p:cNvPr id="421" name="Google Shape;421;g394c25f66fd_0_520"/>
          <p:cNvSpPr txBox="1"/>
          <p:nvPr/>
        </p:nvSpPr>
        <p:spPr>
          <a:xfrm>
            <a:off x="5344800" y="3429000"/>
            <a:ext cx="14454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Mono"/>
                <a:ea typeface="Roboto Mono"/>
                <a:cs typeface="Roboto Mono"/>
                <a:sym typeface="Roboto Mono"/>
              </a:rPr>
              <a:t>failure</a:t>
            </a:r>
            <a:endParaRPr b="0" i="0" sz="1400" u="none" cap="none" strike="noStrike">
              <a:solidFill>
                <a:srgbClr val="000000"/>
              </a:solidFill>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394c25f66fd_0_529"/>
          <p:cNvSpPr/>
          <p:nvPr/>
        </p:nvSpPr>
        <p:spPr>
          <a:xfrm>
            <a:off x="228725"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Implement User Registration</a:t>
            </a:r>
            <a:r>
              <a:rPr b="1" i="0" lang="en-US" sz="2400" u="none" cap="none" strike="noStrike">
                <a:solidFill>
                  <a:srgbClr val="11175E"/>
                </a:solidFill>
                <a:latin typeface="Arial"/>
                <a:ea typeface="Arial"/>
                <a:cs typeface="Arial"/>
                <a:sym typeface="Arial"/>
              </a:rPr>
              <a:t> (Exercise 2)</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427" name="Google Shape;427;g394c25f66fd_0_529"/>
          <p:cNvSpPr txBox="1"/>
          <p:nvPr/>
        </p:nvSpPr>
        <p:spPr>
          <a:xfrm>
            <a:off x="228600" y="1485900"/>
            <a:ext cx="11731500" cy="5148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Exercise 2 - Implementing User Registration</a:t>
            </a:r>
            <a:endParaRPr b="1" i="0" sz="1600" u="sng"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Review the requirements below and follow the task instructions step by step to complete the exercise.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chemeClr val="dk1"/>
                </a:solidFill>
                <a:latin typeface="Arial"/>
                <a:ea typeface="Arial"/>
                <a:cs typeface="Arial"/>
                <a:sym typeface="Arial"/>
              </a:rPr>
              <a:t>Requirements: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Upon visiting the /register, the application should display a form to input the registration details.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After a successful registration user should get redirected to the /login.</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After a unsuccessful registration user should get redirected back to the /register</a:t>
            </a:r>
            <a:endParaRPr b="0" i="0" sz="1600" u="none" cap="none" strike="noStrike">
              <a:solidFill>
                <a:schemeClr val="dk1"/>
              </a:solidFill>
              <a:latin typeface="Arial"/>
              <a:ea typeface="Arial"/>
              <a:cs typeface="Arial"/>
              <a:sym typeface="Arial"/>
            </a:endParaRPr>
          </a:p>
        </p:txBody>
      </p:sp>
      <p:sp>
        <p:nvSpPr>
          <p:cNvPr id="428" name="Google Shape;428;g394c25f66fd_0_529"/>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94c25f66fd_0_535"/>
          <p:cNvSpPr/>
          <p:nvPr/>
        </p:nvSpPr>
        <p:spPr>
          <a:xfrm>
            <a:off x="228725"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Implement User Registration</a:t>
            </a:r>
            <a:r>
              <a:rPr b="1" i="0" lang="en-US" sz="2400" u="none" cap="none" strike="noStrike">
                <a:solidFill>
                  <a:srgbClr val="11175E"/>
                </a:solidFill>
                <a:latin typeface="Arial"/>
                <a:ea typeface="Arial"/>
                <a:cs typeface="Arial"/>
                <a:sym typeface="Arial"/>
              </a:rPr>
              <a:t> (Exercise 2)</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434" name="Google Shape;434;g394c25f66fd_0_535"/>
          <p:cNvSpPr txBox="1"/>
          <p:nvPr/>
        </p:nvSpPr>
        <p:spPr>
          <a:xfrm>
            <a:off x="228600" y="1485900"/>
            <a:ext cx="11731500" cy="5148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Exercise 2 - Implementing User Registration</a:t>
            </a:r>
            <a:endParaRPr b="1" i="0" sz="1600" u="sng"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chemeClr val="dk1"/>
                </a:solidFill>
                <a:latin typeface="Arial"/>
                <a:ea typeface="Arial"/>
                <a:cs typeface="Arial"/>
                <a:sym typeface="Arial"/>
              </a:rPr>
              <a:t>Tasks:</a:t>
            </a:r>
            <a:endParaRPr b="1" i="0" sz="1600" u="sng"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Start with your solution to the exercise 1.</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Update the </a:t>
            </a:r>
            <a:r>
              <a:rPr b="1" i="0" lang="en-US" sz="1400" u="none" cap="none" strike="noStrike">
                <a:solidFill>
                  <a:srgbClr val="0000FF"/>
                </a:solidFill>
                <a:latin typeface="Roboto Mono"/>
                <a:ea typeface="Roboto Mono"/>
                <a:cs typeface="Roboto Mono"/>
                <a:sym typeface="Roboto Mono"/>
              </a:rPr>
              <a:t>DB </a:t>
            </a:r>
            <a:r>
              <a:rPr b="0" i="0" lang="en-US" sz="1600" u="none" cap="none" strike="noStrike">
                <a:solidFill>
                  <a:schemeClr val="dk1"/>
                </a:solidFill>
                <a:latin typeface="Arial"/>
                <a:ea typeface="Arial"/>
                <a:cs typeface="Arial"/>
                <a:sym typeface="Arial"/>
              </a:rPr>
              <a:t>variable in </a:t>
            </a:r>
            <a:r>
              <a:rPr b="1" i="0" lang="en-US" sz="1400" u="none" cap="none" strike="noStrike">
                <a:solidFill>
                  <a:srgbClr val="0000FF"/>
                </a:solidFill>
                <a:latin typeface="Roboto Mono"/>
                <a:ea typeface="Roboto Mono"/>
                <a:cs typeface="Roboto Mono"/>
                <a:sym typeface="Roboto Mono"/>
              </a:rPr>
              <a:t>config.env</a:t>
            </a:r>
            <a:r>
              <a:rPr b="0" i="0" lang="en-US" sz="1600" u="none" cap="none" strike="noStrike">
                <a:solidFill>
                  <a:srgbClr val="0000FF"/>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file with your MongoDB String.</a:t>
            </a:r>
            <a:endParaRPr b="0" i="0" sz="16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rabicPeriod"/>
            </a:pPr>
            <a:r>
              <a:rPr b="0" i="0" lang="en-US" sz="1600" u="none" cap="none" strike="noStrike">
                <a:solidFill>
                  <a:schemeClr val="dk1"/>
                </a:solidFill>
                <a:latin typeface="Arial"/>
                <a:ea typeface="Arial"/>
                <a:cs typeface="Arial"/>
                <a:sym typeface="Arial"/>
              </a:rPr>
              <a:t>Install missing dependencies (if any) from package.json.</a:t>
            </a:r>
            <a:endParaRPr b="0" i="0" sz="16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npm install</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In the provided </a:t>
            </a:r>
            <a:r>
              <a:rPr b="1" i="0" lang="en-US" sz="1400" u="none" cap="none" strike="noStrike">
                <a:solidFill>
                  <a:srgbClr val="0000FF"/>
                </a:solidFill>
                <a:latin typeface="Roboto Mono"/>
                <a:ea typeface="Roboto Mono"/>
                <a:cs typeface="Roboto Mono"/>
                <a:sym typeface="Roboto Mono"/>
              </a:rPr>
              <a:t>user-controllers.js</a:t>
            </a:r>
            <a:r>
              <a:rPr b="0" i="0" lang="en-US" sz="1600" u="none" cap="none" strike="noStrike">
                <a:solidFill>
                  <a:schemeClr val="dk1"/>
                </a:solidFill>
                <a:latin typeface="Arial"/>
                <a:ea typeface="Arial"/>
                <a:cs typeface="Arial"/>
                <a:sym typeface="Arial"/>
              </a:rPr>
              <a:t> file to:</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Modify the </a:t>
            </a:r>
            <a:r>
              <a:rPr b="1" i="0" lang="en-US" sz="1400" u="none" cap="none" strike="noStrike">
                <a:solidFill>
                  <a:srgbClr val="0000FF"/>
                </a:solidFill>
                <a:latin typeface="Roboto Mono"/>
                <a:ea typeface="Roboto Mono"/>
                <a:cs typeface="Roboto Mono"/>
                <a:sym typeface="Roboto Mono"/>
              </a:rPr>
              <a:t>registerGet </a:t>
            </a:r>
            <a:r>
              <a:rPr b="0" i="0" lang="en-US" sz="1600" u="none" cap="none" strike="noStrike">
                <a:solidFill>
                  <a:schemeClr val="dk1"/>
                </a:solidFill>
                <a:latin typeface="Arial"/>
                <a:ea typeface="Arial"/>
                <a:cs typeface="Arial"/>
                <a:sym typeface="Arial"/>
              </a:rPr>
              <a:t>to render the </a:t>
            </a:r>
            <a:r>
              <a:rPr b="1" i="0" lang="en-US" sz="1400" u="none" cap="none" strike="noStrike">
                <a:solidFill>
                  <a:srgbClr val="0000FF"/>
                </a:solidFill>
                <a:latin typeface="Roboto Mono"/>
                <a:ea typeface="Roboto Mono"/>
                <a:cs typeface="Roboto Mono"/>
                <a:sym typeface="Roboto Mono"/>
              </a:rPr>
              <a:t>register.ejs.</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Modify the </a:t>
            </a:r>
            <a:r>
              <a:rPr b="1" i="0" lang="en-US" sz="1400" u="none" cap="none" strike="noStrike">
                <a:solidFill>
                  <a:srgbClr val="0000FF"/>
                </a:solidFill>
                <a:latin typeface="Roboto Mono"/>
                <a:ea typeface="Roboto Mono"/>
                <a:cs typeface="Roboto Mono"/>
                <a:sym typeface="Roboto Mono"/>
              </a:rPr>
              <a:t>registerPost </a:t>
            </a:r>
            <a:r>
              <a:rPr b="0" i="0" lang="en-US" sz="1600" u="none" cap="none" strike="noStrike">
                <a:solidFill>
                  <a:schemeClr val="dk1"/>
                </a:solidFill>
                <a:latin typeface="Arial"/>
                <a:ea typeface="Arial"/>
                <a:cs typeface="Arial"/>
                <a:sym typeface="Arial"/>
              </a:rPr>
              <a:t>to,</a:t>
            </a:r>
            <a:endParaRPr b="0" i="0" sz="1600" u="none" cap="none" strike="noStrike">
              <a:solidFill>
                <a:schemeClr val="dk1"/>
              </a:solidFill>
              <a:latin typeface="Arial"/>
              <a:ea typeface="Arial"/>
              <a:cs typeface="Arial"/>
              <a:sym typeface="Arial"/>
            </a:endParaRPr>
          </a:p>
          <a:p>
            <a:pPr indent="-330200" lvl="2" marL="13716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Create a new </a:t>
            </a:r>
            <a:r>
              <a:rPr b="1" i="0" lang="en-US" sz="1400" u="none" cap="none" strike="noStrike">
                <a:solidFill>
                  <a:srgbClr val="0000FF"/>
                </a:solidFill>
                <a:latin typeface="Roboto Mono"/>
                <a:ea typeface="Roboto Mono"/>
                <a:cs typeface="Roboto Mono"/>
                <a:sym typeface="Roboto Mono"/>
              </a:rPr>
              <a:t>User</a:t>
            </a:r>
            <a:r>
              <a:rPr b="0" i="0" lang="en-US" sz="1600" u="none" cap="none" strike="noStrike">
                <a:solidFill>
                  <a:schemeClr val="dk1"/>
                </a:solidFill>
                <a:latin typeface="Arial"/>
                <a:ea typeface="Arial"/>
                <a:cs typeface="Arial"/>
                <a:sym typeface="Arial"/>
              </a:rPr>
              <a:t> object.</a:t>
            </a:r>
            <a:endParaRPr b="0" i="0" sz="1600" u="none" cap="none" strike="noStrike">
              <a:solidFill>
                <a:schemeClr val="dk1"/>
              </a:solidFill>
              <a:latin typeface="Arial"/>
              <a:ea typeface="Arial"/>
              <a:cs typeface="Arial"/>
              <a:sym typeface="Arial"/>
            </a:endParaRPr>
          </a:p>
          <a:p>
            <a:pPr indent="-330200" lvl="2" marL="13716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Save the user to MongoDB.</a:t>
            </a:r>
            <a:endParaRPr b="0" i="0" sz="1600" u="none" cap="none" strike="noStrike">
              <a:solidFill>
                <a:schemeClr val="dk1"/>
              </a:solidFill>
              <a:latin typeface="Arial"/>
              <a:ea typeface="Arial"/>
              <a:cs typeface="Arial"/>
              <a:sym typeface="Arial"/>
            </a:endParaRPr>
          </a:p>
          <a:p>
            <a:pPr indent="-330200" lvl="2" marL="13716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If above steps are successful, redirect the user to /login.</a:t>
            </a:r>
            <a:endParaRPr b="0" i="0" sz="1600" u="none" cap="none" strike="noStrike">
              <a:solidFill>
                <a:schemeClr val="dk1"/>
              </a:solidFill>
              <a:latin typeface="Arial"/>
              <a:ea typeface="Arial"/>
              <a:cs typeface="Arial"/>
              <a:sym typeface="Arial"/>
            </a:endParaRPr>
          </a:p>
          <a:p>
            <a:pPr indent="-330200" lvl="2" marL="13716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If above steps are unsuccessful, redirect the user to /register.</a:t>
            </a:r>
            <a:endParaRPr b="0" i="0" sz="1600" u="none" cap="none" strike="noStrike">
              <a:solidFill>
                <a:schemeClr val="dk1"/>
              </a:solidFill>
              <a:latin typeface="Arial"/>
              <a:ea typeface="Arial"/>
              <a:cs typeface="Arial"/>
              <a:sym typeface="Arial"/>
            </a:endParaRPr>
          </a:p>
        </p:txBody>
      </p:sp>
      <p:sp>
        <p:nvSpPr>
          <p:cNvPr id="435" name="Google Shape;435;g394c25f66fd_0_535"/>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94c25f66fd_0_584"/>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Implement User Login - Authentication</a:t>
            </a:r>
            <a:r>
              <a:rPr b="1" i="0" lang="en-US" sz="2400" u="none" cap="none" strike="noStrike">
                <a:solidFill>
                  <a:srgbClr val="11175E"/>
                </a:solidFill>
                <a:latin typeface="Arial"/>
                <a:ea typeface="Arial"/>
                <a:cs typeface="Arial"/>
                <a:sym typeface="Arial"/>
              </a:rPr>
              <a:t> (Exercise 3)</a:t>
            </a:r>
            <a:endParaRPr b="1" i="0" sz="2400" u="none" cap="none" strike="noStrike">
              <a:solidFill>
                <a:srgbClr val="11175E"/>
              </a:solidFill>
              <a:latin typeface="Arial"/>
              <a:ea typeface="Arial"/>
              <a:cs typeface="Arial"/>
              <a:sym typeface="Arial"/>
            </a:endParaRPr>
          </a:p>
        </p:txBody>
      </p:sp>
      <p:sp>
        <p:nvSpPr>
          <p:cNvPr id="441" name="Google Shape;441;g394c25f66fd_0_584"/>
          <p:cNvSpPr txBox="1"/>
          <p:nvPr/>
        </p:nvSpPr>
        <p:spPr>
          <a:xfrm>
            <a:off x="228725" y="1485900"/>
            <a:ext cx="11731500" cy="5372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rgbClr val="000000"/>
                </a:solidFill>
                <a:latin typeface="Arial"/>
                <a:ea typeface="Arial"/>
                <a:cs typeface="Arial"/>
                <a:sym typeface="Arial"/>
              </a:rPr>
              <a:t>Exercise 3 - Implementing User Login</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In this exercise you’ll add the user login feature to the website. If the login is successful user should get redirected to profile page. Otherwise user should get redirected back to login page.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600" u="sng" cap="none" strike="noStrike">
                <a:solidFill>
                  <a:schemeClr val="dk1"/>
                </a:solidFill>
                <a:latin typeface="Arial"/>
                <a:ea typeface="Arial"/>
                <a:cs typeface="Arial"/>
                <a:sym typeface="Arial"/>
              </a:rPr>
              <a:t>Expected Browser Output</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442" name="Google Shape;442;g394c25f66fd_0_584"/>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pic>
        <p:nvPicPr>
          <p:cNvPr id="443" name="Google Shape;443;g394c25f66fd_0_584"/>
          <p:cNvPicPr preferRelativeResize="0"/>
          <p:nvPr/>
        </p:nvPicPr>
        <p:blipFill rotWithShape="1">
          <a:blip r:embed="rId3">
            <a:alphaModFix/>
          </a:blip>
          <a:srcRect b="0" l="0" r="0" t="0"/>
          <a:stretch/>
        </p:blipFill>
        <p:spPr>
          <a:xfrm>
            <a:off x="6510296" y="5280775"/>
            <a:ext cx="4130579" cy="1111150"/>
          </a:xfrm>
          <a:prstGeom prst="rect">
            <a:avLst/>
          </a:prstGeom>
          <a:noFill/>
          <a:ln cap="flat" cmpd="sng" w="9525">
            <a:solidFill>
              <a:srgbClr val="4A86E8"/>
            </a:solidFill>
            <a:prstDash val="solid"/>
            <a:round/>
            <a:headEnd len="sm" w="sm" type="none"/>
            <a:tailEnd len="sm" w="sm" type="none"/>
          </a:ln>
        </p:spPr>
      </p:pic>
      <p:cxnSp>
        <p:nvCxnSpPr>
          <p:cNvPr id="444" name="Google Shape;444;g394c25f66fd_0_584"/>
          <p:cNvCxnSpPr>
            <a:endCxn id="443" idx="1"/>
          </p:cNvCxnSpPr>
          <p:nvPr/>
        </p:nvCxnSpPr>
        <p:spPr>
          <a:xfrm flipH="1" rot="10800000">
            <a:off x="5344796" y="5836350"/>
            <a:ext cx="1165500" cy="4200"/>
          </a:xfrm>
          <a:prstGeom prst="straightConnector1">
            <a:avLst/>
          </a:prstGeom>
          <a:noFill/>
          <a:ln cap="flat" cmpd="sng" w="9525">
            <a:solidFill>
              <a:schemeClr val="dk2"/>
            </a:solidFill>
            <a:prstDash val="solid"/>
            <a:round/>
            <a:headEnd len="sm" w="sm" type="none"/>
            <a:tailEnd len="med" w="med" type="triangle"/>
          </a:ln>
        </p:spPr>
      </p:cxnSp>
      <p:pic>
        <p:nvPicPr>
          <p:cNvPr id="445" name="Google Shape;445;g394c25f66fd_0_584"/>
          <p:cNvPicPr preferRelativeResize="0"/>
          <p:nvPr/>
        </p:nvPicPr>
        <p:blipFill rotWithShape="1">
          <a:blip r:embed="rId4">
            <a:alphaModFix/>
          </a:blip>
          <a:srcRect b="0" l="0" r="0" t="0"/>
          <a:stretch/>
        </p:blipFill>
        <p:spPr>
          <a:xfrm>
            <a:off x="7174675" y="2746025"/>
            <a:ext cx="2801825" cy="2084199"/>
          </a:xfrm>
          <a:prstGeom prst="rect">
            <a:avLst/>
          </a:prstGeom>
          <a:noFill/>
          <a:ln cap="flat" cmpd="sng" w="9525">
            <a:solidFill>
              <a:srgbClr val="4A86E8"/>
            </a:solidFill>
            <a:prstDash val="solid"/>
            <a:round/>
            <a:headEnd len="sm" w="sm" type="none"/>
            <a:tailEnd len="sm" w="sm" type="none"/>
          </a:ln>
        </p:spPr>
      </p:pic>
      <p:cxnSp>
        <p:nvCxnSpPr>
          <p:cNvPr id="446" name="Google Shape;446;g394c25f66fd_0_584"/>
          <p:cNvCxnSpPr>
            <a:endCxn id="445" idx="1"/>
          </p:cNvCxnSpPr>
          <p:nvPr/>
        </p:nvCxnSpPr>
        <p:spPr>
          <a:xfrm flipH="1" rot="10800000">
            <a:off x="5325475" y="3788125"/>
            <a:ext cx="1849200" cy="14400"/>
          </a:xfrm>
          <a:prstGeom prst="straightConnector1">
            <a:avLst/>
          </a:prstGeom>
          <a:noFill/>
          <a:ln cap="flat" cmpd="sng" w="9525">
            <a:solidFill>
              <a:schemeClr val="dk2"/>
            </a:solidFill>
            <a:prstDash val="solid"/>
            <a:round/>
            <a:headEnd len="sm" w="sm" type="none"/>
            <a:tailEnd len="med" w="med" type="triangle"/>
          </a:ln>
        </p:spPr>
      </p:cxnSp>
      <p:sp>
        <p:nvSpPr>
          <p:cNvPr id="447" name="Google Shape;447;g394c25f66fd_0_584"/>
          <p:cNvSpPr txBox="1"/>
          <p:nvPr/>
        </p:nvSpPr>
        <p:spPr>
          <a:xfrm>
            <a:off x="5294775" y="5433075"/>
            <a:ext cx="116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Mono"/>
                <a:ea typeface="Roboto Mono"/>
                <a:cs typeface="Roboto Mono"/>
                <a:sym typeface="Roboto Mono"/>
              </a:rPr>
              <a:t>success</a:t>
            </a:r>
            <a:endParaRPr b="0" i="0" sz="1400" u="none" cap="none" strike="noStrike">
              <a:solidFill>
                <a:srgbClr val="000000"/>
              </a:solidFill>
              <a:latin typeface="Roboto Mono"/>
              <a:ea typeface="Roboto Mono"/>
              <a:cs typeface="Roboto Mono"/>
              <a:sym typeface="Roboto Mono"/>
            </a:endParaRPr>
          </a:p>
        </p:txBody>
      </p:sp>
      <p:sp>
        <p:nvSpPr>
          <p:cNvPr id="448" name="Google Shape;448;g394c25f66fd_0_584"/>
          <p:cNvSpPr txBox="1"/>
          <p:nvPr/>
        </p:nvSpPr>
        <p:spPr>
          <a:xfrm>
            <a:off x="5344800" y="3429000"/>
            <a:ext cx="14454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Mono"/>
                <a:ea typeface="Roboto Mono"/>
                <a:cs typeface="Roboto Mono"/>
                <a:sym typeface="Roboto Mono"/>
              </a:rPr>
              <a:t>failure</a:t>
            </a:r>
            <a:endParaRPr b="0" i="0" sz="1400" u="none" cap="none" strike="noStrike">
              <a:solidFill>
                <a:srgbClr val="000000"/>
              </a:solidFill>
              <a:latin typeface="Roboto Mono"/>
              <a:ea typeface="Roboto Mono"/>
              <a:cs typeface="Roboto Mono"/>
              <a:sym typeface="Roboto Mono"/>
            </a:endParaRPr>
          </a:p>
        </p:txBody>
      </p:sp>
      <p:pic>
        <p:nvPicPr>
          <p:cNvPr id="449" name="Google Shape;449;g394c25f66fd_0_584"/>
          <p:cNvPicPr preferRelativeResize="0"/>
          <p:nvPr/>
        </p:nvPicPr>
        <p:blipFill rotWithShape="1">
          <a:blip r:embed="rId5">
            <a:alphaModFix/>
          </a:blip>
          <a:srcRect b="0" l="0" r="0" t="0"/>
          <a:stretch/>
        </p:blipFill>
        <p:spPr>
          <a:xfrm>
            <a:off x="912250" y="3191325"/>
            <a:ext cx="4413226" cy="3156050"/>
          </a:xfrm>
          <a:prstGeom prst="rect">
            <a:avLst/>
          </a:prstGeom>
          <a:noFill/>
          <a:ln cap="flat" cmpd="sng" w="9525">
            <a:solidFill>
              <a:srgbClr val="4A86E8"/>
            </a:solidFill>
            <a:prstDash val="solid"/>
            <a:round/>
            <a:headEnd len="sm" w="sm" type="none"/>
            <a:tailEnd len="sm" w="sm" type="none"/>
          </a:ln>
        </p:spPr>
      </p:pic>
      <p:pic>
        <p:nvPicPr>
          <p:cNvPr id="450" name="Google Shape;450;g394c25f66fd_0_584"/>
          <p:cNvPicPr preferRelativeResize="0"/>
          <p:nvPr/>
        </p:nvPicPr>
        <p:blipFill rotWithShape="1">
          <a:blip r:embed="rId6">
            <a:alphaModFix/>
          </a:blip>
          <a:srcRect b="0" l="0" r="0" t="0"/>
          <a:stretch/>
        </p:blipFill>
        <p:spPr>
          <a:xfrm>
            <a:off x="6510307" y="5280775"/>
            <a:ext cx="4308792" cy="1111150"/>
          </a:xfrm>
          <a:prstGeom prst="rect">
            <a:avLst/>
          </a:prstGeom>
          <a:noFill/>
          <a:ln cap="flat" cmpd="sng" w="9525">
            <a:solidFill>
              <a:srgbClr val="4A86E8"/>
            </a:solidFill>
            <a:prstDash val="solid"/>
            <a:round/>
            <a:headEnd len="sm" w="sm" type="none"/>
            <a:tailEnd len="sm" w="sm" type="none"/>
          </a:ln>
        </p:spPr>
      </p:pic>
      <p:pic>
        <p:nvPicPr>
          <p:cNvPr id="451" name="Google Shape;451;g394c25f66fd_0_584"/>
          <p:cNvPicPr preferRelativeResize="0"/>
          <p:nvPr/>
        </p:nvPicPr>
        <p:blipFill rotWithShape="1">
          <a:blip r:embed="rId5">
            <a:alphaModFix/>
          </a:blip>
          <a:srcRect b="0" l="0" r="0" t="0"/>
          <a:stretch/>
        </p:blipFill>
        <p:spPr>
          <a:xfrm>
            <a:off x="7174675" y="2746025"/>
            <a:ext cx="2914427" cy="2084201"/>
          </a:xfrm>
          <a:prstGeom prst="rect">
            <a:avLst/>
          </a:prstGeom>
          <a:noFill/>
          <a:ln cap="flat" cmpd="sng" w="9525">
            <a:solidFill>
              <a:srgbClr val="4A86E8"/>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394c25f66fd_0_597"/>
          <p:cNvSpPr/>
          <p:nvPr/>
        </p:nvSpPr>
        <p:spPr>
          <a:xfrm>
            <a:off x="228725"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Implement User Login - Authentication</a:t>
            </a:r>
            <a:r>
              <a:rPr b="1" i="0" lang="en-US" sz="2400" u="none" cap="none" strike="noStrike">
                <a:solidFill>
                  <a:srgbClr val="11175E"/>
                </a:solidFill>
                <a:latin typeface="Arial"/>
                <a:ea typeface="Arial"/>
                <a:cs typeface="Arial"/>
                <a:sym typeface="Arial"/>
              </a:rPr>
              <a:t> (Exercise 3)</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457" name="Google Shape;457;g394c25f66fd_0_597"/>
          <p:cNvSpPr txBox="1"/>
          <p:nvPr/>
        </p:nvSpPr>
        <p:spPr>
          <a:xfrm>
            <a:off x="228600" y="1485900"/>
            <a:ext cx="11731500" cy="5148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Exercise 3 - Implementing User Login</a:t>
            </a:r>
            <a:endParaRPr b="1" i="0" sz="1600" u="sng"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Review the requirements below and follow the task instructions step by step to complete the exercise.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chemeClr val="dk1"/>
                </a:solidFill>
                <a:latin typeface="Arial"/>
                <a:ea typeface="Arial"/>
                <a:cs typeface="Arial"/>
                <a:sym typeface="Arial"/>
              </a:rPr>
              <a:t>Requirements: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Upon visiting the /login, the application should display a form to input the login details.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After a successful login user should get redirected to the /profile.</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After a unsuccessful login user should get redirected back to the /login.</a:t>
            </a:r>
            <a:endParaRPr b="0" i="0" sz="1600" u="none" cap="none" strike="noStrike">
              <a:solidFill>
                <a:schemeClr val="dk1"/>
              </a:solidFill>
              <a:latin typeface="Arial"/>
              <a:ea typeface="Arial"/>
              <a:cs typeface="Arial"/>
              <a:sym typeface="Arial"/>
            </a:endParaRPr>
          </a:p>
        </p:txBody>
      </p:sp>
      <p:sp>
        <p:nvSpPr>
          <p:cNvPr id="458" name="Google Shape;458;g394c25f66fd_0_597"/>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g394c25f66fd_0_603"/>
          <p:cNvSpPr/>
          <p:nvPr/>
        </p:nvSpPr>
        <p:spPr>
          <a:xfrm>
            <a:off x="228725"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Implement User Login - Authentication</a:t>
            </a:r>
            <a:r>
              <a:rPr b="1" i="0" lang="en-US" sz="2400" u="none" cap="none" strike="noStrike">
                <a:solidFill>
                  <a:srgbClr val="11175E"/>
                </a:solidFill>
                <a:latin typeface="Arial"/>
                <a:ea typeface="Arial"/>
                <a:cs typeface="Arial"/>
                <a:sym typeface="Arial"/>
              </a:rPr>
              <a:t> (Exercise 3)</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464" name="Google Shape;464;g394c25f66fd_0_603"/>
          <p:cNvSpPr txBox="1"/>
          <p:nvPr/>
        </p:nvSpPr>
        <p:spPr>
          <a:xfrm>
            <a:off x="228600" y="1485900"/>
            <a:ext cx="11731500" cy="5148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Exercise 3 - Implementing User Login</a:t>
            </a:r>
            <a:endParaRPr b="1" i="0" sz="1600" u="sng"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chemeClr val="dk1"/>
                </a:solidFill>
                <a:latin typeface="Arial"/>
                <a:ea typeface="Arial"/>
                <a:cs typeface="Arial"/>
                <a:sym typeface="Arial"/>
              </a:rPr>
              <a:t>Tasks:</a:t>
            </a:r>
            <a:endParaRPr b="1" i="0" sz="1600" u="sng"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Start with your solution to the exercise 2.</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Add an line to the </a:t>
            </a:r>
            <a:r>
              <a:rPr b="1" i="0" lang="en-US" sz="1400" u="none" cap="none" strike="noStrike">
                <a:solidFill>
                  <a:srgbClr val="0000FF"/>
                </a:solidFill>
                <a:latin typeface="Roboto Mono"/>
                <a:ea typeface="Roboto Mono"/>
                <a:cs typeface="Roboto Mono"/>
                <a:sym typeface="Roboto Mono"/>
              </a:rPr>
              <a:t>config.env</a:t>
            </a:r>
            <a:r>
              <a:rPr b="0" i="0" lang="en-US" sz="1600" u="none" cap="none" strike="noStrike">
                <a:solidFill>
                  <a:srgbClr val="0000FF"/>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file with your </a:t>
            </a:r>
            <a:r>
              <a:rPr b="1" i="0" lang="en-US" sz="1400" u="none" cap="none" strike="noStrike">
                <a:solidFill>
                  <a:srgbClr val="0000FF"/>
                </a:solidFill>
                <a:latin typeface="Roboto Mono"/>
                <a:ea typeface="Roboto Mono"/>
                <a:cs typeface="Roboto Mono"/>
                <a:sym typeface="Roboto Mono"/>
              </a:rPr>
              <a:t>DB </a:t>
            </a:r>
            <a:r>
              <a:rPr b="0" i="0" lang="en-US" sz="1600" u="none" cap="none" strike="noStrike">
                <a:solidFill>
                  <a:schemeClr val="dk1"/>
                </a:solidFill>
                <a:latin typeface="Arial"/>
                <a:ea typeface="Arial"/>
                <a:cs typeface="Arial"/>
                <a:sym typeface="Arial"/>
              </a:rPr>
              <a:t>string.</a:t>
            </a:r>
            <a:endParaRPr b="0" i="0" sz="16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rabicPeriod"/>
            </a:pPr>
            <a:r>
              <a:rPr b="0" i="0" lang="en-US" sz="1600" u="none" cap="none" strike="noStrike">
                <a:solidFill>
                  <a:schemeClr val="dk1"/>
                </a:solidFill>
                <a:latin typeface="Arial"/>
                <a:ea typeface="Arial"/>
                <a:cs typeface="Arial"/>
                <a:sym typeface="Arial"/>
              </a:rPr>
              <a:t>Install missing dependencies (if any) from package.json.</a:t>
            </a:r>
            <a:endParaRPr b="0" i="0" sz="16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npm install</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In the provided </a:t>
            </a:r>
            <a:r>
              <a:rPr b="1" i="0" lang="en-US" sz="1400" u="none" cap="none" strike="noStrike">
                <a:solidFill>
                  <a:srgbClr val="0000FF"/>
                </a:solidFill>
                <a:latin typeface="Roboto Mono"/>
                <a:ea typeface="Roboto Mono"/>
                <a:cs typeface="Roboto Mono"/>
                <a:sym typeface="Roboto Mono"/>
              </a:rPr>
              <a:t>user-controllers.js</a:t>
            </a:r>
            <a:r>
              <a:rPr b="0" i="0" lang="en-US" sz="1600" u="none" cap="none" strike="noStrike">
                <a:solidFill>
                  <a:schemeClr val="dk1"/>
                </a:solidFill>
                <a:latin typeface="Arial"/>
                <a:ea typeface="Arial"/>
                <a:cs typeface="Arial"/>
                <a:sym typeface="Arial"/>
              </a:rPr>
              <a:t> file to:</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Modify the </a:t>
            </a:r>
            <a:r>
              <a:rPr b="1" i="0" lang="en-US" sz="1400" u="none" cap="none" strike="noStrike">
                <a:solidFill>
                  <a:srgbClr val="0000FF"/>
                </a:solidFill>
                <a:latin typeface="Roboto Mono"/>
                <a:ea typeface="Roboto Mono"/>
                <a:cs typeface="Roboto Mono"/>
                <a:sym typeface="Roboto Mono"/>
              </a:rPr>
              <a:t>loginGet </a:t>
            </a:r>
            <a:r>
              <a:rPr b="0" i="0" lang="en-US" sz="1600" u="none" cap="none" strike="noStrike">
                <a:solidFill>
                  <a:schemeClr val="dk1"/>
                </a:solidFill>
                <a:latin typeface="Arial"/>
                <a:ea typeface="Arial"/>
                <a:cs typeface="Arial"/>
                <a:sym typeface="Arial"/>
              </a:rPr>
              <a:t>to render the </a:t>
            </a:r>
            <a:r>
              <a:rPr b="1" i="0" lang="en-US" sz="1400" u="none" cap="none" strike="noStrike">
                <a:solidFill>
                  <a:srgbClr val="0000FF"/>
                </a:solidFill>
                <a:latin typeface="Roboto Mono"/>
                <a:ea typeface="Roboto Mono"/>
                <a:cs typeface="Roboto Mono"/>
                <a:sym typeface="Roboto Mono"/>
              </a:rPr>
              <a:t>login.ejs</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Modify the </a:t>
            </a:r>
            <a:r>
              <a:rPr b="1" i="0" lang="en-US" sz="1400" u="none" cap="none" strike="noStrike">
                <a:solidFill>
                  <a:srgbClr val="0000FF"/>
                </a:solidFill>
                <a:latin typeface="Roboto Mono"/>
                <a:ea typeface="Roboto Mono"/>
                <a:cs typeface="Roboto Mono"/>
                <a:sym typeface="Roboto Mono"/>
              </a:rPr>
              <a:t>loginPost </a:t>
            </a:r>
            <a:r>
              <a:rPr b="0" i="0" lang="en-US" sz="1600" u="none" cap="none" strike="noStrike">
                <a:solidFill>
                  <a:schemeClr val="dk1"/>
                </a:solidFill>
                <a:latin typeface="Arial"/>
                <a:ea typeface="Arial"/>
                <a:cs typeface="Arial"/>
                <a:sym typeface="Arial"/>
              </a:rPr>
              <a:t>to,</a:t>
            </a:r>
            <a:endParaRPr b="0" i="0" sz="1600" u="none" cap="none" strike="noStrike">
              <a:solidFill>
                <a:schemeClr val="dk1"/>
              </a:solidFill>
              <a:latin typeface="Arial"/>
              <a:ea typeface="Arial"/>
              <a:cs typeface="Arial"/>
              <a:sym typeface="Arial"/>
            </a:endParaRPr>
          </a:p>
          <a:p>
            <a:pPr indent="-330200" lvl="2" marL="13716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Get the </a:t>
            </a:r>
            <a:r>
              <a:rPr b="1" i="0" lang="en-US" sz="1400" u="none" cap="none" strike="noStrike">
                <a:solidFill>
                  <a:srgbClr val="0000FF"/>
                </a:solidFill>
                <a:latin typeface="Roboto Mono"/>
                <a:ea typeface="Roboto Mono"/>
                <a:cs typeface="Roboto Mono"/>
                <a:sym typeface="Roboto Mono"/>
              </a:rPr>
              <a:t>User</a:t>
            </a:r>
            <a:r>
              <a:rPr b="0" i="0" lang="en-US" sz="1600" u="none" cap="none" strike="noStrike">
                <a:solidFill>
                  <a:schemeClr val="dk1"/>
                </a:solidFill>
                <a:latin typeface="Arial"/>
                <a:ea typeface="Arial"/>
                <a:cs typeface="Arial"/>
                <a:sym typeface="Arial"/>
              </a:rPr>
              <a:t> object (from the database) matching the submitted username.</a:t>
            </a:r>
            <a:endParaRPr b="0" i="0" sz="1600" u="none" cap="none" strike="noStrike">
              <a:solidFill>
                <a:schemeClr val="dk1"/>
              </a:solidFill>
              <a:latin typeface="Arial"/>
              <a:ea typeface="Arial"/>
              <a:cs typeface="Arial"/>
              <a:sym typeface="Arial"/>
            </a:endParaRPr>
          </a:p>
          <a:p>
            <a:pPr indent="-330200" lvl="2" marL="13716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If not found, redirect user back to /login.</a:t>
            </a:r>
            <a:endParaRPr b="0" i="0" sz="1600" u="none" cap="none" strike="noStrike">
              <a:solidFill>
                <a:schemeClr val="dk1"/>
              </a:solidFill>
              <a:latin typeface="Arial"/>
              <a:ea typeface="Arial"/>
              <a:cs typeface="Arial"/>
              <a:sym typeface="Arial"/>
            </a:endParaRPr>
          </a:p>
          <a:p>
            <a:pPr indent="-330200" lvl="2" marL="13716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If found, compare the entered password with the stored one.</a:t>
            </a:r>
            <a:endParaRPr b="0" i="0" sz="1600" u="none" cap="none" strike="noStrike">
              <a:solidFill>
                <a:schemeClr val="dk1"/>
              </a:solidFill>
              <a:latin typeface="Arial"/>
              <a:ea typeface="Arial"/>
              <a:cs typeface="Arial"/>
              <a:sym typeface="Arial"/>
            </a:endParaRPr>
          </a:p>
          <a:p>
            <a:pPr indent="-330200" lvl="3" marL="18288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If they don't match, redirect back to /login.</a:t>
            </a:r>
            <a:endParaRPr b="0" i="0" sz="1600" u="none" cap="none" strike="noStrike">
              <a:solidFill>
                <a:schemeClr val="dk1"/>
              </a:solidFill>
              <a:latin typeface="Arial"/>
              <a:ea typeface="Arial"/>
              <a:cs typeface="Arial"/>
              <a:sym typeface="Arial"/>
            </a:endParaRPr>
          </a:p>
          <a:p>
            <a:pPr indent="-330200" lvl="3" marL="18288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If they match, store the user's </a:t>
            </a:r>
            <a:r>
              <a:rPr b="1" i="0" lang="en-US" sz="1400" u="none" cap="none" strike="noStrike">
                <a:solidFill>
                  <a:srgbClr val="0000FF"/>
                </a:solidFill>
                <a:latin typeface="Roboto Mono"/>
                <a:ea typeface="Roboto Mono"/>
                <a:cs typeface="Roboto Mono"/>
                <a:sym typeface="Roboto Mono"/>
              </a:rPr>
              <a:t>id,</a:t>
            </a:r>
            <a:r>
              <a:rPr b="0" i="0" lang="en-US" sz="1400" u="none" cap="none" strike="noStrike">
                <a:solidFill>
                  <a:srgbClr val="0000FF"/>
                </a:solidFill>
                <a:latin typeface="Roboto Mono"/>
                <a:ea typeface="Roboto Mono"/>
                <a:cs typeface="Roboto Mono"/>
                <a:sym typeface="Roboto Mono"/>
              </a:rPr>
              <a:t> </a:t>
            </a:r>
            <a:r>
              <a:rPr b="1" i="0" lang="en-US" sz="1400" u="none" cap="none" strike="noStrike">
                <a:solidFill>
                  <a:srgbClr val="0000FF"/>
                </a:solidFill>
                <a:latin typeface="Roboto Mono"/>
                <a:ea typeface="Roboto Mono"/>
                <a:cs typeface="Roboto Mono"/>
                <a:sym typeface="Roboto Mono"/>
              </a:rPr>
              <a:t>username </a:t>
            </a:r>
            <a:r>
              <a:rPr b="0" i="0" lang="en-US" sz="1600" u="none" cap="none" strike="noStrike">
                <a:solidFill>
                  <a:schemeClr val="dk1"/>
                </a:solidFill>
                <a:latin typeface="Arial"/>
                <a:ea typeface="Arial"/>
                <a:cs typeface="Arial"/>
                <a:sym typeface="Arial"/>
              </a:rPr>
              <a:t>&amp;</a:t>
            </a:r>
            <a:r>
              <a:rPr b="1" i="0" lang="en-US" sz="1400" u="none" cap="none" strike="noStrike">
                <a:solidFill>
                  <a:srgbClr val="0000FF"/>
                </a:solidFill>
                <a:latin typeface="Roboto Mono"/>
                <a:ea typeface="Roboto Mono"/>
                <a:cs typeface="Roboto Mono"/>
                <a:sym typeface="Roboto Mono"/>
              </a:rPr>
              <a:t> role</a:t>
            </a:r>
            <a:r>
              <a:rPr b="0" i="0" lang="en-US" sz="1400" u="none" cap="none" strike="noStrike">
                <a:solidFill>
                  <a:srgbClr val="0000FF"/>
                </a:solidFill>
                <a:latin typeface="Roboto Mono"/>
                <a:ea typeface="Roboto Mono"/>
                <a:cs typeface="Roboto Mono"/>
                <a:sym typeface="Roboto Mono"/>
              </a:rPr>
              <a:t> </a:t>
            </a:r>
            <a:r>
              <a:rPr b="0" i="0" lang="en-US" sz="1600" u="none" cap="none" strike="noStrike">
                <a:solidFill>
                  <a:schemeClr val="dk1"/>
                </a:solidFill>
                <a:latin typeface="Arial"/>
                <a:ea typeface="Arial"/>
                <a:cs typeface="Arial"/>
                <a:sym typeface="Arial"/>
              </a:rPr>
              <a:t>in the session, then redirect to /profile.</a:t>
            </a:r>
            <a:endParaRPr b="0" i="0" sz="1600" u="none" cap="none" strike="noStrike">
              <a:solidFill>
                <a:schemeClr val="dk1"/>
              </a:solidFill>
              <a:latin typeface="Arial"/>
              <a:ea typeface="Arial"/>
              <a:cs typeface="Arial"/>
              <a:sym typeface="Arial"/>
            </a:endParaRPr>
          </a:p>
          <a:p>
            <a:pPr indent="-330200" lvl="2" marL="13716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If an error occurred, during any of the above operations, log the error and redirect user to /login.</a:t>
            </a:r>
            <a:endParaRPr b="0" i="0" sz="1600" u="none" cap="none" strike="noStrike">
              <a:solidFill>
                <a:schemeClr val="dk1"/>
              </a:solidFill>
              <a:latin typeface="Arial"/>
              <a:ea typeface="Arial"/>
              <a:cs typeface="Arial"/>
              <a:sym typeface="Arial"/>
            </a:endParaRPr>
          </a:p>
        </p:txBody>
      </p:sp>
      <p:sp>
        <p:nvSpPr>
          <p:cNvPr id="465" name="Google Shape;465;g394c25f66fd_0_603"/>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394c25f66fd_0_612"/>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Check for Objects in Session (Example 4)</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471" name="Google Shape;471;g394c25f66fd_0_612"/>
          <p:cNvSpPr txBox="1"/>
          <p:nvPr/>
        </p:nvSpPr>
        <p:spPr>
          <a:xfrm>
            <a:off x="228600" y="1497450"/>
            <a:ext cx="5814600" cy="51348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This example demonstrates how to check for objects stored in the session. We’ll use this for implementing authorization features later.</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From the provided resources folder, use the VS Code terminal to navigate to the </a:t>
            </a:r>
            <a:r>
              <a:rPr b="1" i="0" lang="en-US" sz="1600" u="none" cap="none" strike="noStrike">
                <a:solidFill>
                  <a:srgbClr val="0000FF"/>
                </a:solidFill>
                <a:latin typeface="Arial"/>
                <a:ea typeface="Arial"/>
                <a:cs typeface="Arial"/>
                <a:sym typeface="Arial"/>
              </a:rPr>
              <a:t>example4</a:t>
            </a:r>
            <a:r>
              <a:rPr b="0" i="0" lang="en-US" sz="1600" u="none" cap="none" strike="noStrike">
                <a:solidFill>
                  <a:srgbClr val="000000"/>
                </a:solidFill>
                <a:latin typeface="Arial"/>
                <a:ea typeface="Arial"/>
                <a:cs typeface="Arial"/>
                <a:sym typeface="Arial"/>
              </a:rPr>
              <a:t> directory.</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Install missing dependencies (if any) from package.json. </a:t>
            </a:r>
            <a:endParaRPr b="0" i="0" sz="1600" u="none" cap="none" strike="noStrike">
              <a:solidFill>
                <a:schemeClr val="dk1"/>
              </a:solidFill>
              <a:latin typeface="Arial"/>
              <a:ea typeface="Arial"/>
              <a:cs typeface="Arial"/>
              <a:sym typeface="Arial"/>
            </a:endParaRPr>
          </a:p>
          <a:p>
            <a:pPr indent="0" lvl="0" marL="914400" marR="0" rtl="0" algn="just">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npm install</a:t>
            </a:r>
            <a:endParaRPr b="0" i="0" sz="1600" u="none" cap="none" strike="noStrike">
              <a:solidFill>
                <a:srgbClr val="0000FF"/>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Enter the following command in the terminal to start the Express server:</a:t>
            </a:r>
            <a:endParaRPr b="0" i="0" sz="1600" u="none" cap="none" strike="noStrike">
              <a:solidFill>
                <a:srgbClr val="000000"/>
              </a:solidFill>
              <a:latin typeface="Arial"/>
              <a:ea typeface="Arial"/>
              <a:cs typeface="Arial"/>
              <a:sym typeface="Arial"/>
            </a:endParaRPr>
          </a:p>
          <a:p>
            <a:pPr indent="0" lvl="0" marL="914400" marR="0" rtl="0" algn="just">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nodemon server.js</a:t>
            </a:r>
            <a:endParaRPr b="0" i="0" sz="1600" u="none" cap="none" strike="noStrike">
              <a:solidFill>
                <a:srgbClr val="000000"/>
              </a:solidFill>
              <a:latin typeface="Arial"/>
              <a:ea typeface="Arial"/>
              <a:cs typeface="Arial"/>
              <a:sym typeface="Arial"/>
            </a:endParaRPr>
          </a:p>
          <a:p>
            <a:pPr indent="-317500" lvl="0" marL="457200" marR="0" rtl="0" algn="just">
              <a:lnSpc>
                <a:spcPct val="115000"/>
              </a:lnSpc>
              <a:spcBef>
                <a:spcPts val="0"/>
              </a:spcBef>
              <a:spcAft>
                <a:spcPts val="0"/>
              </a:spcAft>
              <a:buClr>
                <a:srgbClr val="000000"/>
              </a:buClr>
              <a:buSzPts val="1400"/>
              <a:buFont typeface="Arial"/>
              <a:buChar char="●"/>
            </a:pPr>
            <a:r>
              <a:rPr b="0" i="0" lang="en-US" sz="1600" u="none" cap="none" strike="noStrike">
                <a:solidFill>
                  <a:srgbClr val="000000"/>
                </a:solidFill>
                <a:latin typeface="Arial"/>
                <a:ea typeface="Arial"/>
                <a:cs typeface="Arial"/>
                <a:sym typeface="Arial"/>
              </a:rPr>
              <a:t>Next, open a browser (e.g., Chrome) and navigate to: </a:t>
            </a:r>
            <a:r>
              <a:rPr b="0" i="0" lang="en-US" sz="1400" u="sng" cap="none" strike="noStrike">
                <a:solidFill>
                  <a:srgbClr val="0000FF"/>
                </a:solidFill>
                <a:latin typeface="Roboto Mono"/>
                <a:ea typeface="Roboto Mono"/>
                <a:cs typeface="Roboto Mono"/>
                <a:sym typeface="Roboto Mono"/>
                <a:hlinkClick r:id="rId3">
                  <a:extLst>
                    <a:ext uri="{A12FA001-AC4F-418D-AE19-62706E023703}">
                      <ahyp:hlinkClr val="tx"/>
                    </a:ext>
                  </a:extLst>
                </a:hlinkClick>
              </a:rPr>
              <a:t>http://localhost:8000/</a:t>
            </a:r>
            <a:r>
              <a:rPr b="0" i="0" lang="en-US" sz="1600" u="none" cap="none" strike="noStrike">
                <a:solidFill>
                  <a:srgbClr val="000000"/>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The page will display output similar to the Figure 1. And terminal will display output similar to the Figure 2.</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2" name="Google Shape;472;g394c25f66fd_0_612"/>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pic>
        <p:nvPicPr>
          <p:cNvPr id="473" name="Google Shape;473;g394c25f66fd_0_612"/>
          <p:cNvPicPr preferRelativeResize="0"/>
          <p:nvPr/>
        </p:nvPicPr>
        <p:blipFill rotWithShape="1">
          <a:blip r:embed="rId4">
            <a:alphaModFix/>
          </a:blip>
          <a:srcRect b="0" l="0" r="0" t="0"/>
          <a:stretch/>
        </p:blipFill>
        <p:spPr>
          <a:xfrm>
            <a:off x="6948613" y="1621850"/>
            <a:ext cx="4516450" cy="1534550"/>
          </a:xfrm>
          <a:prstGeom prst="rect">
            <a:avLst/>
          </a:prstGeom>
          <a:noFill/>
          <a:ln cap="flat" cmpd="sng" w="9525">
            <a:solidFill>
              <a:srgbClr val="4A86E8"/>
            </a:solidFill>
            <a:prstDash val="solid"/>
            <a:round/>
            <a:headEnd len="sm" w="sm" type="none"/>
            <a:tailEnd len="sm" w="sm" type="none"/>
          </a:ln>
        </p:spPr>
      </p:pic>
      <p:pic>
        <p:nvPicPr>
          <p:cNvPr id="474" name="Google Shape;474;g394c25f66fd_0_612"/>
          <p:cNvPicPr preferRelativeResize="0"/>
          <p:nvPr/>
        </p:nvPicPr>
        <p:blipFill rotWithShape="1">
          <a:blip r:embed="rId5">
            <a:alphaModFix/>
          </a:blip>
          <a:srcRect b="0" l="0" r="0" t="0"/>
          <a:stretch/>
        </p:blipFill>
        <p:spPr>
          <a:xfrm>
            <a:off x="6513712" y="4251175"/>
            <a:ext cx="5386275" cy="1242975"/>
          </a:xfrm>
          <a:prstGeom prst="rect">
            <a:avLst/>
          </a:prstGeom>
          <a:noFill/>
          <a:ln cap="flat" cmpd="sng" w="9525">
            <a:solidFill>
              <a:srgbClr val="4A86E8"/>
            </a:solidFill>
            <a:prstDash val="solid"/>
            <a:round/>
            <a:headEnd len="sm" w="sm" type="none"/>
            <a:tailEnd len="sm" w="sm" type="none"/>
          </a:ln>
        </p:spPr>
      </p:pic>
      <p:sp>
        <p:nvSpPr>
          <p:cNvPr id="475" name="Google Shape;475;g394c25f66fd_0_612"/>
          <p:cNvSpPr txBox="1"/>
          <p:nvPr/>
        </p:nvSpPr>
        <p:spPr>
          <a:xfrm>
            <a:off x="8716488" y="3275775"/>
            <a:ext cx="980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Arial"/>
                <a:ea typeface="Arial"/>
                <a:cs typeface="Arial"/>
                <a:sym typeface="Arial"/>
              </a:rPr>
              <a:t>Figure 1</a:t>
            </a:r>
            <a:endParaRPr b="1" i="0" sz="1400" u="sng" cap="none" strike="noStrike">
              <a:solidFill>
                <a:srgbClr val="000000"/>
              </a:solidFill>
              <a:latin typeface="Arial"/>
              <a:ea typeface="Arial"/>
              <a:cs typeface="Arial"/>
              <a:sym typeface="Arial"/>
            </a:endParaRPr>
          </a:p>
        </p:txBody>
      </p:sp>
      <p:sp>
        <p:nvSpPr>
          <p:cNvPr id="476" name="Google Shape;476;g394c25f66fd_0_612"/>
          <p:cNvSpPr txBox="1"/>
          <p:nvPr/>
        </p:nvSpPr>
        <p:spPr>
          <a:xfrm>
            <a:off x="8716488" y="5637675"/>
            <a:ext cx="980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Arial"/>
                <a:ea typeface="Arial"/>
                <a:cs typeface="Arial"/>
                <a:sym typeface="Arial"/>
              </a:rPr>
              <a:t>Figure 2</a:t>
            </a:r>
            <a:endParaRPr b="1" i="0" sz="1400" u="sng"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94c25f66fd_0_620"/>
          <p:cNvSpPr txBox="1"/>
          <p:nvPr/>
        </p:nvSpPr>
        <p:spPr>
          <a:xfrm>
            <a:off x="228600" y="1556975"/>
            <a:ext cx="7314000" cy="23619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server.get('/', (req, res) =&gt; {</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   if (!req.session.visit_count) {</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       console.log("This is the first visit to this page");</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   ...</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p:txBody>
      </p:sp>
      <p:sp>
        <p:nvSpPr>
          <p:cNvPr id="482" name="Google Shape;482;g394c25f66fd_0_620"/>
          <p:cNvSpPr/>
          <p:nvPr/>
        </p:nvSpPr>
        <p:spPr>
          <a:xfrm>
            <a:off x="548700" y="2180600"/>
            <a:ext cx="3535200" cy="4311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sp>
        <p:nvSpPr>
          <p:cNvPr id="483" name="Google Shape;483;g394c25f66fd_0_620"/>
          <p:cNvSpPr txBox="1"/>
          <p:nvPr/>
        </p:nvSpPr>
        <p:spPr>
          <a:xfrm>
            <a:off x="7803925" y="2180600"/>
            <a:ext cx="3452100" cy="431100"/>
          </a:xfrm>
          <a:prstGeom prst="rect">
            <a:avLst/>
          </a:prstGeom>
          <a:solidFill>
            <a:srgbClr val="9FC5E8"/>
          </a:solid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Check for the objects in the session</a:t>
            </a:r>
            <a:endParaRPr b="0" i="0" sz="1600" u="none" cap="none" strike="noStrike">
              <a:solidFill>
                <a:srgbClr val="000000"/>
              </a:solidFill>
              <a:latin typeface="Arial"/>
              <a:ea typeface="Arial"/>
              <a:cs typeface="Arial"/>
              <a:sym typeface="Arial"/>
            </a:endParaRPr>
          </a:p>
        </p:txBody>
      </p:sp>
      <p:sp>
        <p:nvSpPr>
          <p:cNvPr id="484" name="Google Shape;484;g394c25f66fd_0_620"/>
          <p:cNvSpPr txBox="1"/>
          <p:nvPr/>
        </p:nvSpPr>
        <p:spPr>
          <a:xfrm>
            <a:off x="3237000" y="4094450"/>
            <a:ext cx="1297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Roboto Mono"/>
                <a:ea typeface="Roboto Mono"/>
                <a:cs typeface="Roboto Mono"/>
                <a:sym typeface="Roboto Mono"/>
              </a:rPr>
              <a:t>server.js</a:t>
            </a:r>
            <a:endParaRPr b="1" i="0" sz="1400" u="sng" cap="none" strike="noStrike">
              <a:solidFill>
                <a:srgbClr val="000000"/>
              </a:solidFill>
              <a:latin typeface="Roboto Mono"/>
              <a:ea typeface="Roboto Mono"/>
              <a:cs typeface="Roboto Mono"/>
              <a:sym typeface="Roboto Mono"/>
            </a:endParaRPr>
          </a:p>
        </p:txBody>
      </p:sp>
      <p:sp>
        <p:nvSpPr>
          <p:cNvPr id="485" name="Google Shape;485;g394c25f66fd_0_620"/>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Check for Objects in Session (Example 4)</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486" name="Google Shape;486;g394c25f66fd_0_620"/>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cxnSp>
        <p:nvCxnSpPr>
          <p:cNvPr id="487" name="Google Shape;487;g394c25f66fd_0_620"/>
          <p:cNvCxnSpPr>
            <a:stCxn id="483" idx="1"/>
            <a:endCxn id="482" idx="3"/>
          </p:cNvCxnSpPr>
          <p:nvPr/>
        </p:nvCxnSpPr>
        <p:spPr>
          <a:xfrm rot="10800000">
            <a:off x="4083925" y="2396150"/>
            <a:ext cx="3720000" cy="0"/>
          </a:xfrm>
          <a:prstGeom prst="straightConnector1">
            <a:avLst/>
          </a:prstGeom>
          <a:noFill/>
          <a:ln cap="flat" cmpd="sng" w="19050">
            <a:solidFill>
              <a:srgbClr val="0000FF"/>
            </a:solidFill>
            <a:prstDash val="solid"/>
            <a:round/>
            <a:headEnd len="sm" w="sm"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94c25f66fd_0_639"/>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Protect Access to User Profile - Authorization</a:t>
            </a:r>
            <a:r>
              <a:rPr b="1" i="0" lang="en-US" sz="2400" u="none" cap="none" strike="noStrike">
                <a:solidFill>
                  <a:srgbClr val="11175E"/>
                </a:solidFill>
                <a:latin typeface="Arial"/>
                <a:ea typeface="Arial"/>
                <a:cs typeface="Arial"/>
                <a:sym typeface="Arial"/>
              </a:rPr>
              <a:t> (Exercise 4)</a:t>
            </a:r>
            <a:endParaRPr b="1" i="0" sz="2400" u="none" cap="none" strike="noStrike">
              <a:solidFill>
                <a:schemeClr val="dk1"/>
              </a:solidFill>
              <a:latin typeface="Arial"/>
              <a:ea typeface="Arial"/>
              <a:cs typeface="Arial"/>
              <a:sym typeface="Arial"/>
            </a:endParaRPr>
          </a:p>
        </p:txBody>
      </p:sp>
      <p:sp>
        <p:nvSpPr>
          <p:cNvPr id="493" name="Google Shape;493;g394c25f66fd_0_639"/>
          <p:cNvSpPr txBox="1"/>
          <p:nvPr/>
        </p:nvSpPr>
        <p:spPr>
          <a:xfrm>
            <a:off x="228725" y="1485900"/>
            <a:ext cx="11731500" cy="5372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Exercise 4 - Protect the Access to User Profile</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In this exercise you’ll allow the access to profile page only for logged in users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600" u="sng" cap="none" strike="noStrike">
                <a:solidFill>
                  <a:schemeClr val="dk1"/>
                </a:solidFill>
                <a:latin typeface="Arial"/>
                <a:ea typeface="Arial"/>
                <a:cs typeface="Arial"/>
                <a:sym typeface="Arial"/>
              </a:rPr>
              <a:t>Expected Browser Output</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494" name="Google Shape;494;g394c25f66fd_0_639"/>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cxnSp>
        <p:nvCxnSpPr>
          <p:cNvPr id="495" name="Google Shape;495;g394c25f66fd_0_639"/>
          <p:cNvCxnSpPr>
            <a:stCxn id="496" idx="3"/>
          </p:cNvCxnSpPr>
          <p:nvPr/>
        </p:nvCxnSpPr>
        <p:spPr>
          <a:xfrm>
            <a:off x="4668275" y="4658675"/>
            <a:ext cx="2506500" cy="1074900"/>
          </a:xfrm>
          <a:prstGeom prst="straightConnector1">
            <a:avLst/>
          </a:prstGeom>
          <a:noFill/>
          <a:ln cap="flat" cmpd="sng" w="9525">
            <a:solidFill>
              <a:schemeClr val="dk2"/>
            </a:solidFill>
            <a:prstDash val="solid"/>
            <a:round/>
            <a:headEnd len="sm" w="sm" type="none"/>
            <a:tailEnd len="med" w="med" type="triangle"/>
          </a:ln>
        </p:spPr>
      </p:cxnSp>
      <p:cxnSp>
        <p:nvCxnSpPr>
          <p:cNvPr id="497" name="Google Shape;497;g394c25f66fd_0_639"/>
          <p:cNvCxnSpPr>
            <a:stCxn id="496" idx="3"/>
          </p:cNvCxnSpPr>
          <p:nvPr/>
        </p:nvCxnSpPr>
        <p:spPr>
          <a:xfrm flipH="1" rot="10800000">
            <a:off x="4668275" y="3788075"/>
            <a:ext cx="2506500" cy="870600"/>
          </a:xfrm>
          <a:prstGeom prst="straightConnector1">
            <a:avLst/>
          </a:prstGeom>
          <a:noFill/>
          <a:ln cap="flat" cmpd="sng" w="9525">
            <a:solidFill>
              <a:schemeClr val="dk2"/>
            </a:solidFill>
            <a:prstDash val="solid"/>
            <a:round/>
            <a:headEnd len="sm" w="sm" type="none"/>
            <a:tailEnd len="med" w="med" type="triangle"/>
          </a:ln>
        </p:spPr>
      </p:cxnSp>
      <p:sp>
        <p:nvSpPr>
          <p:cNvPr id="498" name="Google Shape;498;g394c25f66fd_0_639"/>
          <p:cNvSpPr txBox="1"/>
          <p:nvPr/>
        </p:nvSpPr>
        <p:spPr>
          <a:xfrm>
            <a:off x="5338775" y="5268175"/>
            <a:ext cx="11655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Mono"/>
                <a:ea typeface="Roboto Mono"/>
                <a:cs typeface="Roboto Mono"/>
                <a:sym typeface="Roboto Mono"/>
              </a:rPr>
              <a:t>User is logged in</a:t>
            </a:r>
            <a:endParaRPr b="0" i="0" sz="1400" u="none" cap="none" strike="noStrike">
              <a:solidFill>
                <a:srgbClr val="000000"/>
              </a:solidFill>
              <a:latin typeface="Roboto Mono"/>
              <a:ea typeface="Roboto Mono"/>
              <a:cs typeface="Roboto Mono"/>
              <a:sym typeface="Roboto Mono"/>
            </a:endParaRPr>
          </a:p>
        </p:txBody>
      </p:sp>
      <p:sp>
        <p:nvSpPr>
          <p:cNvPr id="499" name="Google Shape;499;g394c25f66fd_0_639"/>
          <p:cNvSpPr txBox="1"/>
          <p:nvPr/>
        </p:nvSpPr>
        <p:spPr>
          <a:xfrm>
            <a:off x="5198825" y="3225300"/>
            <a:ext cx="14454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Mono"/>
                <a:ea typeface="Roboto Mono"/>
                <a:cs typeface="Roboto Mono"/>
                <a:sym typeface="Roboto Mono"/>
              </a:rPr>
              <a:t>user is not logged in</a:t>
            </a:r>
            <a:endParaRPr b="0" i="0" sz="1400" u="none" cap="none" strike="noStrike">
              <a:solidFill>
                <a:srgbClr val="000000"/>
              </a:solidFill>
              <a:latin typeface="Roboto Mono"/>
              <a:ea typeface="Roboto Mono"/>
              <a:cs typeface="Roboto Mono"/>
              <a:sym typeface="Roboto Mono"/>
            </a:endParaRPr>
          </a:p>
        </p:txBody>
      </p:sp>
      <p:pic>
        <p:nvPicPr>
          <p:cNvPr id="500" name="Google Shape;500;g394c25f66fd_0_639"/>
          <p:cNvPicPr preferRelativeResize="0"/>
          <p:nvPr/>
        </p:nvPicPr>
        <p:blipFill rotWithShape="1">
          <a:blip r:embed="rId3">
            <a:alphaModFix/>
          </a:blip>
          <a:srcRect b="0" l="0" r="0" t="0"/>
          <a:stretch/>
        </p:blipFill>
        <p:spPr>
          <a:xfrm>
            <a:off x="7174675" y="2532625"/>
            <a:ext cx="2914427" cy="2084201"/>
          </a:xfrm>
          <a:prstGeom prst="rect">
            <a:avLst/>
          </a:prstGeom>
          <a:noFill/>
          <a:ln cap="flat" cmpd="sng" w="9525">
            <a:solidFill>
              <a:srgbClr val="4A86E8"/>
            </a:solidFill>
            <a:prstDash val="solid"/>
            <a:round/>
            <a:headEnd len="sm" w="sm" type="none"/>
            <a:tailEnd len="sm" w="sm" type="none"/>
          </a:ln>
        </p:spPr>
      </p:pic>
      <p:pic>
        <p:nvPicPr>
          <p:cNvPr id="496" name="Google Shape;496;g394c25f66fd_0_639"/>
          <p:cNvPicPr preferRelativeResize="0"/>
          <p:nvPr/>
        </p:nvPicPr>
        <p:blipFill rotWithShape="1">
          <a:blip r:embed="rId4">
            <a:alphaModFix/>
          </a:blip>
          <a:srcRect b="64575" l="0" r="0" t="0"/>
          <a:stretch/>
        </p:blipFill>
        <p:spPr>
          <a:xfrm>
            <a:off x="755150" y="4389675"/>
            <a:ext cx="3913125" cy="538000"/>
          </a:xfrm>
          <a:prstGeom prst="rect">
            <a:avLst/>
          </a:prstGeom>
          <a:noFill/>
          <a:ln cap="flat" cmpd="sng" w="9525">
            <a:solidFill>
              <a:srgbClr val="4A86E8"/>
            </a:solidFill>
            <a:prstDash val="solid"/>
            <a:round/>
            <a:headEnd len="sm" w="sm" type="none"/>
            <a:tailEnd len="sm" w="sm" type="none"/>
          </a:ln>
        </p:spPr>
      </p:pic>
      <p:pic>
        <p:nvPicPr>
          <p:cNvPr id="501" name="Google Shape;501;g394c25f66fd_0_639"/>
          <p:cNvPicPr preferRelativeResize="0"/>
          <p:nvPr/>
        </p:nvPicPr>
        <p:blipFill rotWithShape="1">
          <a:blip r:embed="rId5">
            <a:alphaModFix/>
          </a:blip>
          <a:srcRect b="0" l="0" r="0" t="0"/>
          <a:stretch/>
        </p:blipFill>
        <p:spPr>
          <a:xfrm>
            <a:off x="7174675" y="5132375"/>
            <a:ext cx="2914424" cy="1177666"/>
          </a:xfrm>
          <a:prstGeom prst="rect">
            <a:avLst/>
          </a:prstGeom>
          <a:noFill/>
          <a:ln cap="flat" cmpd="sng" w="9525">
            <a:solidFill>
              <a:srgbClr val="4A86E8"/>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94c25f66fd_0_654"/>
          <p:cNvSpPr/>
          <p:nvPr/>
        </p:nvSpPr>
        <p:spPr>
          <a:xfrm>
            <a:off x="228725"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Protect Access to User Profile - Authorization</a:t>
            </a:r>
            <a:r>
              <a:rPr b="1" i="0" lang="en-US" sz="2400" u="none" cap="none" strike="noStrike">
                <a:solidFill>
                  <a:srgbClr val="11175E"/>
                </a:solidFill>
                <a:latin typeface="Arial"/>
                <a:ea typeface="Arial"/>
                <a:cs typeface="Arial"/>
                <a:sym typeface="Arial"/>
              </a:rPr>
              <a:t> (Exercise 4)</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507" name="Google Shape;507;g394c25f66fd_0_654"/>
          <p:cNvSpPr txBox="1"/>
          <p:nvPr/>
        </p:nvSpPr>
        <p:spPr>
          <a:xfrm>
            <a:off x="228600" y="1485900"/>
            <a:ext cx="11731500" cy="5148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Exercise 4 - Protect the Access to User Profile</a:t>
            </a:r>
            <a:endParaRPr b="1" i="0" sz="1600" u="sng"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Review the requirements below and follow the task instructions step by step to complete the exercise.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chemeClr val="dk1"/>
                </a:solidFill>
                <a:latin typeface="Arial"/>
                <a:ea typeface="Arial"/>
                <a:cs typeface="Arial"/>
                <a:sym typeface="Arial"/>
              </a:rPr>
              <a:t>Requirements: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Upon visiting the /profile, the application should display profile details only to the logged in users.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For the user is not logged in, it should redirect them to the login page.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600" u="sng" cap="none" strike="noStrike">
                <a:solidFill>
                  <a:schemeClr val="dk1"/>
                </a:solidFill>
                <a:latin typeface="Arial"/>
                <a:ea typeface="Arial"/>
                <a:cs typeface="Arial"/>
                <a:sym typeface="Arial"/>
              </a:rPr>
              <a:t>Tasks:</a:t>
            </a:r>
            <a:endParaRPr b="1" i="0" sz="1600" u="sng"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Start with your solution to the exercise 3.</a:t>
            </a:r>
            <a:endParaRPr b="0" i="0" sz="16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rabicPeriod"/>
            </a:pPr>
            <a:r>
              <a:rPr b="0" i="0" lang="en-US" sz="1600" u="none" cap="none" strike="noStrike">
                <a:solidFill>
                  <a:schemeClr val="dk1"/>
                </a:solidFill>
                <a:latin typeface="Arial"/>
                <a:ea typeface="Arial"/>
                <a:cs typeface="Arial"/>
                <a:sym typeface="Arial"/>
              </a:rPr>
              <a:t>Install missing dependencies (if any) from package.json.</a:t>
            </a:r>
            <a:endParaRPr b="0" i="0" sz="16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npm install</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In the provided </a:t>
            </a:r>
            <a:r>
              <a:rPr b="1" i="0" lang="en-US" sz="1400" u="none" cap="none" strike="noStrike">
                <a:solidFill>
                  <a:srgbClr val="0000FF"/>
                </a:solidFill>
                <a:latin typeface="Roboto Mono"/>
                <a:ea typeface="Roboto Mono"/>
                <a:cs typeface="Roboto Mono"/>
                <a:sym typeface="Roboto Mono"/>
              </a:rPr>
              <a:t>user-controllers.js</a:t>
            </a:r>
            <a:r>
              <a:rPr b="0" i="0" lang="en-US" sz="1600" u="none" cap="none" strike="noStrike">
                <a:solidFill>
                  <a:schemeClr val="dk1"/>
                </a:solidFill>
                <a:latin typeface="Arial"/>
                <a:ea typeface="Arial"/>
                <a:cs typeface="Arial"/>
                <a:sym typeface="Arial"/>
              </a:rPr>
              <a:t> file to:</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Modify the </a:t>
            </a:r>
            <a:r>
              <a:rPr b="1" i="0" lang="en-US" sz="1400" u="none" cap="none" strike="noStrike">
                <a:solidFill>
                  <a:srgbClr val="0000FF"/>
                </a:solidFill>
                <a:latin typeface="Roboto Mono"/>
                <a:ea typeface="Roboto Mono"/>
                <a:cs typeface="Roboto Mono"/>
                <a:sym typeface="Roboto Mono"/>
              </a:rPr>
              <a:t>profile </a:t>
            </a:r>
            <a:r>
              <a:rPr b="0" i="0" lang="en-US" sz="1600" u="none" cap="none" strike="noStrike">
                <a:solidFill>
                  <a:schemeClr val="dk1"/>
                </a:solidFill>
                <a:latin typeface="Arial"/>
                <a:ea typeface="Arial"/>
                <a:cs typeface="Arial"/>
                <a:sym typeface="Arial"/>
              </a:rPr>
              <a:t>to check for a </a:t>
            </a:r>
            <a:r>
              <a:rPr b="1" i="0" lang="en-US" sz="1400" u="none" cap="none" strike="noStrike">
                <a:solidFill>
                  <a:srgbClr val="0000FF"/>
                </a:solidFill>
                <a:latin typeface="Roboto Mono"/>
                <a:ea typeface="Roboto Mono"/>
                <a:cs typeface="Roboto Mono"/>
                <a:sym typeface="Roboto Mono"/>
              </a:rPr>
              <a:t>user</a:t>
            </a:r>
            <a:r>
              <a:rPr b="0" i="0" lang="en-US" sz="1600" u="none" cap="none" strike="noStrike">
                <a:solidFill>
                  <a:schemeClr val="dk1"/>
                </a:solidFill>
                <a:latin typeface="Arial"/>
                <a:ea typeface="Arial"/>
                <a:cs typeface="Arial"/>
                <a:sym typeface="Arial"/>
              </a:rPr>
              <a:t> object in the </a:t>
            </a:r>
            <a:r>
              <a:rPr b="1" i="0" lang="en-US" sz="1400" u="none" cap="none" strike="noStrike">
                <a:solidFill>
                  <a:srgbClr val="0000FF"/>
                </a:solidFill>
                <a:latin typeface="Roboto Mono"/>
                <a:ea typeface="Roboto Mono"/>
                <a:cs typeface="Roboto Mono"/>
                <a:sym typeface="Roboto Mono"/>
              </a:rPr>
              <a:t>session</a:t>
            </a:r>
            <a:r>
              <a:rPr b="0" i="0" lang="en-US" sz="1600" u="none" cap="none" strike="noStrike">
                <a:solidFill>
                  <a:schemeClr val="dk1"/>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If a </a:t>
            </a:r>
            <a:r>
              <a:rPr b="1" i="0" lang="en-US" sz="1400" u="none" cap="none" strike="noStrike">
                <a:solidFill>
                  <a:srgbClr val="0000FF"/>
                </a:solidFill>
                <a:latin typeface="Roboto Mono"/>
                <a:ea typeface="Roboto Mono"/>
                <a:cs typeface="Roboto Mono"/>
                <a:sym typeface="Roboto Mono"/>
              </a:rPr>
              <a:t>user</a:t>
            </a:r>
            <a:r>
              <a:rPr b="0" i="0" lang="en-US" sz="1600" u="none" cap="none" strike="noStrike">
                <a:solidFill>
                  <a:schemeClr val="dk1"/>
                </a:solidFill>
                <a:latin typeface="Arial"/>
                <a:ea typeface="Arial"/>
                <a:cs typeface="Arial"/>
                <a:sym typeface="Arial"/>
              </a:rPr>
              <a:t> object does not exist in the </a:t>
            </a:r>
            <a:r>
              <a:rPr b="1" i="0" lang="en-US" sz="1400" u="none" cap="none" strike="noStrike">
                <a:solidFill>
                  <a:srgbClr val="0000FF"/>
                </a:solidFill>
                <a:latin typeface="Roboto Mono"/>
                <a:ea typeface="Roboto Mono"/>
                <a:cs typeface="Roboto Mono"/>
                <a:sym typeface="Roboto Mono"/>
              </a:rPr>
              <a:t>session</a:t>
            </a:r>
            <a:r>
              <a:rPr b="0" i="0" lang="en-US" sz="1600" u="none" cap="none" strike="noStrike">
                <a:solidFill>
                  <a:schemeClr val="dk1"/>
                </a:solidFill>
                <a:latin typeface="Arial"/>
                <a:ea typeface="Arial"/>
                <a:cs typeface="Arial"/>
                <a:sym typeface="Arial"/>
              </a:rPr>
              <a:t>, redirect the user to /login page.</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If a </a:t>
            </a:r>
            <a:r>
              <a:rPr b="1" i="0" lang="en-US" sz="1400" u="none" cap="none" strike="noStrike">
                <a:solidFill>
                  <a:srgbClr val="0000FF"/>
                </a:solidFill>
                <a:latin typeface="Roboto Mono"/>
                <a:ea typeface="Roboto Mono"/>
                <a:cs typeface="Roboto Mono"/>
                <a:sym typeface="Roboto Mono"/>
              </a:rPr>
              <a:t>user</a:t>
            </a:r>
            <a:r>
              <a:rPr b="0" i="0" lang="en-US" sz="1600" u="none" cap="none" strike="noStrike">
                <a:solidFill>
                  <a:schemeClr val="dk1"/>
                </a:solidFill>
                <a:latin typeface="Arial"/>
                <a:ea typeface="Arial"/>
                <a:cs typeface="Arial"/>
                <a:sym typeface="Arial"/>
              </a:rPr>
              <a:t> object exists in the </a:t>
            </a:r>
            <a:r>
              <a:rPr b="1" i="0" lang="en-US" sz="1400" u="none" cap="none" strike="noStrike">
                <a:solidFill>
                  <a:srgbClr val="0000FF"/>
                </a:solidFill>
                <a:latin typeface="Roboto Mono"/>
                <a:ea typeface="Roboto Mono"/>
                <a:cs typeface="Roboto Mono"/>
                <a:sym typeface="Roboto Mono"/>
              </a:rPr>
              <a:t>session</a:t>
            </a:r>
            <a:r>
              <a:rPr b="0" i="0" lang="en-US" sz="1600" u="none" cap="none" strike="noStrike">
                <a:solidFill>
                  <a:schemeClr val="dk1"/>
                </a:solidFill>
                <a:latin typeface="Arial"/>
                <a:ea typeface="Arial"/>
                <a:cs typeface="Arial"/>
                <a:sym typeface="Arial"/>
              </a:rPr>
              <a:t>, render the </a:t>
            </a:r>
            <a:r>
              <a:rPr b="1" i="0" lang="en-US" sz="1400" u="none" cap="none" strike="noStrike">
                <a:solidFill>
                  <a:srgbClr val="0000FF"/>
                </a:solidFill>
                <a:latin typeface="Roboto Mono"/>
                <a:ea typeface="Roboto Mono"/>
                <a:cs typeface="Roboto Mono"/>
                <a:sym typeface="Roboto Mono"/>
              </a:rPr>
              <a:t>profile.ejs </a:t>
            </a:r>
            <a:r>
              <a:rPr b="0" i="0" lang="en-US" sz="1600" u="none" cap="none" strike="noStrike">
                <a:solidFill>
                  <a:schemeClr val="dk1"/>
                </a:solidFill>
                <a:latin typeface="Arial"/>
                <a:ea typeface="Arial"/>
                <a:cs typeface="Arial"/>
                <a:sym typeface="Arial"/>
              </a:rPr>
              <a:t>template.</a:t>
            </a:r>
            <a:endParaRPr b="0" i="0" sz="1600" u="none" cap="none" strike="noStrike">
              <a:solidFill>
                <a:schemeClr val="dk1"/>
              </a:solidFill>
              <a:latin typeface="Arial"/>
              <a:ea typeface="Arial"/>
              <a:cs typeface="Arial"/>
              <a:sym typeface="Arial"/>
            </a:endParaRPr>
          </a:p>
        </p:txBody>
      </p:sp>
      <p:sp>
        <p:nvSpPr>
          <p:cNvPr id="508" name="Google Shape;508;g394c25f66fd_0_654"/>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94c25f66fd_0_668"/>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Direct Admin Users to Admin Profile Page - Authorization</a:t>
            </a:r>
            <a:r>
              <a:rPr b="1" i="0" lang="en-US" sz="2400" u="none" cap="none" strike="noStrike">
                <a:solidFill>
                  <a:srgbClr val="11175E"/>
                </a:solidFill>
                <a:latin typeface="Arial"/>
                <a:ea typeface="Arial"/>
                <a:cs typeface="Arial"/>
                <a:sym typeface="Arial"/>
              </a:rPr>
              <a:t> (Exercise 5)</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514" name="Google Shape;514;g394c25f66fd_0_668"/>
          <p:cNvSpPr txBox="1"/>
          <p:nvPr/>
        </p:nvSpPr>
        <p:spPr>
          <a:xfrm>
            <a:off x="228725" y="1485900"/>
            <a:ext cx="11731500" cy="5372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Exercise 5 - Direct Admin Users to Admin Profile Page</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In this exercise you’ll direct the admin users to admin profile page.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600" u="sng" cap="none" strike="noStrike">
                <a:solidFill>
                  <a:schemeClr val="dk1"/>
                </a:solidFill>
                <a:latin typeface="Arial"/>
                <a:ea typeface="Arial"/>
                <a:cs typeface="Arial"/>
                <a:sym typeface="Arial"/>
              </a:rPr>
              <a:t>Expected Browser Output</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515" name="Google Shape;515;g394c25f66fd_0_668"/>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cxnSp>
        <p:nvCxnSpPr>
          <p:cNvPr id="516" name="Google Shape;516;g394c25f66fd_0_668"/>
          <p:cNvCxnSpPr/>
          <p:nvPr/>
        </p:nvCxnSpPr>
        <p:spPr>
          <a:xfrm>
            <a:off x="4668275" y="4658675"/>
            <a:ext cx="2506500" cy="1074900"/>
          </a:xfrm>
          <a:prstGeom prst="straightConnector1">
            <a:avLst/>
          </a:prstGeom>
          <a:noFill/>
          <a:ln cap="flat" cmpd="sng" w="9525">
            <a:solidFill>
              <a:schemeClr val="dk2"/>
            </a:solidFill>
            <a:prstDash val="solid"/>
            <a:round/>
            <a:headEnd len="sm" w="sm" type="none"/>
            <a:tailEnd len="med" w="med" type="triangle"/>
          </a:ln>
        </p:spPr>
      </p:cxnSp>
      <p:cxnSp>
        <p:nvCxnSpPr>
          <p:cNvPr id="517" name="Google Shape;517;g394c25f66fd_0_668"/>
          <p:cNvCxnSpPr/>
          <p:nvPr/>
        </p:nvCxnSpPr>
        <p:spPr>
          <a:xfrm flipH="1" rot="10800000">
            <a:off x="4668275" y="3788075"/>
            <a:ext cx="2506500" cy="870600"/>
          </a:xfrm>
          <a:prstGeom prst="straightConnector1">
            <a:avLst/>
          </a:prstGeom>
          <a:noFill/>
          <a:ln cap="flat" cmpd="sng" w="9525">
            <a:solidFill>
              <a:schemeClr val="dk2"/>
            </a:solidFill>
            <a:prstDash val="solid"/>
            <a:round/>
            <a:headEnd len="sm" w="sm" type="none"/>
            <a:tailEnd len="med" w="med" type="triangle"/>
          </a:ln>
        </p:spPr>
      </p:cxnSp>
      <p:sp>
        <p:nvSpPr>
          <p:cNvPr id="518" name="Google Shape;518;g394c25f66fd_0_668"/>
          <p:cNvSpPr txBox="1"/>
          <p:nvPr/>
        </p:nvSpPr>
        <p:spPr>
          <a:xfrm>
            <a:off x="5338775" y="5268175"/>
            <a:ext cx="11655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Mono"/>
                <a:ea typeface="Roboto Mono"/>
                <a:cs typeface="Roboto Mono"/>
                <a:sym typeface="Roboto Mono"/>
              </a:rPr>
              <a:t>admin user</a:t>
            </a:r>
            <a:endParaRPr b="0" i="0" sz="1400" u="none" cap="none" strike="noStrike">
              <a:solidFill>
                <a:srgbClr val="000000"/>
              </a:solidFill>
              <a:latin typeface="Roboto Mono"/>
              <a:ea typeface="Roboto Mono"/>
              <a:cs typeface="Roboto Mono"/>
              <a:sym typeface="Roboto Mono"/>
            </a:endParaRPr>
          </a:p>
        </p:txBody>
      </p:sp>
      <p:sp>
        <p:nvSpPr>
          <p:cNvPr id="519" name="Google Shape;519;g394c25f66fd_0_668"/>
          <p:cNvSpPr txBox="1"/>
          <p:nvPr/>
        </p:nvSpPr>
        <p:spPr>
          <a:xfrm>
            <a:off x="5198825" y="3365925"/>
            <a:ext cx="14454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Mono"/>
                <a:ea typeface="Roboto Mono"/>
                <a:cs typeface="Roboto Mono"/>
                <a:sym typeface="Roboto Mono"/>
              </a:rPr>
              <a:t>regular user</a:t>
            </a:r>
            <a:endParaRPr b="0" i="0" sz="1400" u="none" cap="none" strike="noStrike">
              <a:solidFill>
                <a:srgbClr val="000000"/>
              </a:solidFill>
              <a:latin typeface="Roboto Mono"/>
              <a:ea typeface="Roboto Mono"/>
              <a:cs typeface="Roboto Mono"/>
              <a:sym typeface="Roboto Mono"/>
            </a:endParaRPr>
          </a:p>
        </p:txBody>
      </p:sp>
      <p:pic>
        <p:nvPicPr>
          <p:cNvPr id="520" name="Google Shape;520;g394c25f66fd_0_668"/>
          <p:cNvPicPr preferRelativeResize="0"/>
          <p:nvPr/>
        </p:nvPicPr>
        <p:blipFill rotWithShape="1">
          <a:blip r:embed="rId3">
            <a:alphaModFix/>
          </a:blip>
          <a:srcRect b="0" l="0" r="0" t="0"/>
          <a:stretch/>
        </p:blipFill>
        <p:spPr>
          <a:xfrm>
            <a:off x="1059200" y="3365925"/>
            <a:ext cx="3609181" cy="2581050"/>
          </a:xfrm>
          <a:prstGeom prst="rect">
            <a:avLst/>
          </a:prstGeom>
          <a:noFill/>
          <a:ln cap="flat" cmpd="sng" w="9525">
            <a:solidFill>
              <a:srgbClr val="4A86E8"/>
            </a:solidFill>
            <a:prstDash val="solid"/>
            <a:round/>
            <a:headEnd len="sm" w="sm" type="none"/>
            <a:tailEnd len="sm" w="sm" type="none"/>
          </a:ln>
        </p:spPr>
      </p:pic>
      <p:pic>
        <p:nvPicPr>
          <p:cNvPr id="521" name="Google Shape;521;g394c25f66fd_0_668"/>
          <p:cNvPicPr preferRelativeResize="0"/>
          <p:nvPr/>
        </p:nvPicPr>
        <p:blipFill rotWithShape="1">
          <a:blip r:embed="rId4">
            <a:alphaModFix/>
          </a:blip>
          <a:srcRect b="0" l="0" r="0" t="0"/>
          <a:stretch/>
        </p:blipFill>
        <p:spPr>
          <a:xfrm>
            <a:off x="7174675" y="2784150"/>
            <a:ext cx="3961075" cy="1623025"/>
          </a:xfrm>
          <a:prstGeom prst="rect">
            <a:avLst/>
          </a:prstGeom>
          <a:noFill/>
          <a:ln cap="flat" cmpd="sng" w="9525">
            <a:solidFill>
              <a:srgbClr val="4A86E8"/>
            </a:solidFill>
            <a:prstDash val="solid"/>
            <a:round/>
            <a:headEnd len="sm" w="sm" type="none"/>
            <a:tailEnd len="sm" w="sm" type="none"/>
          </a:ln>
        </p:spPr>
      </p:pic>
      <p:pic>
        <p:nvPicPr>
          <p:cNvPr id="522" name="Google Shape;522;g394c25f66fd_0_668"/>
          <p:cNvPicPr preferRelativeResize="0"/>
          <p:nvPr/>
        </p:nvPicPr>
        <p:blipFill rotWithShape="1">
          <a:blip r:embed="rId5">
            <a:alphaModFix/>
          </a:blip>
          <a:srcRect b="0" l="0" r="0" t="0"/>
          <a:stretch/>
        </p:blipFill>
        <p:spPr>
          <a:xfrm>
            <a:off x="7174675" y="4879175"/>
            <a:ext cx="4396926" cy="1571900"/>
          </a:xfrm>
          <a:prstGeom prst="rect">
            <a:avLst/>
          </a:prstGeom>
          <a:noFill/>
          <a:ln cap="flat" cmpd="sng" w="9525">
            <a:solidFill>
              <a:srgbClr val="4A86E8"/>
            </a:solidFill>
            <a:prstDash val="solid"/>
            <a:round/>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394c25f66fd_0_682"/>
          <p:cNvSpPr/>
          <p:nvPr/>
        </p:nvSpPr>
        <p:spPr>
          <a:xfrm>
            <a:off x="228725"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Direct Admin Users to Admin Profile Page - Authorization</a:t>
            </a:r>
            <a:r>
              <a:rPr b="1" i="0" lang="en-US" sz="2400" u="none" cap="none" strike="noStrike">
                <a:solidFill>
                  <a:srgbClr val="11175E"/>
                </a:solidFill>
                <a:latin typeface="Arial"/>
                <a:ea typeface="Arial"/>
                <a:cs typeface="Arial"/>
                <a:sym typeface="Arial"/>
              </a:rPr>
              <a:t> (Exercise 5)</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528" name="Google Shape;528;g394c25f66fd_0_682"/>
          <p:cNvSpPr txBox="1"/>
          <p:nvPr/>
        </p:nvSpPr>
        <p:spPr>
          <a:xfrm>
            <a:off x="228600" y="1485900"/>
            <a:ext cx="11731500" cy="5148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Exercise 5 - Direct Admin Users to Admin Profile Page</a:t>
            </a:r>
            <a:endParaRPr b="1" i="0" sz="1600" u="sng"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Review the requirements below and follow the task instructions step by step to complete the exercise.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chemeClr val="dk1"/>
                </a:solidFill>
                <a:latin typeface="Arial"/>
                <a:ea typeface="Arial"/>
                <a:cs typeface="Arial"/>
                <a:sym typeface="Arial"/>
              </a:rPr>
              <a:t>Requirements: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Upon login to the website,</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Regular users need to be redirected to profile page.</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Admin users need to be redirected to admin page.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chemeClr val="dk1"/>
                </a:solidFill>
                <a:latin typeface="Arial"/>
                <a:ea typeface="Arial"/>
                <a:cs typeface="Arial"/>
                <a:sym typeface="Arial"/>
              </a:rPr>
              <a:t>Tasks:</a:t>
            </a:r>
            <a:endParaRPr b="1" i="0" sz="1600" u="sng"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Start with your solution to the exercise 4.</a:t>
            </a:r>
            <a:endParaRPr b="0" i="0" sz="16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rabicPeriod"/>
            </a:pPr>
            <a:r>
              <a:rPr b="0" i="0" lang="en-US" sz="1600" u="none" cap="none" strike="noStrike">
                <a:solidFill>
                  <a:schemeClr val="dk1"/>
                </a:solidFill>
                <a:latin typeface="Arial"/>
                <a:ea typeface="Arial"/>
                <a:cs typeface="Arial"/>
                <a:sym typeface="Arial"/>
              </a:rPr>
              <a:t>Install missing dependencies (if any) from package.json.</a:t>
            </a:r>
            <a:endParaRPr b="0" i="0" sz="16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npm install</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In the provided </a:t>
            </a:r>
            <a:r>
              <a:rPr b="1" i="0" lang="en-US" sz="1400" u="none" cap="none" strike="noStrike">
                <a:solidFill>
                  <a:srgbClr val="0000FF"/>
                </a:solidFill>
                <a:latin typeface="Roboto Mono"/>
                <a:ea typeface="Roboto Mono"/>
                <a:cs typeface="Roboto Mono"/>
                <a:sym typeface="Roboto Mono"/>
              </a:rPr>
              <a:t>user-controllers.js</a:t>
            </a:r>
            <a:r>
              <a:rPr b="0" i="0" lang="en-US" sz="1600" u="none" cap="none" strike="noStrike">
                <a:solidFill>
                  <a:schemeClr val="dk1"/>
                </a:solidFill>
                <a:latin typeface="Arial"/>
                <a:ea typeface="Arial"/>
                <a:cs typeface="Arial"/>
                <a:sym typeface="Arial"/>
              </a:rPr>
              <a:t> file to:</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Modify the </a:t>
            </a:r>
            <a:r>
              <a:rPr b="1" i="0" lang="en-US" sz="1400" u="none" cap="none" strike="noStrike">
                <a:solidFill>
                  <a:srgbClr val="0000FF"/>
                </a:solidFill>
                <a:latin typeface="Roboto Mono"/>
                <a:ea typeface="Roboto Mono"/>
                <a:cs typeface="Roboto Mono"/>
                <a:sym typeface="Roboto Mono"/>
              </a:rPr>
              <a:t>loginPost </a:t>
            </a:r>
            <a:r>
              <a:rPr b="0" i="0" lang="en-US" sz="1600" u="none" cap="none" strike="noStrike">
                <a:solidFill>
                  <a:schemeClr val="dk1"/>
                </a:solidFill>
                <a:latin typeface="Arial"/>
                <a:ea typeface="Arial"/>
                <a:cs typeface="Arial"/>
                <a:sym typeface="Arial"/>
              </a:rPr>
              <a:t>to check the </a:t>
            </a:r>
            <a:r>
              <a:rPr b="1" i="0" lang="en-US" sz="1400" u="none" cap="none" strike="noStrike">
                <a:solidFill>
                  <a:srgbClr val="0000FF"/>
                </a:solidFill>
                <a:latin typeface="Roboto Mono"/>
                <a:ea typeface="Roboto Mono"/>
                <a:cs typeface="Roboto Mono"/>
                <a:sym typeface="Roboto Mono"/>
              </a:rPr>
              <a:t>user</a:t>
            </a:r>
            <a:r>
              <a:rPr b="0" i="0" lang="en-US" sz="1600" u="none" cap="none" strike="noStrike">
                <a:solidFill>
                  <a:schemeClr val="dk1"/>
                </a:solidFill>
                <a:latin typeface="Arial"/>
                <a:ea typeface="Arial"/>
                <a:cs typeface="Arial"/>
                <a:sym typeface="Arial"/>
              </a:rPr>
              <a:t> role and redirect accordingly.</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Modify the </a:t>
            </a:r>
            <a:r>
              <a:rPr b="1" i="0" lang="en-US" sz="1400" u="none" cap="none" strike="noStrike">
                <a:solidFill>
                  <a:srgbClr val="0000FF"/>
                </a:solidFill>
                <a:latin typeface="Roboto Mono"/>
                <a:ea typeface="Roboto Mono"/>
                <a:cs typeface="Roboto Mono"/>
                <a:sym typeface="Roboto Mono"/>
              </a:rPr>
              <a:t>adminProfile </a:t>
            </a:r>
            <a:r>
              <a:rPr b="0" i="0" lang="en-US" sz="1600" u="none" cap="none" strike="noStrike">
                <a:solidFill>
                  <a:schemeClr val="dk1"/>
                </a:solidFill>
                <a:latin typeface="Arial"/>
                <a:ea typeface="Arial"/>
                <a:cs typeface="Arial"/>
                <a:sym typeface="Arial"/>
              </a:rPr>
              <a:t>to,</a:t>
            </a:r>
            <a:endParaRPr b="0" i="0" sz="1600" u="none" cap="none" strike="noStrike">
              <a:solidFill>
                <a:schemeClr val="dk1"/>
              </a:solidFill>
              <a:latin typeface="Arial"/>
              <a:ea typeface="Arial"/>
              <a:cs typeface="Arial"/>
              <a:sym typeface="Arial"/>
            </a:endParaRPr>
          </a:p>
          <a:p>
            <a:pPr indent="-330200" lvl="2" marL="13716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If there’s no </a:t>
            </a:r>
            <a:r>
              <a:rPr b="1" i="0" lang="en-US" sz="1400" u="none" cap="none" strike="noStrike">
                <a:solidFill>
                  <a:srgbClr val="0000FF"/>
                </a:solidFill>
                <a:latin typeface="Roboto Mono"/>
                <a:ea typeface="Roboto Mono"/>
                <a:cs typeface="Roboto Mono"/>
                <a:sym typeface="Roboto Mono"/>
              </a:rPr>
              <a:t>user</a:t>
            </a:r>
            <a:r>
              <a:rPr b="0" i="0" lang="en-US" sz="1600" u="none" cap="none" strike="noStrike">
                <a:solidFill>
                  <a:schemeClr val="dk1"/>
                </a:solidFill>
                <a:latin typeface="Arial"/>
                <a:ea typeface="Arial"/>
                <a:cs typeface="Arial"/>
                <a:sym typeface="Arial"/>
              </a:rPr>
              <a:t> in the session redirect to /login.</a:t>
            </a:r>
            <a:endParaRPr b="0" i="0" sz="1600" u="none" cap="none" strike="noStrike">
              <a:solidFill>
                <a:schemeClr val="dk1"/>
              </a:solidFill>
              <a:latin typeface="Arial"/>
              <a:ea typeface="Arial"/>
              <a:cs typeface="Arial"/>
              <a:sym typeface="Arial"/>
            </a:endParaRPr>
          </a:p>
          <a:p>
            <a:pPr indent="-330200" lvl="2" marL="13716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If the </a:t>
            </a:r>
            <a:r>
              <a:rPr b="1" i="0" lang="en-US" sz="1400" u="none" cap="none" strike="noStrike">
                <a:solidFill>
                  <a:srgbClr val="0000FF"/>
                </a:solidFill>
                <a:latin typeface="Roboto Mono"/>
                <a:ea typeface="Roboto Mono"/>
                <a:cs typeface="Roboto Mono"/>
                <a:sym typeface="Roboto Mono"/>
              </a:rPr>
              <a:t>user is </a:t>
            </a:r>
            <a:r>
              <a:rPr b="0" i="0" lang="en-US" sz="1600" u="none" cap="none" strike="noStrike">
                <a:solidFill>
                  <a:schemeClr val="dk1"/>
                </a:solidFill>
                <a:latin typeface="Arial"/>
                <a:ea typeface="Arial"/>
                <a:cs typeface="Arial"/>
                <a:sym typeface="Arial"/>
              </a:rPr>
              <a:t>in the session and role is not admin, redirect to /profile.</a:t>
            </a:r>
            <a:endParaRPr b="0" i="0" sz="1600" u="none" cap="none" strike="noStrike">
              <a:solidFill>
                <a:schemeClr val="dk1"/>
              </a:solidFill>
              <a:latin typeface="Arial"/>
              <a:ea typeface="Arial"/>
              <a:cs typeface="Arial"/>
              <a:sym typeface="Arial"/>
            </a:endParaRPr>
          </a:p>
          <a:p>
            <a:pPr indent="-330200" lvl="2" marL="13716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If the </a:t>
            </a:r>
            <a:r>
              <a:rPr b="1" i="0" lang="en-US" sz="1400" u="none" cap="none" strike="noStrike">
                <a:solidFill>
                  <a:srgbClr val="0000FF"/>
                </a:solidFill>
                <a:latin typeface="Roboto Mono"/>
                <a:ea typeface="Roboto Mono"/>
                <a:cs typeface="Roboto Mono"/>
                <a:sym typeface="Roboto Mono"/>
              </a:rPr>
              <a:t>user is </a:t>
            </a:r>
            <a:r>
              <a:rPr b="0" i="0" lang="en-US" sz="1600" u="none" cap="none" strike="noStrike">
                <a:solidFill>
                  <a:schemeClr val="dk1"/>
                </a:solidFill>
                <a:latin typeface="Arial"/>
                <a:ea typeface="Arial"/>
                <a:cs typeface="Arial"/>
                <a:sym typeface="Arial"/>
              </a:rPr>
              <a:t>in the session and role is admin, render </a:t>
            </a:r>
            <a:r>
              <a:rPr b="1" i="0" lang="en-US" sz="1400" u="none" cap="none" strike="noStrike">
                <a:solidFill>
                  <a:srgbClr val="0000FF"/>
                </a:solidFill>
                <a:latin typeface="Roboto Mono"/>
                <a:ea typeface="Roboto Mono"/>
                <a:cs typeface="Roboto Mono"/>
                <a:sym typeface="Roboto Mono"/>
              </a:rPr>
              <a:t>admin-profile.ejs.</a:t>
            </a:r>
            <a:endParaRPr b="0" i="0" sz="1600" u="none" cap="none" strike="noStrike">
              <a:solidFill>
                <a:schemeClr val="dk1"/>
              </a:solidFill>
              <a:latin typeface="Arial"/>
              <a:ea typeface="Arial"/>
              <a:cs typeface="Arial"/>
              <a:sym typeface="Arial"/>
            </a:endParaRPr>
          </a:p>
        </p:txBody>
      </p:sp>
      <p:sp>
        <p:nvSpPr>
          <p:cNvPr id="529" name="Google Shape;529;g394c25f66fd_0_682"/>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g3981e5c5615_0_2"/>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Using Middleware for Authorization</a:t>
            </a:r>
            <a:endParaRPr b="1" i="0" sz="2400" u="none" cap="none" strike="noStrike">
              <a:solidFill>
                <a:srgbClr val="11175E"/>
              </a:solidFill>
              <a:latin typeface="Arial"/>
              <a:ea typeface="Arial"/>
              <a:cs typeface="Arial"/>
              <a:sym typeface="Arial"/>
            </a:endParaRPr>
          </a:p>
        </p:txBody>
      </p:sp>
      <p:sp>
        <p:nvSpPr>
          <p:cNvPr id="535" name="Google Shape;535;g3981e5c5615_0_2"/>
          <p:cNvSpPr txBox="1"/>
          <p:nvPr/>
        </p:nvSpPr>
        <p:spPr>
          <a:xfrm>
            <a:off x="217750" y="1329250"/>
            <a:ext cx="11752200" cy="5121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What is Middleware?</a:t>
            </a:r>
            <a:endParaRPr b="1" i="0" sz="1600" u="none" cap="none" strike="noStrike">
              <a:solidFill>
                <a:schemeClr val="dk1"/>
              </a:solidFill>
              <a:latin typeface="Arial"/>
              <a:ea typeface="Arial"/>
              <a:cs typeface="Arial"/>
              <a:sym typeface="Arial"/>
            </a:endParaRPr>
          </a:p>
          <a:p>
            <a:pPr indent="-330200" lvl="0" marL="457200" marR="0" rtl="0" algn="l">
              <a:lnSpc>
                <a:spcPct val="115000"/>
              </a:lnSpc>
              <a:spcBef>
                <a:spcPts val="12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Middlewares are functions that run during the request-response cycle in Express.</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They can modify req and res, execute logic, or stop the request.</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Why Use Middleware for Authorization?</a:t>
            </a:r>
            <a:endParaRPr b="1" i="0" sz="1600" u="none" cap="none" strike="noStrike">
              <a:solidFill>
                <a:schemeClr val="dk1"/>
              </a:solidFill>
              <a:latin typeface="Arial"/>
              <a:ea typeface="Arial"/>
              <a:cs typeface="Arial"/>
              <a:sym typeface="Arial"/>
            </a:endParaRPr>
          </a:p>
          <a:p>
            <a:pPr indent="-330200" lvl="0" marL="457200" marR="0" rtl="0" algn="l">
              <a:lnSpc>
                <a:spcPct val="115000"/>
              </a:lnSpc>
              <a:spcBef>
                <a:spcPts val="12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Enables re-using the code.</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Keeps routes/controllers clean.</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lang="en-US" sz="1600">
                <a:solidFill>
                  <a:schemeClr val="dk1"/>
                </a:solidFill>
              </a:rPr>
              <a:t>Centralized</a:t>
            </a:r>
            <a:r>
              <a:rPr b="0" i="0" lang="en-US" sz="1600" u="none" cap="none" strike="noStrike">
                <a:solidFill>
                  <a:schemeClr val="dk1"/>
                </a:solidFill>
                <a:latin typeface="Arial"/>
                <a:ea typeface="Arial"/>
                <a:cs typeface="Arial"/>
                <a:sym typeface="Arial"/>
              </a:rPr>
              <a:t> access control logic.</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Example Use Case</a:t>
            </a:r>
            <a:endParaRPr b="1" i="0" sz="1600" u="none" cap="none" strike="noStrike">
              <a:solidFill>
                <a:schemeClr val="dk1"/>
              </a:solidFill>
              <a:latin typeface="Arial"/>
              <a:ea typeface="Arial"/>
              <a:cs typeface="Arial"/>
              <a:sym typeface="Arial"/>
            </a:endParaRPr>
          </a:p>
          <a:p>
            <a:pPr indent="-330200" lvl="0" marL="457200" marR="0" rtl="0" algn="l">
              <a:lnSpc>
                <a:spcPct val="115000"/>
              </a:lnSpc>
              <a:spcBef>
                <a:spcPts val="12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Check if user is authenticated.</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Verify user role (e.g., Admin, Instructor).</a:t>
            </a:r>
            <a:endParaRPr b="1" i="0" sz="1600" u="none" cap="none" strike="noStrike">
              <a:solidFill>
                <a:schemeClr val="dk1"/>
              </a:solidFill>
              <a:latin typeface="Arial"/>
              <a:ea typeface="Arial"/>
              <a:cs typeface="Arial"/>
              <a:sym typeface="Arial"/>
            </a:endParaRPr>
          </a:p>
          <a:p>
            <a:pPr indent="0" lvl="0" marL="457200" marR="0" rtl="0" algn="l">
              <a:lnSpc>
                <a:spcPct val="150000"/>
              </a:lnSpc>
              <a:spcBef>
                <a:spcPts val="120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536" name="Google Shape;536;g3981e5c5615_0_2"/>
          <p:cNvSpPr/>
          <p:nvPr/>
        </p:nvSpPr>
        <p:spPr>
          <a:xfrm>
            <a:off x="6303767" y="3134175"/>
            <a:ext cx="349500" cy="27189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g3981e5c5615_0_2"/>
          <p:cNvSpPr/>
          <p:nvPr/>
        </p:nvSpPr>
        <p:spPr>
          <a:xfrm>
            <a:off x="9623963" y="3134175"/>
            <a:ext cx="265800" cy="2027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38" name="Google Shape;538;g3981e5c5615_0_2"/>
          <p:cNvCxnSpPr/>
          <p:nvPr/>
        </p:nvCxnSpPr>
        <p:spPr>
          <a:xfrm>
            <a:off x="6595532" y="3920538"/>
            <a:ext cx="2968800" cy="14700"/>
          </a:xfrm>
          <a:prstGeom prst="straightConnector1">
            <a:avLst/>
          </a:prstGeom>
          <a:noFill/>
          <a:ln cap="flat" cmpd="sng" w="9525">
            <a:solidFill>
              <a:schemeClr val="dk2"/>
            </a:solidFill>
            <a:prstDash val="solid"/>
            <a:round/>
            <a:headEnd len="sm" w="sm" type="none"/>
            <a:tailEnd len="med" w="med" type="triangle"/>
          </a:ln>
        </p:spPr>
      </p:cxnSp>
      <p:sp>
        <p:nvSpPr>
          <p:cNvPr id="539" name="Google Shape;539;g3981e5c5615_0_2"/>
          <p:cNvSpPr txBox="1"/>
          <p:nvPr/>
        </p:nvSpPr>
        <p:spPr>
          <a:xfrm>
            <a:off x="7120548" y="3390650"/>
            <a:ext cx="19185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Call the middleware function</a:t>
            </a:r>
            <a:endParaRPr b="0" i="0" sz="1200" u="none" cap="none" strike="noStrike">
              <a:solidFill>
                <a:schemeClr val="dk1"/>
              </a:solidFill>
              <a:latin typeface="Arial"/>
              <a:ea typeface="Arial"/>
              <a:cs typeface="Arial"/>
              <a:sym typeface="Arial"/>
            </a:endParaRPr>
          </a:p>
        </p:txBody>
      </p:sp>
      <p:sp>
        <p:nvSpPr>
          <p:cNvPr id="540" name="Google Shape;540;g3981e5c5615_0_2"/>
          <p:cNvSpPr txBox="1"/>
          <p:nvPr/>
        </p:nvSpPr>
        <p:spPr>
          <a:xfrm>
            <a:off x="10020225" y="3686175"/>
            <a:ext cx="1892100" cy="923400"/>
          </a:xfrm>
          <a:prstGeom prst="rect">
            <a:avLst/>
          </a:prstGeom>
          <a:solidFill>
            <a:srgbClr val="CFE2F3"/>
          </a:solid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Execute middleware code</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Call next() to pass the control back</a:t>
            </a:r>
            <a:endParaRPr b="0" i="0" sz="1200" u="none" cap="none" strike="noStrike">
              <a:solidFill>
                <a:schemeClr val="dk1"/>
              </a:solidFill>
              <a:latin typeface="Arial"/>
              <a:ea typeface="Arial"/>
              <a:cs typeface="Arial"/>
              <a:sym typeface="Arial"/>
            </a:endParaRPr>
          </a:p>
        </p:txBody>
      </p:sp>
      <p:cxnSp>
        <p:nvCxnSpPr>
          <p:cNvPr id="541" name="Google Shape;541;g3981e5c5615_0_2"/>
          <p:cNvCxnSpPr/>
          <p:nvPr/>
        </p:nvCxnSpPr>
        <p:spPr>
          <a:xfrm rot="10800000">
            <a:off x="6592399" y="4662075"/>
            <a:ext cx="2974800" cy="17100"/>
          </a:xfrm>
          <a:prstGeom prst="straightConnector1">
            <a:avLst/>
          </a:prstGeom>
          <a:noFill/>
          <a:ln cap="flat" cmpd="sng" w="9525">
            <a:solidFill>
              <a:schemeClr val="dk2"/>
            </a:solidFill>
            <a:prstDash val="solid"/>
            <a:round/>
            <a:headEnd len="sm" w="sm" type="none"/>
            <a:tailEnd len="med" w="med" type="triangle"/>
          </a:ln>
        </p:spPr>
      </p:cxnSp>
      <p:sp>
        <p:nvSpPr>
          <p:cNvPr id="542" name="Google Shape;542;g3981e5c5615_0_2"/>
          <p:cNvSpPr txBox="1"/>
          <p:nvPr/>
        </p:nvSpPr>
        <p:spPr>
          <a:xfrm>
            <a:off x="7315266" y="4125075"/>
            <a:ext cx="16467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Return back to the router</a:t>
            </a:r>
            <a:endParaRPr b="0" i="0" sz="1200" u="none" cap="none" strike="noStrike">
              <a:solidFill>
                <a:schemeClr val="dk1"/>
              </a:solidFill>
              <a:latin typeface="Arial"/>
              <a:ea typeface="Arial"/>
              <a:cs typeface="Arial"/>
              <a:sym typeface="Arial"/>
            </a:endParaRPr>
          </a:p>
        </p:txBody>
      </p:sp>
      <p:sp>
        <p:nvSpPr>
          <p:cNvPr id="543" name="Google Shape;543;g3981e5c5615_0_2"/>
          <p:cNvSpPr txBox="1"/>
          <p:nvPr/>
        </p:nvSpPr>
        <p:spPr>
          <a:xfrm>
            <a:off x="5838198" y="2704025"/>
            <a:ext cx="12807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Router function</a:t>
            </a:r>
            <a:endParaRPr b="0" i="0" sz="1200" u="none" cap="none" strike="noStrike">
              <a:solidFill>
                <a:schemeClr val="dk1"/>
              </a:solidFill>
              <a:latin typeface="Arial"/>
              <a:ea typeface="Arial"/>
              <a:cs typeface="Arial"/>
              <a:sym typeface="Arial"/>
            </a:endParaRPr>
          </a:p>
        </p:txBody>
      </p:sp>
      <p:sp>
        <p:nvSpPr>
          <p:cNvPr id="544" name="Google Shape;544;g3981e5c5615_0_2"/>
          <p:cNvSpPr txBox="1"/>
          <p:nvPr/>
        </p:nvSpPr>
        <p:spPr>
          <a:xfrm>
            <a:off x="8723249" y="2725825"/>
            <a:ext cx="1853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Middleware function</a:t>
            </a:r>
            <a:endParaRPr b="0" i="0" sz="1200" u="none" cap="none" strike="noStrike">
              <a:solidFill>
                <a:schemeClr val="dk1"/>
              </a:solidFill>
              <a:latin typeface="Arial"/>
              <a:ea typeface="Arial"/>
              <a:cs typeface="Arial"/>
              <a:sym typeface="Arial"/>
            </a:endParaRPr>
          </a:p>
        </p:txBody>
      </p:sp>
      <p:sp>
        <p:nvSpPr>
          <p:cNvPr id="545" name="Google Shape;545;g3981e5c5615_0_2"/>
          <p:cNvSpPr/>
          <p:nvPr/>
        </p:nvSpPr>
        <p:spPr>
          <a:xfrm>
            <a:off x="5180950" y="2704025"/>
            <a:ext cx="6789000" cy="3292200"/>
          </a:xfrm>
          <a:prstGeom prst="rect">
            <a:avLst/>
          </a:prstGeom>
          <a:no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g3981e5c5615_0_2"/>
          <p:cNvSpPr txBox="1"/>
          <p:nvPr/>
        </p:nvSpPr>
        <p:spPr>
          <a:xfrm>
            <a:off x="5296274" y="3151950"/>
            <a:ext cx="1038300" cy="5541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receive a web request</a:t>
            </a:r>
            <a:endParaRPr b="0" i="0" sz="1200" u="none" cap="none" strike="noStrike">
              <a:solidFill>
                <a:schemeClr val="dk1"/>
              </a:solidFill>
              <a:latin typeface="Arial"/>
              <a:ea typeface="Arial"/>
              <a:cs typeface="Arial"/>
              <a:sym typeface="Arial"/>
            </a:endParaRPr>
          </a:p>
        </p:txBody>
      </p:sp>
      <p:sp>
        <p:nvSpPr>
          <p:cNvPr id="547" name="Google Shape;547;g3981e5c5615_0_2"/>
          <p:cNvSpPr txBox="1"/>
          <p:nvPr/>
        </p:nvSpPr>
        <p:spPr>
          <a:xfrm>
            <a:off x="5327081" y="4912350"/>
            <a:ext cx="976800" cy="7389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continue with router code</a:t>
            </a:r>
            <a:endParaRPr b="0" i="0" sz="1200" u="none" cap="none" strike="noStrike">
              <a:solidFill>
                <a:schemeClr val="dk1"/>
              </a:solidFill>
              <a:latin typeface="Arial"/>
              <a:ea typeface="Arial"/>
              <a:cs typeface="Arial"/>
              <a:sym typeface="Arial"/>
            </a:endParaRPr>
          </a:p>
        </p:txBody>
      </p:sp>
      <p:sp>
        <p:nvSpPr>
          <p:cNvPr id="548" name="Google Shape;548;g3981e5c5615_0_2"/>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981e5c5615_0_8"/>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Using Middleware for Authorization (Example 5)</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554" name="Google Shape;554;g3981e5c5615_0_8"/>
          <p:cNvSpPr txBox="1"/>
          <p:nvPr/>
        </p:nvSpPr>
        <p:spPr>
          <a:xfrm>
            <a:off x="228600" y="1497450"/>
            <a:ext cx="10509600" cy="51348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This example demonstrates how to use middleware to protect the routes</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From the provided resources folder, use the VS Code terminal to navigate to the </a:t>
            </a:r>
            <a:r>
              <a:rPr b="1" i="0" lang="en-US" sz="1600" u="none" cap="none" strike="noStrike">
                <a:solidFill>
                  <a:srgbClr val="0000FF"/>
                </a:solidFill>
                <a:latin typeface="Arial"/>
                <a:ea typeface="Arial"/>
                <a:cs typeface="Arial"/>
                <a:sym typeface="Arial"/>
              </a:rPr>
              <a:t>example5</a:t>
            </a:r>
            <a:r>
              <a:rPr b="0" i="0" lang="en-US" sz="1600" u="none" cap="none" strike="noStrike">
                <a:solidFill>
                  <a:srgbClr val="000000"/>
                </a:solidFill>
                <a:latin typeface="Arial"/>
                <a:ea typeface="Arial"/>
                <a:cs typeface="Arial"/>
                <a:sym typeface="Arial"/>
              </a:rPr>
              <a:t> directory</a:t>
            </a:r>
            <a:endParaRPr b="0" i="0" sz="16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US" sz="1600" u="none" cap="none" strike="noStrike">
                <a:solidFill>
                  <a:schemeClr val="dk1"/>
                </a:solidFill>
                <a:latin typeface="Arial"/>
                <a:ea typeface="Arial"/>
                <a:cs typeface="Arial"/>
                <a:sym typeface="Arial"/>
              </a:rPr>
              <a:t>Install missing dependencies (if any) from package.json </a:t>
            </a:r>
            <a:endParaRPr b="0" i="0" sz="1600" u="none" cap="none" strike="noStrike">
              <a:solidFill>
                <a:schemeClr val="dk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npm install</a:t>
            </a:r>
            <a:endParaRPr b="0" i="0" sz="1600" u="none" cap="none" strike="noStrike">
              <a:solidFill>
                <a:srgbClr val="0000FF"/>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Enter the following command in the terminal to start the Express server.</a:t>
            </a:r>
            <a:endParaRPr b="0" i="0" sz="1600" u="none" cap="none" strike="noStrike">
              <a:solidFill>
                <a:srgbClr val="000000"/>
              </a:solidFill>
              <a:latin typeface="Arial"/>
              <a:ea typeface="Arial"/>
              <a:cs typeface="Arial"/>
              <a:sym typeface="Arial"/>
            </a:endParaRPr>
          </a:p>
          <a:p>
            <a:pPr indent="0" lvl="0" marL="457200" marR="0" rtl="0" algn="just">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nodemon server.js</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Next, open a browser (e.g., Chrome) and navigate to: </a:t>
            </a:r>
            <a:r>
              <a:rPr b="0" i="0" lang="en-US" sz="1400" u="sng" cap="none" strike="noStrike">
                <a:solidFill>
                  <a:srgbClr val="0000FF"/>
                </a:solidFill>
                <a:latin typeface="Roboto Mono"/>
                <a:ea typeface="Roboto Mono"/>
                <a:cs typeface="Roboto Mono"/>
                <a:sym typeface="Roboto Mono"/>
                <a:hlinkClick r:id="rId3">
                  <a:extLst>
                    <a:ext uri="{A12FA001-AC4F-418D-AE19-62706E023703}">
                      <ahyp:hlinkClr val="tx"/>
                    </a:ext>
                  </a:extLst>
                </a:hlinkClick>
              </a:rPr>
              <a:t>http://localhost:8000/</a:t>
            </a:r>
            <a:endParaRPr b="0" i="0" sz="1600" u="none" cap="none" strike="noStrike">
              <a:solidFill>
                <a:schemeClr val="dk1"/>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The web application will behave as same as exercise 5 solution</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55" name="Google Shape;555;g3981e5c5615_0_8"/>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3981e5c5615_0_18"/>
          <p:cNvSpPr txBox="1"/>
          <p:nvPr/>
        </p:nvSpPr>
        <p:spPr>
          <a:xfrm>
            <a:off x="228600" y="1556975"/>
            <a:ext cx="6522600" cy="23619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exports.profile = (req, res) =&gt; {</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   res.render('profile', { user: req.session.user });</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exports.adminProfile = (req, res) =&gt; {</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   res.render('admin-profile', { user: req.session.user });</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Mono"/>
              <a:ea typeface="Roboto Mono"/>
              <a:cs typeface="Roboto Mono"/>
              <a:sym typeface="Roboto Mono"/>
            </a:endParaRPr>
          </a:p>
        </p:txBody>
      </p:sp>
      <p:sp>
        <p:nvSpPr>
          <p:cNvPr id="561" name="Google Shape;561;g3981e5c5615_0_18"/>
          <p:cNvSpPr txBox="1"/>
          <p:nvPr/>
        </p:nvSpPr>
        <p:spPr>
          <a:xfrm>
            <a:off x="2190000" y="3987750"/>
            <a:ext cx="2599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Roboto Mono"/>
                <a:ea typeface="Roboto Mono"/>
                <a:cs typeface="Roboto Mono"/>
                <a:sym typeface="Roboto Mono"/>
              </a:rPr>
              <a:t>users-controller.js</a:t>
            </a:r>
            <a:endParaRPr b="1" i="0" sz="1400" u="sng" cap="none" strike="noStrike">
              <a:solidFill>
                <a:srgbClr val="000000"/>
              </a:solidFill>
              <a:latin typeface="Roboto Mono"/>
              <a:ea typeface="Roboto Mono"/>
              <a:cs typeface="Roboto Mono"/>
              <a:sym typeface="Roboto Mono"/>
            </a:endParaRPr>
          </a:p>
        </p:txBody>
      </p:sp>
      <p:sp>
        <p:nvSpPr>
          <p:cNvPr id="562" name="Google Shape;562;g3981e5c5615_0_18"/>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Using Middleware for Authorization (Example 5)</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563" name="Google Shape;563;g3981e5c5615_0_18"/>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
        <p:nvSpPr>
          <p:cNvPr id="564" name="Google Shape;564;g3981e5c5615_0_18"/>
          <p:cNvSpPr txBox="1"/>
          <p:nvPr/>
        </p:nvSpPr>
        <p:spPr>
          <a:xfrm>
            <a:off x="228600" y="4456825"/>
            <a:ext cx="8947800" cy="15567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router.get('/profile',authMiddleware.isLoggedIn, usersController.profile);</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router.get('/admin-profile',authMiddleware.isAdmin, usersController.adminProfile);</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Mono"/>
              <a:ea typeface="Roboto Mono"/>
              <a:cs typeface="Roboto Mono"/>
              <a:sym typeface="Roboto Mono"/>
            </a:endParaRPr>
          </a:p>
        </p:txBody>
      </p:sp>
      <p:sp>
        <p:nvSpPr>
          <p:cNvPr id="565" name="Google Shape;565;g3981e5c5615_0_18"/>
          <p:cNvSpPr/>
          <p:nvPr/>
        </p:nvSpPr>
        <p:spPr>
          <a:xfrm>
            <a:off x="3181650" y="5131375"/>
            <a:ext cx="2648100" cy="3651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sp>
        <p:nvSpPr>
          <p:cNvPr id="566" name="Google Shape;566;g3981e5c5615_0_18"/>
          <p:cNvSpPr txBox="1"/>
          <p:nvPr/>
        </p:nvSpPr>
        <p:spPr>
          <a:xfrm>
            <a:off x="3402600" y="6013525"/>
            <a:ext cx="2599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Roboto Mono"/>
                <a:ea typeface="Roboto Mono"/>
                <a:cs typeface="Roboto Mono"/>
                <a:sym typeface="Roboto Mono"/>
              </a:rPr>
              <a:t>user-routes.js</a:t>
            </a:r>
            <a:endParaRPr b="1" i="0" sz="1400" u="sng" cap="none" strike="noStrike">
              <a:solidFill>
                <a:srgbClr val="000000"/>
              </a:solidFill>
              <a:latin typeface="Roboto Mono"/>
              <a:ea typeface="Roboto Mono"/>
              <a:cs typeface="Roboto Mono"/>
              <a:sym typeface="Roboto Mono"/>
            </a:endParaRPr>
          </a:p>
        </p:txBody>
      </p:sp>
      <p:sp>
        <p:nvSpPr>
          <p:cNvPr id="567" name="Google Shape;567;g3981e5c5615_0_18"/>
          <p:cNvSpPr/>
          <p:nvPr/>
        </p:nvSpPr>
        <p:spPr>
          <a:xfrm>
            <a:off x="2560825" y="4494425"/>
            <a:ext cx="2900100" cy="3507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sp>
        <p:nvSpPr>
          <p:cNvPr id="568" name="Google Shape;568;g3981e5c5615_0_18"/>
          <p:cNvSpPr/>
          <p:nvPr/>
        </p:nvSpPr>
        <p:spPr>
          <a:xfrm>
            <a:off x="281550" y="2868425"/>
            <a:ext cx="6333900" cy="10251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sp>
        <p:nvSpPr>
          <p:cNvPr id="569" name="Google Shape;569;g3981e5c5615_0_18"/>
          <p:cNvSpPr txBox="1"/>
          <p:nvPr/>
        </p:nvSpPr>
        <p:spPr>
          <a:xfrm>
            <a:off x="8423975" y="2015975"/>
            <a:ext cx="3079200" cy="923400"/>
          </a:xfrm>
          <a:prstGeom prst="rect">
            <a:avLst/>
          </a:prstGeom>
          <a:solidFill>
            <a:srgbClr val="9FC5E8"/>
          </a:solid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Controllers are cleared up from authorization logic</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70" name="Google Shape;570;g3981e5c5615_0_18"/>
          <p:cNvSpPr/>
          <p:nvPr/>
        </p:nvSpPr>
        <p:spPr>
          <a:xfrm>
            <a:off x="281550" y="1600975"/>
            <a:ext cx="5720700" cy="10251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cxnSp>
        <p:nvCxnSpPr>
          <p:cNvPr id="571" name="Google Shape;571;g3981e5c5615_0_18"/>
          <p:cNvCxnSpPr>
            <a:stCxn id="569" idx="1"/>
            <a:endCxn id="570" idx="3"/>
          </p:cNvCxnSpPr>
          <p:nvPr/>
        </p:nvCxnSpPr>
        <p:spPr>
          <a:xfrm rot="10800000">
            <a:off x="6002375" y="2113475"/>
            <a:ext cx="2421600" cy="364200"/>
          </a:xfrm>
          <a:prstGeom prst="straightConnector1">
            <a:avLst/>
          </a:prstGeom>
          <a:noFill/>
          <a:ln cap="flat" cmpd="sng" w="19050">
            <a:solidFill>
              <a:srgbClr val="0000FF"/>
            </a:solidFill>
            <a:prstDash val="solid"/>
            <a:round/>
            <a:headEnd len="sm" w="sm" type="none"/>
            <a:tailEnd len="med" w="med" type="triangle"/>
          </a:ln>
        </p:spPr>
      </p:cxnSp>
      <p:cxnSp>
        <p:nvCxnSpPr>
          <p:cNvPr id="572" name="Google Shape;572;g3981e5c5615_0_18"/>
          <p:cNvCxnSpPr>
            <a:stCxn id="569" idx="1"/>
            <a:endCxn id="568" idx="3"/>
          </p:cNvCxnSpPr>
          <p:nvPr/>
        </p:nvCxnSpPr>
        <p:spPr>
          <a:xfrm flipH="1">
            <a:off x="6615575" y="2477675"/>
            <a:ext cx="1808400" cy="903300"/>
          </a:xfrm>
          <a:prstGeom prst="straightConnector1">
            <a:avLst/>
          </a:prstGeom>
          <a:noFill/>
          <a:ln cap="flat" cmpd="sng" w="19050">
            <a:solidFill>
              <a:srgbClr val="0000FF"/>
            </a:solidFill>
            <a:prstDash val="solid"/>
            <a:round/>
            <a:headEnd len="sm" w="sm" type="none"/>
            <a:tailEnd len="med" w="med" type="triangle"/>
          </a:ln>
        </p:spPr>
      </p:cxnSp>
      <p:sp>
        <p:nvSpPr>
          <p:cNvPr id="573" name="Google Shape;573;g3981e5c5615_0_18"/>
          <p:cNvSpPr txBox="1"/>
          <p:nvPr/>
        </p:nvSpPr>
        <p:spPr>
          <a:xfrm>
            <a:off x="9373776" y="4758250"/>
            <a:ext cx="2371500" cy="677100"/>
          </a:xfrm>
          <a:prstGeom prst="rect">
            <a:avLst/>
          </a:prstGeom>
          <a:solidFill>
            <a:srgbClr val="F9CB9C"/>
          </a:solidFill>
          <a:ln cap="flat" cmpd="sng" w="952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Routes calling the middleware functions</a:t>
            </a:r>
            <a:endParaRPr b="0" i="0" sz="1600" u="none" cap="none" strike="noStrike">
              <a:solidFill>
                <a:srgbClr val="000000"/>
              </a:solidFill>
              <a:latin typeface="Arial"/>
              <a:ea typeface="Arial"/>
              <a:cs typeface="Arial"/>
              <a:sym typeface="Arial"/>
            </a:endParaRPr>
          </a:p>
        </p:txBody>
      </p:sp>
      <p:cxnSp>
        <p:nvCxnSpPr>
          <p:cNvPr id="574" name="Google Shape;574;g3981e5c5615_0_18"/>
          <p:cNvCxnSpPr>
            <a:stCxn id="573" idx="1"/>
            <a:endCxn id="567" idx="3"/>
          </p:cNvCxnSpPr>
          <p:nvPr/>
        </p:nvCxnSpPr>
        <p:spPr>
          <a:xfrm rot="10800000">
            <a:off x="5460876" y="4669900"/>
            <a:ext cx="3912900" cy="426900"/>
          </a:xfrm>
          <a:prstGeom prst="straightConnector1">
            <a:avLst/>
          </a:prstGeom>
          <a:noFill/>
          <a:ln cap="flat" cmpd="sng" w="19050">
            <a:solidFill>
              <a:srgbClr val="FF9900"/>
            </a:solidFill>
            <a:prstDash val="solid"/>
            <a:round/>
            <a:headEnd len="sm" w="sm" type="none"/>
            <a:tailEnd len="med" w="med" type="triangle"/>
          </a:ln>
        </p:spPr>
      </p:cxnSp>
      <p:cxnSp>
        <p:nvCxnSpPr>
          <p:cNvPr id="575" name="Google Shape;575;g3981e5c5615_0_18"/>
          <p:cNvCxnSpPr>
            <a:stCxn id="573" idx="1"/>
            <a:endCxn id="565" idx="3"/>
          </p:cNvCxnSpPr>
          <p:nvPr/>
        </p:nvCxnSpPr>
        <p:spPr>
          <a:xfrm flipH="1">
            <a:off x="5829876" y="5096800"/>
            <a:ext cx="3543900" cy="217200"/>
          </a:xfrm>
          <a:prstGeom prst="straightConnector1">
            <a:avLst/>
          </a:prstGeom>
          <a:noFill/>
          <a:ln cap="flat" cmpd="sng" w="19050">
            <a:solidFill>
              <a:srgbClr val="FF9900"/>
            </a:solidFill>
            <a:prstDash val="solid"/>
            <a:round/>
            <a:headEnd len="sm" w="sm"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g3981e5c5615_0_51"/>
          <p:cNvSpPr txBox="1"/>
          <p:nvPr/>
        </p:nvSpPr>
        <p:spPr>
          <a:xfrm>
            <a:off x="228600" y="1791050"/>
            <a:ext cx="7046400" cy="27888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exports.isLoggedIn = (req, res, next) =&gt; {</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   if (!req.session.user) {</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       console.log("User not logged in, redirecting to /login");</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       return res.redirect('/login');</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   }</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   next();</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highlight>
                  <a:srgbClr val="FFFFFF"/>
                </a:highlight>
                <a:latin typeface="Roboto Mono"/>
                <a:ea typeface="Roboto Mono"/>
                <a:cs typeface="Roboto Mono"/>
                <a:sym typeface="Roboto Mono"/>
              </a:rPr>
              <a:t>...</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t/>
            </a:r>
            <a:endParaRPr b="0" i="0" sz="12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highlight>
                <a:srgbClr val="FFFFFF"/>
              </a:highlight>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Mono"/>
              <a:ea typeface="Roboto Mono"/>
              <a:cs typeface="Roboto Mono"/>
              <a:sym typeface="Roboto Mono"/>
            </a:endParaRPr>
          </a:p>
        </p:txBody>
      </p:sp>
      <p:sp>
        <p:nvSpPr>
          <p:cNvPr id="581" name="Google Shape;581;g3981e5c5615_0_51"/>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Using Middleware for Authorization (Example 5)</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582" name="Google Shape;582;g3981e5c5615_0_51"/>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
        <p:nvSpPr>
          <p:cNvPr id="583" name="Google Shape;583;g3981e5c5615_0_51"/>
          <p:cNvSpPr txBox="1"/>
          <p:nvPr/>
        </p:nvSpPr>
        <p:spPr>
          <a:xfrm>
            <a:off x="2451900" y="4774250"/>
            <a:ext cx="2599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Roboto Mono"/>
                <a:ea typeface="Roboto Mono"/>
                <a:cs typeface="Roboto Mono"/>
                <a:sym typeface="Roboto Mono"/>
              </a:rPr>
              <a:t>auth-middleware.js</a:t>
            </a:r>
            <a:endParaRPr b="1" i="0" sz="1400" u="sng" cap="none" strike="noStrike">
              <a:solidFill>
                <a:srgbClr val="000000"/>
              </a:solidFill>
              <a:latin typeface="Roboto Mono"/>
              <a:ea typeface="Roboto Mono"/>
              <a:cs typeface="Roboto Mono"/>
              <a:sym typeface="Roboto Mono"/>
            </a:endParaRPr>
          </a:p>
        </p:txBody>
      </p:sp>
      <p:sp>
        <p:nvSpPr>
          <p:cNvPr id="584" name="Google Shape;584;g3981e5c5615_0_51"/>
          <p:cNvSpPr/>
          <p:nvPr/>
        </p:nvSpPr>
        <p:spPr>
          <a:xfrm>
            <a:off x="539000" y="3436925"/>
            <a:ext cx="896700" cy="3507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cxnSp>
        <p:nvCxnSpPr>
          <p:cNvPr id="585" name="Google Shape;585;g3981e5c5615_0_51"/>
          <p:cNvCxnSpPr>
            <a:stCxn id="586" idx="1"/>
            <a:endCxn id="584" idx="3"/>
          </p:cNvCxnSpPr>
          <p:nvPr/>
        </p:nvCxnSpPr>
        <p:spPr>
          <a:xfrm rot="10800000">
            <a:off x="1435550" y="3612275"/>
            <a:ext cx="6387900" cy="0"/>
          </a:xfrm>
          <a:prstGeom prst="straightConnector1">
            <a:avLst/>
          </a:prstGeom>
          <a:noFill/>
          <a:ln cap="flat" cmpd="sng" w="19050">
            <a:solidFill>
              <a:srgbClr val="FF0000"/>
            </a:solidFill>
            <a:prstDash val="solid"/>
            <a:round/>
            <a:headEnd len="sm" w="sm" type="none"/>
            <a:tailEnd len="med" w="med" type="triangle"/>
          </a:ln>
        </p:spPr>
      </p:cxnSp>
      <p:sp>
        <p:nvSpPr>
          <p:cNvPr id="586" name="Google Shape;586;g3981e5c5615_0_51"/>
          <p:cNvSpPr txBox="1"/>
          <p:nvPr/>
        </p:nvSpPr>
        <p:spPr>
          <a:xfrm>
            <a:off x="7823450" y="3273725"/>
            <a:ext cx="3452100" cy="677100"/>
          </a:xfrm>
          <a:prstGeom prst="rect">
            <a:avLst/>
          </a:prstGeom>
          <a:solidFill>
            <a:srgbClr val="F4CCCC"/>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Call the next middleware function in the stack</a:t>
            </a:r>
            <a:endParaRPr b="0" i="0" sz="1600" u="none" cap="none" strike="noStrike">
              <a:solidFill>
                <a:srgbClr val="000000"/>
              </a:solidFill>
              <a:latin typeface="Arial"/>
              <a:ea typeface="Arial"/>
              <a:cs typeface="Arial"/>
              <a:sym typeface="Arial"/>
            </a:endParaRPr>
          </a:p>
        </p:txBody>
      </p:sp>
      <p:sp>
        <p:nvSpPr>
          <p:cNvPr id="587" name="Google Shape;587;g3981e5c5615_0_51"/>
          <p:cNvSpPr/>
          <p:nvPr/>
        </p:nvSpPr>
        <p:spPr>
          <a:xfrm>
            <a:off x="397700" y="2214475"/>
            <a:ext cx="6789900" cy="11730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sp>
        <p:nvSpPr>
          <p:cNvPr id="588" name="Google Shape;588;g3981e5c5615_0_51"/>
          <p:cNvSpPr txBox="1"/>
          <p:nvPr/>
        </p:nvSpPr>
        <p:spPr>
          <a:xfrm>
            <a:off x="7823444" y="2585413"/>
            <a:ext cx="1964100" cy="431100"/>
          </a:xfrm>
          <a:prstGeom prst="rect">
            <a:avLst/>
          </a:prstGeom>
          <a:solidFill>
            <a:srgbClr val="F9CB9C"/>
          </a:solidFill>
          <a:ln cap="flat" cmpd="sng" w="952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Authorization code</a:t>
            </a:r>
            <a:endParaRPr b="0" i="0" sz="1600" u="none" cap="none" strike="noStrike">
              <a:solidFill>
                <a:srgbClr val="000000"/>
              </a:solidFill>
              <a:latin typeface="Arial"/>
              <a:ea typeface="Arial"/>
              <a:cs typeface="Arial"/>
              <a:sym typeface="Arial"/>
            </a:endParaRPr>
          </a:p>
        </p:txBody>
      </p:sp>
      <p:cxnSp>
        <p:nvCxnSpPr>
          <p:cNvPr id="589" name="Google Shape;589;g3981e5c5615_0_51"/>
          <p:cNvCxnSpPr>
            <a:stCxn id="588" idx="1"/>
            <a:endCxn id="587" idx="3"/>
          </p:cNvCxnSpPr>
          <p:nvPr/>
        </p:nvCxnSpPr>
        <p:spPr>
          <a:xfrm rot="10800000">
            <a:off x="7187744" y="2800963"/>
            <a:ext cx="635700" cy="0"/>
          </a:xfrm>
          <a:prstGeom prst="straightConnector1">
            <a:avLst/>
          </a:prstGeom>
          <a:noFill/>
          <a:ln cap="flat" cmpd="sng" w="19050">
            <a:solidFill>
              <a:srgbClr val="FF9900"/>
            </a:solidFill>
            <a:prstDash val="solid"/>
            <a:round/>
            <a:headEnd len="sm" w="sm"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38dc83ce601_0_0"/>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Implement Logout Feature</a:t>
            </a:r>
            <a:r>
              <a:rPr b="1" i="0" lang="en-US" sz="2400" u="none" cap="none" strike="noStrike">
                <a:solidFill>
                  <a:srgbClr val="11175E"/>
                </a:solidFill>
                <a:latin typeface="Arial"/>
                <a:ea typeface="Arial"/>
                <a:cs typeface="Arial"/>
                <a:sym typeface="Arial"/>
              </a:rPr>
              <a:t> (Exercise 6)</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595" name="Google Shape;595;g38dc83ce601_0_0"/>
          <p:cNvSpPr txBox="1"/>
          <p:nvPr/>
        </p:nvSpPr>
        <p:spPr>
          <a:xfrm>
            <a:off x="228725" y="1485900"/>
            <a:ext cx="11731500" cy="5372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Exercise 6 - Implement Logout feature</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In this exercise you’ll implement the logout feature.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600" u="sng" cap="none" strike="noStrike">
                <a:solidFill>
                  <a:schemeClr val="dk1"/>
                </a:solidFill>
                <a:latin typeface="Arial"/>
                <a:ea typeface="Arial"/>
                <a:cs typeface="Arial"/>
                <a:sym typeface="Arial"/>
              </a:rPr>
              <a:t>Expected Browser Output</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596" name="Google Shape;596;g38dc83ce601_0_0"/>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cxnSp>
        <p:nvCxnSpPr>
          <p:cNvPr id="597" name="Google Shape;597;g38dc83ce601_0_0"/>
          <p:cNvCxnSpPr>
            <a:stCxn id="598" idx="3"/>
            <a:endCxn id="599" idx="1"/>
          </p:cNvCxnSpPr>
          <p:nvPr/>
        </p:nvCxnSpPr>
        <p:spPr>
          <a:xfrm>
            <a:off x="5111975" y="4171950"/>
            <a:ext cx="2165100" cy="0"/>
          </a:xfrm>
          <a:prstGeom prst="straightConnector1">
            <a:avLst/>
          </a:prstGeom>
          <a:noFill/>
          <a:ln cap="flat" cmpd="sng" w="9525">
            <a:solidFill>
              <a:schemeClr val="dk2"/>
            </a:solidFill>
            <a:prstDash val="solid"/>
            <a:round/>
            <a:headEnd len="sm" w="sm" type="none"/>
            <a:tailEnd len="med" w="med" type="triangle"/>
          </a:ln>
        </p:spPr>
      </p:cxnSp>
      <p:sp>
        <p:nvSpPr>
          <p:cNvPr id="600" name="Google Shape;600;g38dc83ce601_0_0"/>
          <p:cNvSpPr txBox="1"/>
          <p:nvPr/>
        </p:nvSpPr>
        <p:spPr>
          <a:xfrm>
            <a:off x="5471775" y="3681200"/>
            <a:ext cx="14454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Mono"/>
                <a:ea typeface="Roboto Mono"/>
                <a:cs typeface="Roboto Mono"/>
                <a:sym typeface="Roboto Mono"/>
              </a:rPr>
              <a:t>logout</a:t>
            </a:r>
            <a:endParaRPr b="0" i="0" sz="1400" u="none" cap="none" strike="noStrike">
              <a:solidFill>
                <a:srgbClr val="000000"/>
              </a:solidFill>
              <a:latin typeface="Roboto Mono"/>
              <a:ea typeface="Roboto Mono"/>
              <a:cs typeface="Roboto Mono"/>
              <a:sym typeface="Roboto Mono"/>
            </a:endParaRPr>
          </a:p>
        </p:txBody>
      </p:sp>
      <p:pic>
        <p:nvPicPr>
          <p:cNvPr id="598" name="Google Shape;598;g38dc83ce601_0_0"/>
          <p:cNvPicPr preferRelativeResize="0"/>
          <p:nvPr/>
        </p:nvPicPr>
        <p:blipFill rotWithShape="1">
          <a:blip r:embed="rId3">
            <a:alphaModFix/>
          </a:blip>
          <a:srcRect b="0" l="0" r="0" t="0"/>
          <a:stretch/>
        </p:blipFill>
        <p:spPr>
          <a:xfrm>
            <a:off x="339300" y="3275425"/>
            <a:ext cx="4772675" cy="1793050"/>
          </a:xfrm>
          <a:prstGeom prst="rect">
            <a:avLst/>
          </a:prstGeom>
          <a:noFill/>
          <a:ln cap="flat" cmpd="sng" w="9525">
            <a:solidFill>
              <a:srgbClr val="4A86E8"/>
            </a:solidFill>
            <a:prstDash val="solid"/>
            <a:round/>
            <a:headEnd len="sm" w="sm" type="none"/>
            <a:tailEnd len="sm" w="sm" type="none"/>
          </a:ln>
        </p:spPr>
      </p:pic>
      <p:pic>
        <p:nvPicPr>
          <p:cNvPr id="599" name="Google Shape;599;g38dc83ce601_0_0"/>
          <p:cNvPicPr preferRelativeResize="0"/>
          <p:nvPr/>
        </p:nvPicPr>
        <p:blipFill rotWithShape="1">
          <a:blip r:embed="rId4">
            <a:alphaModFix/>
          </a:blip>
          <a:srcRect b="0" l="0" r="0" t="0"/>
          <a:stretch/>
        </p:blipFill>
        <p:spPr>
          <a:xfrm>
            <a:off x="7276975" y="2881425"/>
            <a:ext cx="3609181" cy="2581050"/>
          </a:xfrm>
          <a:prstGeom prst="rect">
            <a:avLst/>
          </a:prstGeom>
          <a:noFill/>
          <a:ln cap="flat" cmpd="sng" w="9525">
            <a:solidFill>
              <a:srgbClr val="4A86E8"/>
            </a:solidFill>
            <a:prstDash val="solid"/>
            <a:round/>
            <a:headEnd len="sm" w="sm" type="none"/>
            <a:tailEnd len="sm" w="sm" type="none"/>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8dc83ce601_0_16"/>
          <p:cNvSpPr/>
          <p:nvPr/>
        </p:nvSpPr>
        <p:spPr>
          <a:xfrm>
            <a:off x="228725"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Implement Logout Feature</a:t>
            </a:r>
            <a:r>
              <a:rPr b="1" i="0" lang="en-US" sz="2400" u="none" cap="none" strike="noStrike">
                <a:solidFill>
                  <a:srgbClr val="11175E"/>
                </a:solidFill>
                <a:latin typeface="Arial"/>
                <a:ea typeface="Arial"/>
                <a:cs typeface="Arial"/>
                <a:sym typeface="Arial"/>
              </a:rPr>
              <a:t> (Exercise 6)</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606" name="Google Shape;606;g38dc83ce601_0_16"/>
          <p:cNvSpPr txBox="1"/>
          <p:nvPr/>
        </p:nvSpPr>
        <p:spPr>
          <a:xfrm>
            <a:off x="228600" y="1485900"/>
            <a:ext cx="11731500" cy="5148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Exercise 6 - Implement Logout Feature</a:t>
            </a:r>
            <a:endParaRPr b="1" i="0" sz="1600" u="sng"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Review the requirements below and follow the task instructions step by step to complete the exercise.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chemeClr val="dk1"/>
                </a:solidFill>
                <a:latin typeface="Arial"/>
                <a:ea typeface="Arial"/>
                <a:cs typeface="Arial"/>
                <a:sym typeface="Arial"/>
              </a:rPr>
              <a:t>Requirements: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Upon clicking logout from the profile page,</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Logout the user.</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Redirect users to login page.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1" i="0" lang="en-US" sz="1600" u="sng" cap="none" strike="noStrike">
                <a:solidFill>
                  <a:schemeClr val="dk1"/>
                </a:solidFill>
                <a:latin typeface="Arial"/>
                <a:ea typeface="Arial"/>
                <a:cs typeface="Arial"/>
                <a:sym typeface="Arial"/>
              </a:rPr>
              <a:t>Tasks:</a:t>
            </a:r>
            <a:endParaRPr b="1" i="0" sz="1600" u="sng"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Start with your solution to the exercise 5.</a:t>
            </a:r>
            <a:endParaRPr b="0" i="0" sz="16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rabicPeriod"/>
            </a:pPr>
            <a:r>
              <a:rPr b="0" i="0" lang="en-US" sz="1600" u="none" cap="none" strike="noStrike">
                <a:solidFill>
                  <a:schemeClr val="dk1"/>
                </a:solidFill>
                <a:latin typeface="Arial"/>
                <a:ea typeface="Arial"/>
                <a:cs typeface="Arial"/>
                <a:sym typeface="Arial"/>
              </a:rPr>
              <a:t>Install missing dependencies (if any) from package.json. </a:t>
            </a:r>
            <a:endParaRPr b="0" i="0" sz="16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npm install</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In the provided </a:t>
            </a:r>
            <a:r>
              <a:rPr b="1" i="0" lang="en-US" sz="1400" u="none" cap="none" strike="noStrike">
                <a:solidFill>
                  <a:srgbClr val="0000FF"/>
                </a:solidFill>
                <a:latin typeface="Roboto Mono"/>
                <a:ea typeface="Roboto Mono"/>
                <a:cs typeface="Roboto Mono"/>
                <a:sym typeface="Roboto Mono"/>
              </a:rPr>
              <a:t>user-controllers.js</a:t>
            </a:r>
            <a:r>
              <a:rPr b="0" i="0" lang="en-US" sz="1600" u="none" cap="none" strike="noStrike">
                <a:solidFill>
                  <a:schemeClr val="dk1"/>
                </a:solidFill>
                <a:latin typeface="Arial"/>
                <a:ea typeface="Arial"/>
                <a:cs typeface="Arial"/>
                <a:sym typeface="Arial"/>
              </a:rPr>
              <a:t> file,</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Modify the </a:t>
            </a:r>
            <a:r>
              <a:rPr b="1" i="0" lang="en-US" sz="1400" u="none" cap="none" strike="noStrike">
                <a:solidFill>
                  <a:srgbClr val="0000FF"/>
                </a:solidFill>
                <a:latin typeface="Roboto Mono"/>
                <a:ea typeface="Roboto Mono"/>
                <a:cs typeface="Roboto Mono"/>
                <a:sym typeface="Roboto Mono"/>
              </a:rPr>
              <a:t>logout </a:t>
            </a:r>
            <a:r>
              <a:rPr b="0" i="0" lang="en-US" sz="1600" u="none" cap="none" strike="noStrike">
                <a:solidFill>
                  <a:schemeClr val="dk1"/>
                </a:solidFill>
                <a:latin typeface="Arial"/>
                <a:ea typeface="Arial"/>
                <a:cs typeface="Arial"/>
                <a:sym typeface="Arial"/>
              </a:rPr>
              <a:t>function to destroy the session, and redirect the user to /login.</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07" name="Google Shape;607;g38dc83ce601_0_16"/>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44c60f6e55_0_410"/>
          <p:cNvSpPr txBox="1"/>
          <p:nvPr/>
        </p:nvSpPr>
        <p:spPr>
          <a:xfrm>
            <a:off x="217750" y="1497450"/>
            <a:ext cx="11694600" cy="51219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20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Why Storing Passwords in Plain Text Needs to be Avoided:</a:t>
            </a:r>
            <a:endParaRPr b="1" i="0" sz="1600" u="none" cap="none" strike="noStrike">
              <a:solidFill>
                <a:schemeClr val="dk1"/>
              </a:solidFill>
              <a:latin typeface="Arial"/>
              <a:ea typeface="Arial"/>
              <a:cs typeface="Arial"/>
              <a:sym typeface="Arial"/>
            </a:endParaRPr>
          </a:p>
          <a:p>
            <a:pPr indent="-330200" lvl="0" marL="457200" marR="0" rtl="0" algn="just">
              <a:lnSpc>
                <a:spcPct val="115000"/>
              </a:lnSpc>
              <a:spcBef>
                <a:spcPts val="12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Storing passwords in plain text exposes them to anyone who gains unauthorized access to the passwords.</a:t>
            </a:r>
            <a:endParaRPr b="0" i="0" sz="1600" u="none" cap="none" strike="noStrike">
              <a:solidFill>
                <a:schemeClr val="dk1"/>
              </a:solidFill>
              <a:latin typeface="Arial"/>
              <a:ea typeface="Arial"/>
              <a:cs typeface="Arial"/>
              <a:sym typeface="Arial"/>
            </a:endParaRPr>
          </a:p>
          <a:p>
            <a:pPr indent="-330200" lvl="0" marL="457200" marR="0" rtl="0" algn="just">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 case of a data breach, attackers can easily retrieve and misuse all user passwords.</a:t>
            </a:r>
            <a:br>
              <a:rPr b="0" i="0" lang="en-US" sz="1600" u="none" cap="none" strike="noStrike">
                <a:solidFill>
                  <a:schemeClr val="dk1"/>
                </a:solidFill>
                <a:latin typeface="Arial"/>
                <a:ea typeface="Arial"/>
                <a:cs typeface="Arial"/>
                <a:sym typeface="Arial"/>
              </a:rPr>
            </a:br>
            <a:endParaRPr b="0" i="0" sz="16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Solution: Hashing Passwords</a:t>
            </a:r>
            <a:endParaRPr b="0" i="0" sz="1600" u="none" cap="none" strike="noStrike">
              <a:solidFill>
                <a:schemeClr val="dk1"/>
              </a:solidFill>
              <a:latin typeface="Arial"/>
              <a:ea typeface="Arial"/>
              <a:cs typeface="Arial"/>
              <a:sym typeface="Arial"/>
            </a:endParaRPr>
          </a:p>
          <a:p>
            <a:pPr indent="-330200" lvl="0" marL="457200" marR="0" rtl="0" algn="just">
              <a:lnSpc>
                <a:spcPct val="115000"/>
              </a:lnSpc>
              <a:spcBef>
                <a:spcPts val="12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Hashing is a process that turns input data (like passwords) into an irreversible, fixed-length string, known as a </a:t>
            </a:r>
            <a:r>
              <a:rPr b="1" i="0" lang="en-US" sz="1600" u="none" cap="none" strike="noStrike">
                <a:solidFill>
                  <a:schemeClr val="dk1"/>
                </a:solidFill>
                <a:latin typeface="Arial"/>
                <a:ea typeface="Arial"/>
                <a:cs typeface="Arial"/>
                <a:sym typeface="Arial"/>
              </a:rPr>
              <a:t>hash</a:t>
            </a:r>
            <a:r>
              <a:rPr b="0" i="0" lang="en-US" sz="1600" u="none" cap="none" strike="noStrike">
                <a:solidFill>
                  <a:schemeClr val="dk1"/>
                </a:solidFill>
                <a:latin typeface="Arial"/>
                <a:ea typeface="Arial"/>
                <a:cs typeface="Arial"/>
                <a:sym typeface="Arial"/>
              </a:rPr>
              <a:t>. making them unreadable even if the database is compromised.</a:t>
            </a:r>
            <a:endParaRPr b="0" i="0" sz="1600" u="none" cap="none" strike="noStrike">
              <a:solidFill>
                <a:schemeClr val="dk1"/>
              </a:solidFill>
              <a:latin typeface="Arial"/>
              <a:ea typeface="Arial"/>
              <a:cs typeface="Arial"/>
              <a:sym typeface="Arial"/>
            </a:endParaRPr>
          </a:p>
          <a:p>
            <a:pPr indent="-330200" lvl="1" marL="914400" marR="0" rtl="0" algn="just">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strong, modern hashing algorithms (e.g., bcrypt, Argon2) for enhanced security.</a:t>
            </a:r>
            <a:endParaRPr b="0" i="0" sz="1600" u="none" cap="none" strike="noStrike">
              <a:solidFill>
                <a:schemeClr val="dk1"/>
              </a:solidFill>
              <a:latin typeface="Arial"/>
              <a:ea typeface="Arial"/>
              <a:cs typeface="Arial"/>
              <a:sym typeface="Arial"/>
            </a:endParaRPr>
          </a:p>
          <a:p>
            <a:pPr indent="0" lvl="0" marL="457200" marR="0" rtl="0" algn="just">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More About Hashing:</a:t>
            </a:r>
            <a:endParaRPr b="1" i="0" sz="1600" u="none" cap="none" strike="noStrike">
              <a:solidFill>
                <a:schemeClr val="dk1"/>
              </a:solidFill>
              <a:latin typeface="Arial"/>
              <a:ea typeface="Arial"/>
              <a:cs typeface="Arial"/>
              <a:sym typeface="Arial"/>
            </a:endParaRPr>
          </a:p>
          <a:p>
            <a:pPr indent="-330200" lvl="0" marL="457200" marR="0" rtl="0" algn="just">
              <a:lnSpc>
                <a:spcPct val="115000"/>
              </a:lnSpc>
              <a:spcBef>
                <a:spcPts val="120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One-way process:</a:t>
            </a:r>
            <a:r>
              <a:rPr b="0" i="0" lang="en-US" sz="1600" u="none" cap="none" strike="noStrike">
                <a:solidFill>
                  <a:schemeClr val="dk1"/>
                </a:solidFill>
                <a:latin typeface="Arial"/>
                <a:ea typeface="Arial"/>
                <a:cs typeface="Arial"/>
                <a:sym typeface="Arial"/>
              </a:rPr>
              <a:t> Once data is hashed, it can't be turned back into the original input.</a:t>
            </a:r>
            <a:endParaRPr b="0" i="0" sz="1600" u="none" cap="none" strike="noStrike">
              <a:solidFill>
                <a:schemeClr val="dk1"/>
              </a:solidFill>
              <a:latin typeface="Arial"/>
              <a:ea typeface="Arial"/>
              <a:cs typeface="Arial"/>
              <a:sym typeface="Arial"/>
            </a:endParaRPr>
          </a:p>
          <a:p>
            <a:pPr indent="-330200" lvl="0" marL="457200" marR="0" rtl="0" algn="just">
              <a:lnSpc>
                <a:spcPct val="115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Deterministic:</a:t>
            </a:r>
            <a:r>
              <a:rPr b="0" i="0" lang="en-US" sz="1600" u="none" cap="none" strike="noStrike">
                <a:solidFill>
                  <a:schemeClr val="dk1"/>
                </a:solidFill>
                <a:latin typeface="Arial"/>
                <a:ea typeface="Arial"/>
                <a:cs typeface="Arial"/>
                <a:sym typeface="Arial"/>
              </a:rPr>
              <a:t> The same input will always result in the same hash.</a:t>
            </a:r>
            <a:endParaRPr b="0" i="0" sz="1600" u="none" cap="none" strike="noStrike">
              <a:solidFill>
                <a:schemeClr val="dk1"/>
              </a:solidFill>
              <a:latin typeface="Arial"/>
              <a:ea typeface="Arial"/>
              <a:cs typeface="Arial"/>
              <a:sym typeface="Arial"/>
            </a:endParaRPr>
          </a:p>
          <a:p>
            <a:pPr indent="-330200" lvl="0" marL="457200" marR="0" rtl="0" algn="just">
              <a:lnSpc>
                <a:spcPct val="115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Fast and Secure:</a:t>
            </a:r>
            <a:r>
              <a:rPr b="0" i="0" lang="en-US" sz="1600" u="none" cap="none" strike="noStrike">
                <a:solidFill>
                  <a:schemeClr val="dk1"/>
                </a:solidFill>
                <a:latin typeface="Arial"/>
                <a:ea typeface="Arial"/>
                <a:cs typeface="Arial"/>
                <a:sym typeface="Arial"/>
              </a:rPr>
              <a:t> Hashing algorithms are quick to compute (but some, like bcrypt, add delays to make brute-force attacks harder)</a:t>
            </a:r>
            <a:endParaRPr b="0" i="0" sz="1600" u="none" cap="none" strike="noStrike">
              <a:solidFill>
                <a:schemeClr val="dk1"/>
              </a:solidFill>
              <a:latin typeface="Arial"/>
              <a:ea typeface="Arial"/>
              <a:cs typeface="Arial"/>
              <a:sym typeface="Arial"/>
            </a:endParaRPr>
          </a:p>
          <a:p>
            <a:pPr indent="0" lvl="0" marL="914400" marR="0" rtl="0" algn="just">
              <a:lnSpc>
                <a:spcPct val="100000"/>
              </a:lnSpc>
              <a:spcBef>
                <a:spcPts val="120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13" name="Google Shape;613;g344c60f6e55_0_410"/>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Hashing Passwords</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000000"/>
              </a:solidFill>
              <a:latin typeface="Arial"/>
              <a:ea typeface="Arial"/>
              <a:cs typeface="Arial"/>
              <a:sym typeface="Arial"/>
            </a:endParaRPr>
          </a:p>
        </p:txBody>
      </p:sp>
      <p:sp>
        <p:nvSpPr>
          <p:cNvPr id="614" name="Google Shape;614;g344c60f6e55_0_410"/>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44c60f6e55_0_438"/>
          <p:cNvSpPr txBox="1"/>
          <p:nvPr/>
        </p:nvSpPr>
        <p:spPr>
          <a:xfrm>
            <a:off x="217750" y="1497450"/>
            <a:ext cx="11694600" cy="51219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We will use bcrypt algorithm to hash our passwords. </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bcrypt is modern and considered a strong hashing algorithm.</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To install bcrypt, &gt; </a:t>
            </a:r>
            <a:r>
              <a:rPr b="1" i="0" lang="en-US" sz="1600" u="none" cap="none" strike="noStrike">
                <a:solidFill>
                  <a:srgbClr val="0000FF"/>
                </a:solidFill>
                <a:latin typeface="Roboto Mono"/>
                <a:ea typeface="Roboto Mono"/>
                <a:cs typeface="Roboto Mono"/>
                <a:sym typeface="Roboto Mono"/>
              </a:rPr>
              <a:t>npm install bcrypt</a:t>
            </a:r>
            <a:endParaRPr b="1" i="0" sz="1600" u="none" cap="none" strike="noStrike">
              <a:solidFill>
                <a:srgbClr val="0000FF"/>
              </a:solidFill>
              <a:latin typeface="Roboto Mono"/>
              <a:ea typeface="Roboto Mono"/>
              <a:cs typeface="Roboto Mono"/>
              <a:sym typeface="Roboto Mono"/>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20" name="Google Shape;620;g344c60f6e55_0_438"/>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Hashing in Express</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000000"/>
              </a:solidFill>
              <a:latin typeface="Arial"/>
              <a:ea typeface="Arial"/>
              <a:cs typeface="Arial"/>
              <a:sym typeface="Arial"/>
            </a:endParaRPr>
          </a:p>
        </p:txBody>
      </p:sp>
      <p:sp>
        <p:nvSpPr>
          <p:cNvPr id="621" name="Google Shape;621;g344c60f6e55_0_438"/>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g394c25f66fd_0_694"/>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Hashing and Comparing the Hash (Example 6)</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627" name="Google Shape;627;g394c25f66fd_0_694"/>
          <p:cNvSpPr txBox="1"/>
          <p:nvPr/>
        </p:nvSpPr>
        <p:spPr>
          <a:xfrm>
            <a:off x="228600" y="1497450"/>
            <a:ext cx="5641800" cy="51348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This example demonstrates how to work with hashed passwords.</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From the provided resources folder, use the VS Code terminal to navigate to the </a:t>
            </a:r>
            <a:r>
              <a:rPr b="1" i="0" lang="en-US" sz="1600" u="none" cap="none" strike="noStrike">
                <a:solidFill>
                  <a:srgbClr val="0000FF"/>
                </a:solidFill>
                <a:latin typeface="Arial"/>
                <a:ea typeface="Arial"/>
                <a:cs typeface="Arial"/>
                <a:sym typeface="Arial"/>
              </a:rPr>
              <a:t>example6</a:t>
            </a:r>
            <a:r>
              <a:rPr b="0" i="0" lang="en-US" sz="1600" u="none" cap="none" strike="noStrike">
                <a:solidFill>
                  <a:srgbClr val="000000"/>
                </a:solidFill>
                <a:latin typeface="Arial"/>
                <a:ea typeface="Arial"/>
                <a:cs typeface="Arial"/>
                <a:sym typeface="Arial"/>
              </a:rPr>
              <a:t> directory.</a:t>
            </a:r>
            <a:endParaRPr b="0" i="0" sz="1600" u="none" cap="none" strike="noStrike">
              <a:solidFill>
                <a:srgbClr val="000000"/>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Char char="●"/>
            </a:pPr>
            <a:r>
              <a:rPr b="0" i="0" lang="en-US" sz="1600" u="none" cap="none" strike="noStrike">
                <a:solidFill>
                  <a:schemeClr val="dk1"/>
                </a:solidFill>
                <a:latin typeface="Arial"/>
                <a:ea typeface="Arial"/>
                <a:cs typeface="Arial"/>
                <a:sym typeface="Arial"/>
              </a:rPr>
              <a:t>Install missing dependencies (if any) from package.json </a:t>
            </a:r>
            <a:endParaRPr b="0" i="0" sz="1600" u="none" cap="none" strike="noStrike">
              <a:solidFill>
                <a:schemeClr val="dk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npm install</a:t>
            </a:r>
            <a:endParaRPr b="0" i="0" sz="1600" u="none" cap="none" strike="noStrike">
              <a:solidFill>
                <a:srgbClr val="0000FF"/>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Enter the following command in the terminal to start the Express server.</a:t>
            </a:r>
            <a:endParaRPr b="0" i="0" sz="1600" u="none" cap="none" strike="noStrike">
              <a:solidFill>
                <a:srgbClr val="000000"/>
              </a:solidFill>
              <a:latin typeface="Arial"/>
              <a:ea typeface="Arial"/>
              <a:cs typeface="Arial"/>
              <a:sym typeface="Arial"/>
            </a:endParaRPr>
          </a:p>
          <a:p>
            <a:pPr indent="0" lvl="0" marL="457200" marR="0" rtl="0" algn="just">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nodemon server.js</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Next, open a browser (e.g., Chrome) and navigate to: </a:t>
            </a:r>
            <a:r>
              <a:rPr b="0" i="0" lang="en-US" sz="1400" u="sng" cap="none" strike="noStrike">
                <a:solidFill>
                  <a:srgbClr val="0000FF"/>
                </a:solidFill>
                <a:latin typeface="Roboto Mono"/>
                <a:ea typeface="Roboto Mono"/>
                <a:cs typeface="Roboto Mono"/>
                <a:sym typeface="Roboto Mono"/>
                <a:hlinkClick r:id="rId3">
                  <a:extLst>
                    <a:ext uri="{A12FA001-AC4F-418D-AE19-62706E023703}">
                      <ahyp:hlinkClr val="tx"/>
                    </a:ext>
                  </a:extLst>
                </a:hlinkClick>
              </a:rPr>
              <a:t>http://localhost:8000/</a:t>
            </a:r>
            <a:r>
              <a:rPr b="0" i="0" lang="en-US" sz="1600" u="none" cap="none" strike="noStrike">
                <a:solidFill>
                  <a:srgbClr val="000000"/>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The page will display output similar to the Figure 1.</a:t>
            </a:r>
            <a:endParaRPr b="0" i="0" sz="1600" u="none" cap="none" strike="noStrike">
              <a:solidFill>
                <a:schemeClr val="dk1"/>
              </a:solidFill>
              <a:latin typeface="Arial"/>
              <a:ea typeface="Arial"/>
              <a:cs typeface="Arial"/>
              <a:sym typeface="Arial"/>
            </a:endParaRPr>
          </a:p>
          <a:p>
            <a:pPr indent="-330200" lvl="0" marL="457200" marR="0" rtl="0" algn="just">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Next, enter a text in to the input field and click submit</a:t>
            </a:r>
            <a:endParaRPr b="0" i="0" sz="1600" u="none" cap="none" strike="noStrike">
              <a:solidFill>
                <a:schemeClr val="dk1"/>
              </a:solidFill>
              <a:latin typeface="Arial"/>
              <a:ea typeface="Arial"/>
              <a:cs typeface="Arial"/>
              <a:sym typeface="Arial"/>
            </a:endParaRPr>
          </a:p>
          <a:p>
            <a:pPr indent="-330200" lvl="0" marL="457200" marR="0" rtl="0" algn="just">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Terminal will display output similar to Figure 2.</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8" name="Google Shape;628;g394c25f66fd_0_694"/>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pic>
        <p:nvPicPr>
          <p:cNvPr id="629" name="Google Shape;629;g394c25f66fd_0_694"/>
          <p:cNvPicPr preferRelativeResize="0"/>
          <p:nvPr/>
        </p:nvPicPr>
        <p:blipFill rotWithShape="1">
          <a:blip r:embed="rId4">
            <a:alphaModFix/>
          </a:blip>
          <a:srcRect b="-6883" l="0" r="21482" t="0"/>
          <a:stretch/>
        </p:blipFill>
        <p:spPr>
          <a:xfrm>
            <a:off x="6332213" y="4352625"/>
            <a:ext cx="5580124" cy="1134575"/>
          </a:xfrm>
          <a:prstGeom prst="rect">
            <a:avLst/>
          </a:prstGeom>
          <a:noFill/>
          <a:ln cap="flat" cmpd="sng" w="9525">
            <a:solidFill>
              <a:srgbClr val="4A86E8"/>
            </a:solidFill>
            <a:prstDash val="solid"/>
            <a:round/>
            <a:headEnd len="sm" w="sm" type="none"/>
            <a:tailEnd len="sm" w="sm" type="none"/>
          </a:ln>
        </p:spPr>
      </p:pic>
      <p:pic>
        <p:nvPicPr>
          <p:cNvPr id="630" name="Google Shape;630;g394c25f66fd_0_694"/>
          <p:cNvPicPr preferRelativeResize="0"/>
          <p:nvPr/>
        </p:nvPicPr>
        <p:blipFill rotWithShape="1">
          <a:blip r:embed="rId5">
            <a:alphaModFix/>
          </a:blip>
          <a:srcRect b="0" l="0" r="0" t="0"/>
          <a:stretch/>
        </p:blipFill>
        <p:spPr>
          <a:xfrm>
            <a:off x="7770461" y="1758750"/>
            <a:ext cx="2703650" cy="1823375"/>
          </a:xfrm>
          <a:prstGeom prst="rect">
            <a:avLst/>
          </a:prstGeom>
          <a:noFill/>
          <a:ln cap="flat" cmpd="sng" w="9525">
            <a:solidFill>
              <a:srgbClr val="4A86E8"/>
            </a:solidFill>
            <a:prstDash val="solid"/>
            <a:round/>
            <a:headEnd len="sm" w="sm" type="none"/>
            <a:tailEnd len="sm" w="sm" type="none"/>
          </a:ln>
        </p:spPr>
      </p:pic>
      <p:sp>
        <p:nvSpPr>
          <p:cNvPr id="631" name="Google Shape;631;g394c25f66fd_0_694"/>
          <p:cNvSpPr txBox="1"/>
          <p:nvPr/>
        </p:nvSpPr>
        <p:spPr>
          <a:xfrm>
            <a:off x="8631913" y="3663775"/>
            <a:ext cx="980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Arial"/>
                <a:ea typeface="Arial"/>
                <a:cs typeface="Arial"/>
                <a:sym typeface="Arial"/>
              </a:rPr>
              <a:t>Figure 1</a:t>
            </a:r>
            <a:endParaRPr b="1" i="0" sz="1400" u="sng" cap="none" strike="noStrike">
              <a:solidFill>
                <a:srgbClr val="000000"/>
              </a:solidFill>
              <a:latin typeface="Arial"/>
              <a:ea typeface="Arial"/>
              <a:cs typeface="Arial"/>
              <a:sym typeface="Arial"/>
            </a:endParaRPr>
          </a:p>
        </p:txBody>
      </p:sp>
      <p:sp>
        <p:nvSpPr>
          <p:cNvPr id="632" name="Google Shape;632;g394c25f66fd_0_694"/>
          <p:cNvSpPr txBox="1"/>
          <p:nvPr/>
        </p:nvSpPr>
        <p:spPr>
          <a:xfrm>
            <a:off x="8631913" y="5540675"/>
            <a:ext cx="980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Arial"/>
                <a:ea typeface="Arial"/>
                <a:cs typeface="Arial"/>
                <a:sym typeface="Arial"/>
              </a:rPr>
              <a:t>Figure 2</a:t>
            </a:r>
            <a:endParaRPr b="1" i="0" sz="1400" u="sng"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94c25f66fd_0_702"/>
          <p:cNvSpPr txBox="1"/>
          <p:nvPr/>
        </p:nvSpPr>
        <p:spPr>
          <a:xfrm>
            <a:off x="228600" y="1556975"/>
            <a:ext cx="7861200" cy="28566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server.post('/', async (req, res) =&gt; {</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   const originalMessage = req.body.message;</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   console.log('user input :' + originalMessage);</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   const hashedMessage = await bcrypt.hash(originalMessage, 10);</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   console.log('hashed message :' + hashedMessage);</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   const match = await bcrypt.compare(originalMessage, hashedMessage);</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   console.log('Is match :' + match);</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100"/>
              <a:buFont typeface="Arial"/>
              <a:buNone/>
            </a:pPr>
            <a:r>
              <a:rPr b="0" i="0" lang="en-US" sz="1400" u="none" cap="none" strike="noStrike">
                <a:solidFill>
                  <a:schemeClr val="dk1"/>
                </a:solidFill>
                <a:latin typeface="Roboto Mono"/>
                <a:ea typeface="Roboto Mono"/>
                <a:cs typeface="Roboto Mono"/>
                <a:sym typeface="Roboto Mono"/>
              </a:rPr>
              <a:t>...</a:t>
            </a:r>
            <a:endParaRPr b="0" i="0" sz="1400" u="none" cap="none" strike="noStrike">
              <a:solidFill>
                <a:schemeClr val="dk1"/>
              </a:solidFill>
              <a:latin typeface="Roboto Mono"/>
              <a:ea typeface="Roboto Mono"/>
              <a:cs typeface="Roboto Mono"/>
              <a:sym typeface="Roboto Mono"/>
            </a:endParaRPr>
          </a:p>
          <a:p>
            <a:pPr indent="0" lvl="0" marL="0" marR="0" rtl="0" algn="l">
              <a:lnSpc>
                <a:spcPct val="150000"/>
              </a:lnSpc>
              <a:spcBef>
                <a:spcPts val="0"/>
              </a:spcBef>
              <a:spcAft>
                <a:spcPts val="0"/>
              </a:spcAft>
              <a:buClr>
                <a:schemeClr val="dk1"/>
              </a:buClr>
              <a:buSzPts val="1400"/>
              <a:buFont typeface="Arial"/>
              <a:buNone/>
            </a:pPr>
            <a:r>
              <a:t/>
            </a:r>
            <a:endParaRPr b="0" i="0" sz="1400" u="none" cap="none" strike="noStrike">
              <a:solidFill>
                <a:schemeClr val="dk1"/>
              </a:solidFill>
              <a:latin typeface="Roboto Mono"/>
              <a:ea typeface="Roboto Mono"/>
              <a:cs typeface="Roboto Mono"/>
              <a:sym typeface="Roboto Mono"/>
            </a:endParaRPr>
          </a:p>
        </p:txBody>
      </p:sp>
      <p:sp>
        <p:nvSpPr>
          <p:cNvPr id="638" name="Google Shape;638;g394c25f66fd_0_702"/>
          <p:cNvSpPr/>
          <p:nvPr/>
        </p:nvSpPr>
        <p:spPr>
          <a:xfrm>
            <a:off x="552900" y="3162250"/>
            <a:ext cx="7333200" cy="4311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cxnSp>
        <p:nvCxnSpPr>
          <p:cNvPr id="639" name="Google Shape;639;g394c25f66fd_0_702"/>
          <p:cNvCxnSpPr>
            <a:stCxn id="640" idx="1"/>
            <a:endCxn id="638" idx="3"/>
          </p:cNvCxnSpPr>
          <p:nvPr/>
        </p:nvCxnSpPr>
        <p:spPr>
          <a:xfrm rot="10800000">
            <a:off x="7886150" y="3377788"/>
            <a:ext cx="616200" cy="0"/>
          </a:xfrm>
          <a:prstGeom prst="straightConnector1">
            <a:avLst/>
          </a:prstGeom>
          <a:noFill/>
          <a:ln cap="flat" cmpd="sng" w="19050">
            <a:solidFill>
              <a:srgbClr val="FF0000"/>
            </a:solidFill>
            <a:prstDash val="solid"/>
            <a:round/>
            <a:headEnd len="sm" w="sm" type="none"/>
            <a:tailEnd len="med" w="med" type="triangle"/>
          </a:ln>
        </p:spPr>
      </p:cxnSp>
      <p:sp>
        <p:nvSpPr>
          <p:cNvPr id="641" name="Google Shape;641;g394c25f66fd_0_702"/>
          <p:cNvSpPr txBox="1"/>
          <p:nvPr/>
        </p:nvSpPr>
        <p:spPr>
          <a:xfrm>
            <a:off x="8502350" y="2528000"/>
            <a:ext cx="3003600" cy="431100"/>
          </a:xfrm>
          <a:prstGeom prst="rect">
            <a:avLst/>
          </a:prstGeom>
          <a:solidFill>
            <a:srgbClr val="9FC5E8"/>
          </a:solid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Hash the text</a:t>
            </a:r>
            <a:endParaRPr b="0" i="0" sz="1600" u="none" cap="none" strike="noStrike">
              <a:solidFill>
                <a:srgbClr val="000000"/>
              </a:solidFill>
              <a:latin typeface="Arial"/>
              <a:ea typeface="Arial"/>
              <a:cs typeface="Arial"/>
              <a:sym typeface="Arial"/>
            </a:endParaRPr>
          </a:p>
        </p:txBody>
      </p:sp>
      <p:sp>
        <p:nvSpPr>
          <p:cNvPr id="642" name="Google Shape;642;g394c25f66fd_0_702"/>
          <p:cNvSpPr txBox="1"/>
          <p:nvPr/>
        </p:nvSpPr>
        <p:spPr>
          <a:xfrm>
            <a:off x="3241200" y="4579475"/>
            <a:ext cx="12972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sng" cap="none" strike="noStrike">
                <a:solidFill>
                  <a:srgbClr val="000000"/>
                </a:solidFill>
                <a:latin typeface="Roboto Mono"/>
                <a:ea typeface="Roboto Mono"/>
                <a:cs typeface="Roboto Mono"/>
                <a:sym typeface="Roboto Mono"/>
              </a:rPr>
              <a:t>server.js</a:t>
            </a:r>
            <a:endParaRPr b="1" i="0" sz="1400" u="sng" cap="none" strike="noStrike">
              <a:solidFill>
                <a:srgbClr val="000000"/>
              </a:solidFill>
              <a:latin typeface="Roboto Mono"/>
              <a:ea typeface="Roboto Mono"/>
              <a:cs typeface="Roboto Mono"/>
              <a:sym typeface="Roboto Mono"/>
            </a:endParaRPr>
          </a:p>
        </p:txBody>
      </p:sp>
      <p:sp>
        <p:nvSpPr>
          <p:cNvPr id="643" name="Google Shape;643;g394c25f66fd_0_702"/>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Hashing and Comparing the Hash (Example 6)</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11175E"/>
              </a:solidFill>
              <a:latin typeface="Arial"/>
              <a:ea typeface="Arial"/>
              <a:cs typeface="Arial"/>
              <a:sym typeface="Arial"/>
            </a:endParaRPr>
          </a:p>
        </p:txBody>
      </p:sp>
      <p:sp>
        <p:nvSpPr>
          <p:cNvPr id="644" name="Google Shape;644;g394c25f66fd_0_702"/>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
        <p:nvSpPr>
          <p:cNvPr id="645" name="Google Shape;645;g394c25f66fd_0_702"/>
          <p:cNvSpPr/>
          <p:nvPr/>
        </p:nvSpPr>
        <p:spPr>
          <a:xfrm>
            <a:off x="552900" y="2543450"/>
            <a:ext cx="6673800" cy="400200"/>
          </a:xfrm>
          <a:prstGeom prst="flowChartAlternateProcess">
            <a:avLst/>
          </a:prstGeom>
          <a:noFill/>
          <a:ln cap="flat" cmpd="sng" w="1905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FF"/>
              </a:solidFill>
              <a:latin typeface="Arial"/>
              <a:ea typeface="Arial"/>
              <a:cs typeface="Arial"/>
              <a:sym typeface="Arial"/>
            </a:endParaRPr>
          </a:p>
        </p:txBody>
      </p:sp>
      <p:sp>
        <p:nvSpPr>
          <p:cNvPr id="640" name="Google Shape;640;g394c25f66fd_0_702"/>
          <p:cNvSpPr txBox="1"/>
          <p:nvPr/>
        </p:nvSpPr>
        <p:spPr>
          <a:xfrm>
            <a:off x="8502350" y="3039238"/>
            <a:ext cx="3003600" cy="677100"/>
          </a:xfrm>
          <a:prstGeom prst="rect">
            <a:avLst/>
          </a:prstGeom>
          <a:solidFill>
            <a:srgbClr val="F4CCCC"/>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Compare the hashed text with original text</a:t>
            </a:r>
            <a:endParaRPr b="0" i="0" sz="1600" u="none" cap="none" strike="noStrike">
              <a:solidFill>
                <a:srgbClr val="000000"/>
              </a:solidFill>
              <a:latin typeface="Arial"/>
              <a:ea typeface="Arial"/>
              <a:cs typeface="Arial"/>
              <a:sym typeface="Arial"/>
            </a:endParaRPr>
          </a:p>
        </p:txBody>
      </p:sp>
      <p:cxnSp>
        <p:nvCxnSpPr>
          <p:cNvPr id="646" name="Google Shape;646;g394c25f66fd_0_702"/>
          <p:cNvCxnSpPr>
            <a:stCxn id="641" idx="1"/>
            <a:endCxn id="645" idx="3"/>
          </p:cNvCxnSpPr>
          <p:nvPr/>
        </p:nvCxnSpPr>
        <p:spPr>
          <a:xfrm rot="10800000">
            <a:off x="7226750" y="2743550"/>
            <a:ext cx="1275600" cy="0"/>
          </a:xfrm>
          <a:prstGeom prst="straightConnector1">
            <a:avLst/>
          </a:prstGeom>
          <a:noFill/>
          <a:ln cap="flat" cmpd="sng" w="19050">
            <a:solidFill>
              <a:srgbClr val="0000FF"/>
            </a:solidFill>
            <a:prstDash val="solid"/>
            <a:round/>
            <a:headEnd len="sm" w="sm" type="non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g394c25f66fd_0_722"/>
          <p:cNvSpPr/>
          <p:nvPr/>
        </p:nvSpPr>
        <p:spPr>
          <a:xfrm>
            <a:off x="228600" y="808175"/>
            <a:ext cx="117315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Hash the User Passwords</a:t>
            </a:r>
            <a:r>
              <a:rPr b="1" i="0" lang="en-US" sz="2400" u="none" cap="none" strike="noStrike">
                <a:solidFill>
                  <a:srgbClr val="11175E"/>
                </a:solidFill>
                <a:latin typeface="Arial"/>
                <a:ea typeface="Arial"/>
                <a:cs typeface="Arial"/>
                <a:sym typeface="Arial"/>
              </a:rPr>
              <a:t> (Exercise 7)</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652" name="Google Shape;652;g394c25f66fd_0_722"/>
          <p:cNvSpPr txBox="1"/>
          <p:nvPr/>
        </p:nvSpPr>
        <p:spPr>
          <a:xfrm>
            <a:off x="228725" y="1485900"/>
            <a:ext cx="11731500" cy="5372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Exercise 7 - Hash the User Passwords</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In this exercise you’ll change the web application to work with hashed passwords. This won’t add any new features to the application. But after this your application will be more secure.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600"/>
              <a:buFont typeface="Arial"/>
              <a:buNone/>
            </a:pPr>
            <a:r>
              <a:rPr b="1" i="0" lang="en-US" sz="1600" u="sng" cap="none" strike="noStrike">
                <a:solidFill>
                  <a:schemeClr val="dk1"/>
                </a:solidFill>
                <a:latin typeface="Arial"/>
                <a:ea typeface="Arial"/>
                <a:cs typeface="Arial"/>
                <a:sym typeface="Arial"/>
              </a:rPr>
              <a:t>Requirements: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Make the website work with hashed passwords (instead of plain text passwords).</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600" u="sng" cap="none" strike="noStrike">
                <a:solidFill>
                  <a:schemeClr val="dk1"/>
                </a:solidFill>
                <a:latin typeface="Arial"/>
                <a:ea typeface="Arial"/>
                <a:cs typeface="Arial"/>
                <a:sym typeface="Arial"/>
              </a:rPr>
              <a:t>Tasks:</a:t>
            </a:r>
            <a:endParaRPr b="1" i="0" sz="1600" u="sng"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Start with your solution to the exercise 6.</a:t>
            </a:r>
            <a:endParaRPr b="0" i="0" sz="16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AutoNum type="arabicPeriod"/>
            </a:pPr>
            <a:r>
              <a:rPr b="0" i="0" lang="en-US" sz="1600" u="none" cap="none" strike="noStrike">
                <a:solidFill>
                  <a:schemeClr val="dk1"/>
                </a:solidFill>
                <a:latin typeface="Arial"/>
                <a:ea typeface="Arial"/>
                <a:cs typeface="Arial"/>
                <a:sym typeface="Arial"/>
              </a:rPr>
              <a:t>Install missing dependencies (if any) from package.json.</a:t>
            </a:r>
            <a:endParaRPr b="0" i="0" sz="1600" u="none" cap="none" strike="noStrike">
              <a:solidFill>
                <a:schemeClr val="dk1"/>
              </a:solidFill>
              <a:latin typeface="Arial"/>
              <a:ea typeface="Arial"/>
              <a:cs typeface="Arial"/>
              <a:sym typeface="Arial"/>
            </a:endParaRPr>
          </a:p>
          <a:p>
            <a:pPr indent="0" lvl="0" marL="45720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&gt; </a:t>
            </a:r>
            <a:r>
              <a:rPr b="1" i="0" lang="en-US" sz="1400" u="none" cap="none" strike="noStrike">
                <a:solidFill>
                  <a:srgbClr val="0000FF"/>
                </a:solidFill>
                <a:latin typeface="Roboto Mono"/>
                <a:ea typeface="Roboto Mono"/>
                <a:cs typeface="Roboto Mono"/>
                <a:sym typeface="Roboto Mono"/>
              </a:rPr>
              <a:t>npm install</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In the provided </a:t>
            </a:r>
            <a:r>
              <a:rPr b="1" i="0" lang="en-US" sz="1400" u="none" cap="none" strike="noStrike">
                <a:solidFill>
                  <a:srgbClr val="0000FF"/>
                </a:solidFill>
                <a:latin typeface="Roboto Mono"/>
                <a:ea typeface="Roboto Mono"/>
                <a:cs typeface="Roboto Mono"/>
                <a:sym typeface="Roboto Mono"/>
              </a:rPr>
              <a:t>user-controllers.js</a:t>
            </a:r>
            <a:r>
              <a:rPr b="0" i="0" lang="en-US" sz="1600" u="none" cap="none" strike="noStrike">
                <a:solidFill>
                  <a:schemeClr val="dk1"/>
                </a:solidFill>
                <a:latin typeface="Arial"/>
                <a:ea typeface="Arial"/>
                <a:cs typeface="Arial"/>
                <a:sym typeface="Arial"/>
              </a:rPr>
              <a:t> file,</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import the bcrypt library</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Modify the </a:t>
            </a:r>
            <a:r>
              <a:rPr b="1" i="0" lang="en-US" sz="1400" u="none" cap="none" strike="noStrike">
                <a:solidFill>
                  <a:srgbClr val="0000FF"/>
                </a:solidFill>
                <a:latin typeface="Roboto Mono"/>
                <a:ea typeface="Roboto Mono"/>
                <a:cs typeface="Roboto Mono"/>
                <a:sym typeface="Roboto Mono"/>
              </a:rPr>
              <a:t>registerPost </a:t>
            </a:r>
            <a:r>
              <a:rPr b="0" i="0" lang="en-US" sz="1600" u="none" cap="none" strike="noStrike">
                <a:solidFill>
                  <a:schemeClr val="dk1"/>
                </a:solidFill>
                <a:latin typeface="Arial"/>
                <a:ea typeface="Arial"/>
                <a:cs typeface="Arial"/>
                <a:sym typeface="Arial"/>
              </a:rPr>
              <a:t>function to hash the plain text password and store the hashed password in MongoDB.</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Modify the </a:t>
            </a:r>
            <a:r>
              <a:rPr b="1" i="0" lang="en-US" sz="1400" u="none" cap="none" strike="noStrike">
                <a:solidFill>
                  <a:srgbClr val="0000FF"/>
                </a:solidFill>
                <a:latin typeface="Roboto Mono"/>
                <a:ea typeface="Roboto Mono"/>
                <a:cs typeface="Roboto Mono"/>
                <a:sym typeface="Roboto Mono"/>
              </a:rPr>
              <a:t>loginPost </a:t>
            </a:r>
            <a:r>
              <a:rPr b="0" i="0" lang="en-US" sz="1600" u="none" cap="none" strike="noStrike">
                <a:solidFill>
                  <a:schemeClr val="dk1"/>
                </a:solidFill>
                <a:latin typeface="Arial"/>
                <a:ea typeface="Arial"/>
                <a:cs typeface="Arial"/>
                <a:sym typeface="Arial"/>
              </a:rPr>
              <a:t>function to compare the user entered password with hashed password from MongoDB.</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n-US" sz="1600" u="sng" cap="none" strike="noStrike">
                <a:solidFill>
                  <a:schemeClr val="dk1"/>
                </a:solidFill>
                <a:latin typeface="Arial"/>
                <a:ea typeface="Arial"/>
                <a:cs typeface="Arial"/>
                <a:sym typeface="Arial"/>
              </a:rPr>
              <a:t>NOTE</a:t>
            </a:r>
            <a:r>
              <a:rPr b="0" i="0" lang="en-US" sz="1600" u="none" cap="none" strike="noStrike">
                <a:solidFill>
                  <a:schemeClr val="dk1"/>
                </a:solidFill>
                <a:latin typeface="Arial"/>
                <a:ea typeface="Arial"/>
                <a:cs typeface="Arial"/>
                <a:sym typeface="Arial"/>
              </a:rPr>
              <a:t>: Once you made this change, the existing users won’t be able to login to the website.</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653" name="Google Shape;653;g394c25f66fd_0_722"/>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44c60f6e55_0_456"/>
          <p:cNvSpPr txBox="1"/>
          <p:nvPr/>
        </p:nvSpPr>
        <p:spPr>
          <a:xfrm>
            <a:off x="217750" y="1497450"/>
            <a:ext cx="11694600" cy="51219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a strong secret when creating session.</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And consider rotating secrets periodically.</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Storing the sensitive information separate from the code (</a:t>
            </a:r>
            <a:r>
              <a:rPr b="1" i="0" lang="en-US" sz="1400" u="none" cap="none" strike="noStrike">
                <a:solidFill>
                  <a:srgbClr val="0000FF"/>
                </a:solidFill>
                <a:latin typeface="Roboto Mono"/>
                <a:ea typeface="Roboto Mono"/>
                <a:cs typeface="Roboto Mono"/>
                <a:sym typeface="Roboto Mono"/>
              </a:rPr>
              <a:t>config.env</a:t>
            </a:r>
            <a:r>
              <a:rPr b="0" i="0" lang="en-US" sz="1600" u="none" cap="none" strike="noStrike">
                <a:solidFill>
                  <a:schemeClr val="dk1"/>
                </a:solidFill>
                <a:latin typeface="Arial"/>
                <a:ea typeface="Arial"/>
                <a:cs typeface="Arial"/>
                <a:sym typeface="Arial"/>
              </a:rPr>
              <a:t> file).</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Session secret.</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MongoDB connection string.</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Never store the passwords in plain text format.</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native tools when available (over third party packages).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Make sure the files with sensitive information not published.</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a:t>
            </a:r>
            <a:r>
              <a:rPr b="1" i="0" lang="en-US" sz="1400" u="none" cap="none" strike="noStrike">
                <a:solidFill>
                  <a:srgbClr val="0000FF"/>
                </a:solidFill>
                <a:latin typeface="Roboto Mono"/>
                <a:ea typeface="Roboto Mono"/>
                <a:cs typeface="Roboto Mono"/>
                <a:sym typeface="Roboto Mono"/>
              </a:rPr>
              <a:t>.gitignore</a:t>
            </a:r>
            <a:r>
              <a:rPr b="0" i="0" lang="en-US" sz="1600" u="none" cap="none" strike="noStrike">
                <a:solidFill>
                  <a:schemeClr val="dk1"/>
                </a:solidFill>
                <a:latin typeface="Arial"/>
                <a:ea typeface="Arial"/>
                <a:cs typeface="Arial"/>
                <a:sym typeface="Arial"/>
              </a:rPr>
              <a:t> to prevent the </a:t>
            </a:r>
            <a:r>
              <a:rPr b="1" i="0" lang="en-US" sz="1400" u="none" cap="none" strike="noStrike">
                <a:solidFill>
                  <a:srgbClr val="0000FF"/>
                </a:solidFill>
                <a:latin typeface="Roboto Mono"/>
                <a:ea typeface="Roboto Mono"/>
                <a:cs typeface="Roboto Mono"/>
                <a:sym typeface="Roboto Mono"/>
              </a:rPr>
              <a:t>config.env</a:t>
            </a:r>
            <a:r>
              <a:rPr b="0" i="0" lang="en-US" sz="1600" u="none" cap="none" strike="noStrike">
                <a:solidFill>
                  <a:schemeClr val="dk1"/>
                </a:solidFill>
                <a:latin typeface="Arial"/>
                <a:ea typeface="Arial"/>
                <a:cs typeface="Arial"/>
                <a:sym typeface="Arial"/>
              </a:rPr>
              <a:t> managed by git.</a:t>
            </a:r>
            <a:endParaRPr b="0" i="0" sz="1600" u="none" cap="none" strike="noStrike">
              <a:solidFill>
                <a:schemeClr val="dk1"/>
              </a:solidFill>
              <a:latin typeface="Arial"/>
              <a:ea typeface="Arial"/>
              <a:cs typeface="Arial"/>
              <a:sym typeface="Arial"/>
            </a:endParaRPr>
          </a:p>
          <a:p>
            <a:pPr indent="-330200" lvl="1" marL="9144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Always verify </a:t>
            </a:r>
            <a:r>
              <a:rPr b="1" i="0" lang="en-US" sz="1400" u="none" cap="none" strike="noStrike">
                <a:solidFill>
                  <a:srgbClr val="0000FF"/>
                </a:solidFill>
                <a:latin typeface="Roboto Mono"/>
                <a:ea typeface="Roboto Mono"/>
                <a:cs typeface="Roboto Mono"/>
                <a:sym typeface="Roboto Mono"/>
              </a:rPr>
              <a:t>.gitignore</a:t>
            </a:r>
            <a:r>
              <a:rPr b="0" i="0" lang="en-US" sz="1600" u="none" cap="none" strike="noStrike">
                <a:solidFill>
                  <a:schemeClr val="dk1"/>
                </a:solidFill>
                <a:latin typeface="Arial"/>
                <a:ea typeface="Arial"/>
                <a:cs typeface="Arial"/>
                <a:sym typeface="Arial"/>
              </a:rPr>
              <a:t> to correctly excludes sensitive files.</a:t>
            </a:r>
            <a:endParaRPr b="0" i="0" sz="1600" u="none" cap="none" strike="noStrike">
              <a:solidFill>
                <a:schemeClr val="dk1"/>
              </a:solidFill>
              <a:latin typeface="Arial"/>
              <a:ea typeface="Arial"/>
              <a:cs typeface="Arial"/>
              <a:sym typeface="Arial"/>
            </a:endParaRPr>
          </a:p>
          <a:p>
            <a:pPr indent="-330200" lvl="0" marL="457200" marR="0" rtl="0" algn="just">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In production run the web-server in HTTPS mode.</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Redirect all HTTP traffic to HTTPS.</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Regularly update your TLS configuration and renew certificates.</a:t>
            </a:r>
            <a:endParaRPr b="0" i="0" sz="1600" u="none" cap="none" strike="noStrike">
              <a:solidFill>
                <a:schemeClr val="dk1"/>
              </a:solidFill>
              <a:latin typeface="Arial"/>
              <a:ea typeface="Arial"/>
              <a:cs typeface="Arial"/>
              <a:sym typeface="Arial"/>
            </a:endParaRPr>
          </a:p>
        </p:txBody>
      </p:sp>
      <p:sp>
        <p:nvSpPr>
          <p:cNvPr id="659" name="Google Shape;659;g344c60f6e55_0_456"/>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Security Best Practices</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000000"/>
              </a:solidFill>
              <a:latin typeface="Arial"/>
              <a:ea typeface="Arial"/>
              <a:cs typeface="Arial"/>
              <a:sym typeface="Arial"/>
            </a:endParaRPr>
          </a:p>
        </p:txBody>
      </p:sp>
      <p:sp>
        <p:nvSpPr>
          <p:cNvPr id="660" name="Google Shape;660;g344c60f6e55_0_456"/>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g344e8dc70ee_0_27"/>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Why Best Practices </a:t>
            </a:r>
            <a:endParaRPr b="1" i="0" sz="2400" u="none" cap="none" strike="noStrike">
              <a:solidFill>
                <a:srgbClr val="11175E"/>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000000"/>
              </a:solidFill>
              <a:latin typeface="Arial"/>
              <a:ea typeface="Arial"/>
              <a:cs typeface="Arial"/>
              <a:sym typeface="Arial"/>
            </a:endParaRPr>
          </a:p>
        </p:txBody>
      </p:sp>
      <p:pic>
        <p:nvPicPr>
          <p:cNvPr id="666" name="Google Shape;666;g344e8dc70ee_0_27"/>
          <p:cNvPicPr preferRelativeResize="0"/>
          <p:nvPr/>
        </p:nvPicPr>
        <p:blipFill rotWithShape="1">
          <a:blip r:embed="rId3">
            <a:alphaModFix/>
          </a:blip>
          <a:srcRect b="0" l="0" r="0" t="18126"/>
          <a:stretch/>
        </p:blipFill>
        <p:spPr>
          <a:xfrm>
            <a:off x="152400" y="1342850"/>
            <a:ext cx="7495249" cy="1875251"/>
          </a:xfrm>
          <a:prstGeom prst="rect">
            <a:avLst/>
          </a:prstGeom>
          <a:noFill/>
          <a:ln>
            <a:noFill/>
          </a:ln>
          <a:effectLst>
            <a:outerShdw blurRad="57150" rotWithShape="0" algn="bl" dir="5400000" dist="19050">
              <a:srgbClr val="000000">
                <a:alpha val="49803"/>
              </a:srgbClr>
            </a:outerShdw>
          </a:effectLst>
        </p:spPr>
      </p:pic>
      <p:pic>
        <p:nvPicPr>
          <p:cNvPr id="667" name="Google Shape;667;g344e8dc70ee_0_27"/>
          <p:cNvPicPr preferRelativeResize="0"/>
          <p:nvPr/>
        </p:nvPicPr>
        <p:blipFill rotWithShape="1">
          <a:blip r:embed="rId4">
            <a:alphaModFix/>
          </a:blip>
          <a:srcRect b="0" l="0" r="0" t="0"/>
          <a:stretch/>
        </p:blipFill>
        <p:spPr>
          <a:xfrm>
            <a:off x="685800" y="5035738"/>
            <a:ext cx="9886925" cy="939850"/>
          </a:xfrm>
          <a:prstGeom prst="rect">
            <a:avLst/>
          </a:prstGeom>
          <a:noFill/>
          <a:ln>
            <a:noFill/>
          </a:ln>
          <a:effectLst>
            <a:outerShdw blurRad="57150" rotWithShape="0" algn="bl" dir="5400000" dist="19050">
              <a:srgbClr val="000000">
                <a:alpha val="49803"/>
              </a:srgbClr>
            </a:outerShdw>
          </a:effectLst>
        </p:spPr>
      </p:pic>
      <p:sp>
        <p:nvSpPr>
          <p:cNvPr id="668" name="Google Shape;668;g344e8dc70ee_0_2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69" name="Google Shape;669;g344e8dc70ee_0_27"/>
          <p:cNvPicPr preferRelativeResize="0"/>
          <p:nvPr/>
        </p:nvPicPr>
        <p:blipFill rotWithShape="1">
          <a:blip r:embed="rId5">
            <a:alphaModFix/>
          </a:blip>
          <a:srcRect b="0" l="0" r="0" t="0"/>
          <a:stretch/>
        </p:blipFill>
        <p:spPr>
          <a:xfrm>
            <a:off x="247475" y="6047850"/>
            <a:ext cx="11635149" cy="647650"/>
          </a:xfrm>
          <a:prstGeom prst="rect">
            <a:avLst/>
          </a:prstGeom>
          <a:noFill/>
          <a:ln>
            <a:noFill/>
          </a:ln>
          <a:effectLst>
            <a:outerShdw blurRad="57150" rotWithShape="0" algn="bl" dir="5400000" dist="19050">
              <a:srgbClr val="000000">
                <a:alpha val="49803"/>
              </a:srgbClr>
            </a:outerShdw>
          </a:effectLst>
        </p:spPr>
      </p:pic>
      <p:pic>
        <p:nvPicPr>
          <p:cNvPr id="670" name="Google Shape;670;g344e8dc70ee_0_27"/>
          <p:cNvPicPr preferRelativeResize="0"/>
          <p:nvPr/>
        </p:nvPicPr>
        <p:blipFill rotWithShape="1">
          <a:blip r:embed="rId6">
            <a:alphaModFix/>
          </a:blip>
          <a:srcRect b="0" l="0" r="0" t="0"/>
          <a:stretch/>
        </p:blipFill>
        <p:spPr>
          <a:xfrm>
            <a:off x="1436325" y="3446051"/>
            <a:ext cx="8247275" cy="1361750"/>
          </a:xfrm>
          <a:prstGeom prst="rect">
            <a:avLst/>
          </a:prstGeom>
          <a:noFill/>
          <a:ln>
            <a:noFill/>
          </a:ln>
          <a:effectLst>
            <a:outerShdw blurRad="57150" rotWithShape="0" algn="bl" dir="5400000" dist="19050">
              <a:srgbClr val="000000">
                <a:alpha val="49803"/>
              </a:srgbClr>
            </a:outerShdw>
          </a:effectLst>
        </p:spPr>
      </p:pic>
      <p:pic>
        <p:nvPicPr>
          <p:cNvPr id="671" name="Google Shape;671;g344e8dc70ee_0_27"/>
          <p:cNvPicPr preferRelativeResize="0"/>
          <p:nvPr/>
        </p:nvPicPr>
        <p:blipFill rotWithShape="1">
          <a:blip r:embed="rId7">
            <a:alphaModFix/>
          </a:blip>
          <a:srcRect b="0" l="0" r="0" t="0"/>
          <a:stretch/>
        </p:blipFill>
        <p:spPr>
          <a:xfrm>
            <a:off x="5952124" y="2076200"/>
            <a:ext cx="6096025" cy="1568625"/>
          </a:xfrm>
          <a:prstGeom prst="rect">
            <a:avLst/>
          </a:prstGeom>
          <a:noFill/>
          <a:ln>
            <a:noFill/>
          </a:ln>
        </p:spPr>
      </p:pic>
      <p:sp>
        <p:nvSpPr>
          <p:cNvPr id="672" name="Google Shape;672;g344e8dc70ee_0_27"/>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3705708b02d_0_16"/>
          <p:cNvSpPr txBox="1"/>
          <p:nvPr/>
        </p:nvSpPr>
        <p:spPr>
          <a:xfrm>
            <a:off x="217750" y="1497450"/>
            <a:ext cx="11694600" cy="51219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15000"/>
              </a:lnSpc>
              <a:spcBef>
                <a:spcPts val="12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HTTP’s stateless nature and how sessions solve this.</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Authentication and authorization.</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User registration, login and logout flow.</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Password hashing with bcrypt.</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Best practices for securing web applications.</a:t>
            </a:r>
            <a:endParaRPr b="0" i="0" sz="1600" u="none" cap="none" strike="noStrike">
              <a:solidFill>
                <a:schemeClr val="dk1"/>
              </a:solidFill>
              <a:latin typeface="Arial"/>
              <a:ea typeface="Arial"/>
              <a:cs typeface="Arial"/>
              <a:sym typeface="Arial"/>
            </a:endParaRPr>
          </a:p>
        </p:txBody>
      </p:sp>
      <p:sp>
        <p:nvSpPr>
          <p:cNvPr id="678" name="Google Shape;678;g3705708b02d_0_16"/>
          <p:cNvSpPr/>
          <p:nvPr/>
        </p:nvSpPr>
        <p:spPr>
          <a:xfrm>
            <a:off x="217750" y="808175"/>
            <a:ext cx="11694600" cy="350700"/>
          </a:xfrm>
          <a:prstGeom prst="rect">
            <a:avLst/>
          </a:prstGeom>
          <a:solidFill>
            <a:srgbClr val="548135">
              <a:alpha val="0"/>
            </a:srgbClr>
          </a:solidFill>
          <a:ln>
            <a:noFill/>
          </a:ln>
        </p:spPr>
        <p:txBody>
          <a:bodyPr anchorCtr="0" anchor="t" bIns="41925" lIns="83850" spcFirstLastPara="1" rIns="83850" wrap="square" tIns="0">
            <a:noAutofit/>
          </a:bodyPr>
          <a:lstStyle/>
          <a:p>
            <a:pPr indent="0" lvl="0" marL="0" marR="0" rtl="0" algn="l">
              <a:lnSpc>
                <a:spcPct val="115000"/>
              </a:lnSpc>
              <a:spcBef>
                <a:spcPts val="1200"/>
              </a:spcBef>
              <a:spcAft>
                <a:spcPts val="0"/>
              </a:spcAft>
              <a:buClr>
                <a:schemeClr val="dk1"/>
              </a:buClr>
              <a:buSzPts val="1100"/>
              <a:buFont typeface="Arial"/>
              <a:buNone/>
            </a:pPr>
            <a:r>
              <a:rPr b="1" i="0" lang="en-US" sz="2400" u="none" cap="none" strike="noStrike">
                <a:solidFill>
                  <a:schemeClr val="dk1"/>
                </a:solidFill>
                <a:latin typeface="Arial"/>
                <a:ea typeface="Arial"/>
                <a:cs typeface="Arial"/>
                <a:sym typeface="Arial"/>
              </a:rPr>
              <a:t>What Have We Learned?</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120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1" i="0" sz="2400" u="none" cap="none" strike="noStrike">
              <a:solidFill>
                <a:srgbClr val="000000"/>
              </a:solidFill>
              <a:latin typeface="Arial"/>
              <a:ea typeface="Arial"/>
              <a:cs typeface="Arial"/>
              <a:sym typeface="Arial"/>
            </a:endParaRPr>
          </a:p>
        </p:txBody>
      </p:sp>
      <p:sp>
        <p:nvSpPr>
          <p:cNvPr id="679" name="Google Shape;679;g3705708b02d_0_16"/>
          <p:cNvSpPr txBox="1"/>
          <p:nvPr/>
        </p:nvSpPr>
        <p:spPr>
          <a:xfrm>
            <a:off x="11503025" y="6492900"/>
            <a:ext cx="457200" cy="3651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888888"/>
                </a:solidFill>
                <a:latin typeface="Arial"/>
                <a:ea typeface="Arial"/>
                <a:cs typeface="Arial"/>
                <a:sym typeface="Arial"/>
              </a:rPr>
              <a:t>‹#›</a:t>
            </a:fld>
            <a:endParaRPr b="0" i="0" sz="1300" u="none" cap="none" strike="noStrike">
              <a:solidFill>
                <a:srgbClr val="888888"/>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pic>
        <p:nvPicPr>
          <p:cNvPr descr="Text&#10;&#10;Description automatically generated" id="685" name="Google Shape;685;g344e8dc70ee_0_44"/>
          <p:cNvPicPr preferRelativeResize="0"/>
          <p:nvPr/>
        </p:nvPicPr>
        <p:blipFill rotWithShape="1">
          <a:blip r:embed="rId3">
            <a:alphaModFix/>
          </a:blip>
          <a:srcRect b="0" l="0" r="0" t="0"/>
          <a:stretch/>
        </p:blipFill>
        <p:spPr>
          <a:xfrm>
            <a:off x="810413" y="1595199"/>
            <a:ext cx="10571174" cy="4894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2018-11-21T01:52:47Z</dcterms:created>
  <dc:creator>Elvin NG Pei Xiong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0x01010090F32C23BA0D1F46B52AAC7AA48FC3E3</vt:lpwstr>
  </property>
  <property fmtid="{D5CDD505-2E9C-101B-9397-08002B2CF9AE}" pid="3" name="ClassificationContentMarkingHeaderLocations">
    <vt:lpwstr>Office Theme:3\Office Theme:3\Office Theme:3</vt:lpwstr>
  </property>
  <property fmtid="{D5CDD505-2E9C-101B-9397-08002B2CF9AE}" pid="4" name="ClassificationContentMarkingHeaderText">
    <vt:lpwstr>SMU Classification: Restricted</vt:lpwstr>
  </property>
</Properties>
</file>